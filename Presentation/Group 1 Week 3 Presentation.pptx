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4.xml" ContentType="application/vnd.openxmlformats-officedocument.theme+xml"/>
  <Override PartName="/ppt/slideLayouts/slideLayout1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0" r:id="rId2"/>
    <p:sldMasterId id="2147483662" r:id="rId3"/>
    <p:sldMasterId id="2147483674" r:id="rId4"/>
    <p:sldMasterId id="2147483686" r:id="rId5"/>
  </p:sldMasterIdLst>
  <p:notesMasterIdLst>
    <p:notesMasterId r:id="rId48"/>
  </p:notesMasterIdLst>
  <p:sldIdLst>
    <p:sldId id="275" r:id="rId6"/>
    <p:sldId id="297" r:id="rId7"/>
    <p:sldId id="298" r:id="rId8"/>
    <p:sldId id="299" r:id="rId9"/>
    <p:sldId id="256" r:id="rId10"/>
    <p:sldId id="257" r:id="rId11"/>
    <p:sldId id="258" r:id="rId12"/>
    <p:sldId id="259" r:id="rId13"/>
    <p:sldId id="260" r:id="rId14"/>
    <p:sldId id="261" r:id="rId15"/>
    <p:sldId id="262" r:id="rId16"/>
    <p:sldId id="263" r:id="rId17"/>
    <p:sldId id="264" r:id="rId18"/>
    <p:sldId id="265" r:id="rId19"/>
    <p:sldId id="266" r:id="rId20"/>
    <p:sldId id="267" r:id="rId21"/>
    <p:sldId id="269" r:id="rId22"/>
    <p:sldId id="270" r:id="rId23"/>
    <p:sldId id="271" r:id="rId24"/>
    <p:sldId id="272" r:id="rId25"/>
    <p:sldId id="273" r:id="rId26"/>
    <p:sldId id="274"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82"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Students</c:v>
                </c:pt>
              </c:strCache>
            </c:strRef>
          </c:tx>
          <c:spPr>
            <a:solidFill>
              <a:srgbClr val="1F6F8B"/>
            </a:solidFill>
            <a:effectLst/>
          </c:spPr>
          <c:invertIfNegative val="0"/>
          <c:dPt>
            <c:idx val="0"/>
            <c:invertIfNegative val="0"/>
            <c:bubble3D val="0"/>
            <c:extLst>
              <c:ext xmlns:c16="http://schemas.microsoft.com/office/drawing/2014/chart" uri="{C3380CC4-5D6E-409C-BE32-E72D297353CC}">
                <c16:uniqueId val="{00000001-34C6-4925-8014-0D69D38331B6}"/>
              </c:ext>
            </c:extLst>
          </c:dPt>
          <c:dPt>
            <c:idx val="1"/>
            <c:invertIfNegative val="0"/>
            <c:bubble3D val="0"/>
            <c:extLst>
              <c:ext xmlns:c16="http://schemas.microsoft.com/office/drawing/2014/chart" uri="{C3380CC4-5D6E-409C-BE32-E72D297353CC}">
                <c16:uniqueId val="{00000003-34C6-4925-8014-0D69D38331B6}"/>
              </c:ext>
            </c:extLst>
          </c:dPt>
          <c:dPt>
            <c:idx val="2"/>
            <c:invertIfNegative val="0"/>
            <c:bubble3D val="0"/>
            <c:extLst>
              <c:ext xmlns:c16="http://schemas.microsoft.com/office/drawing/2014/chart" uri="{C3380CC4-5D6E-409C-BE32-E72D297353CC}">
                <c16:uniqueId val="{00000005-34C6-4925-8014-0D69D38331B6}"/>
              </c:ext>
            </c:extLst>
          </c:dPt>
          <c:dPt>
            <c:idx val="3"/>
            <c:invertIfNegative val="0"/>
            <c:bubble3D val="0"/>
            <c:extLst>
              <c:ext xmlns:c16="http://schemas.microsoft.com/office/drawing/2014/chart" uri="{C3380CC4-5D6E-409C-BE32-E72D297353CC}">
                <c16:uniqueId val="{00000007-34C6-4925-8014-0D69D38331B6}"/>
              </c:ext>
            </c:extLst>
          </c:dPt>
          <c:dPt>
            <c:idx val="4"/>
            <c:invertIfNegative val="0"/>
            <c:bubble3D val="0"/>
            <c:spPr>
              <a:solidFill>
                <a:srgbClr val="E9A23B"/>
              </a:solidFill>
              <a:effectLst/>
            </c:spPr>
            <c:extLst>
              <c:ext xmlns:c16="http://schemas.microsoft.com/office/drawing/2014/chart" uri="{C3380CC4-5D6E-409C-BE32-E72D297353CC}">
                <c16:uniqueId val="{00000009-34C6-4925-8014-0D69D38331B6}"/>
              </c:ext>
            </c:extLst>
          </c:dPt>
          <c:dPt>
            <c:idx val="5"/>
            <c:invertIfNegative val="0"/>
            <c:bubble3D val="0"/>
            <c:spPr>
              <a:solidFill>
                <a:srgbClr val="9CA3AF"/>
              </a:solidFill>
              <a:effectLst/>
            </c:spPr>
            <c:extLst>
              <c:ext xmlns:c16="http://schemas.microsoft.com/office/drawing/2014/chart" uri="{C3380CC4-5D6E-409C-BE32-E72D297353CC}">
                <c16:uniqueId val="{0000000B-34C6-4925-8014-0D69D38331B6}"/>
              </c:ext>
            </c:extLst>
          </c:dPt>
          <c:dPt>
            <c:idx val="6"/>
            <c:invertIfNegative val="0"/>
            <c:bubble3D val="0"/>
            <c:spPr>
              <a:solidFill>
                <a:srgbClr val="9CA3AF"/>
              </a:solidFill>
              <a:effectLst/>
            </c:spPr>
            <c:extLst>
              <c:ext xmlns:c16="http://schemas.microsoft.com/office/drawing/2014/chart" uri="{C3380CC4-5D6E-409C-BE32-E72D297353CC}">
                <c16:uniqueId val="{0000000D-34C6-4925-8014-0D69D38331B6}"/>
              </c:ext>
            </c:extLst>
          </c:dPt>
          <c:dPt>
            <c:idx val="7"/>
            <c:invertIfNegative val="0"/>
            <c:bubble3D val="0"/>
            <c:extLst>
              <c:ext xmlns:c16="http://schemas.microsoft.com/office/drawing/2014/chart" uri="{C3380CC4-5D6E-409C-BE32-E72D297353CC}">
                <c16:uniqueId val="{0000000F-34C6-4925-8014-0D69D38331B6}"/>
              </c:ext>
            </c:extLst>
          </c:dPt>
          <c:dPt>
            <c:idx val="8"/>
            <c:invertIfNegative val="0"/>
            <c:bubble3D val="0"/>
            <c:extLst>
              <c:ext xmlns:c16="http://schemas.microsoft.com/office/drawing/2014/chart" uri="{C3380CC4-5D6E-409C-BE32-E72D297353CC}">
                <c16:uniqueId val="{00000011-34C6-4925-8014-0D69D38331B6}"/>
              </c:ext>
            </c:extLst>
          </c:dPt>
          <c:dPt>
            <c:idx val="9"/>
            <c:invertIfNegative val="0"/>
            <c:bubble3D val="0"/>
            <c:spPr>
              <a:solidFill>
                <a:srgbClr val="E9A23B"/>
              </a:solidFill>
              <a:effectLst/>
            </c:spPr>
            <c:extLst>
              <c:ext xmlns:c16="http://schemas.microsoft.com/office/drawing/2014/chart" uri="{C3380CC4-5D6E-409C-BE32-E72D297353CC}">
                <c16:uniqueId val="{00000013-34C6-4925-8014-0D69D38331B6}"/>
              </c:ext>
            </c:extLst>
          </c:dPt>
          <c:dLbls>
            <c:numFmt formatCode="#,##0" sourceLinked="0"/>
            <c:spPr>
              <a:noFill/>
              <a:ln>
                <a:noFill/>
              </a:ln>
              <a:effectLst/>
            </c:spPr>
            <c:txPr>
              <a:bodyPr/>
              <a:lstStyle/>
              <a:p>
                <a:pPr>
                  <a:defRPr sz="11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D15</c:v>
                </c:pt>
                <c:pt idx="1">
                  <c:v>D24</c:v>
                </c:pt>
                <c:pt idx="2">
                  <c:v>D07</c:v>
                </c:pt>
                <c:pt idx="3">
                  <c:v>D09</c:v>
                </c:pt>
                <c:pt idx="4">
                  <c:v>Ballybrack / Dún Laoghaire</c:v>
                </c:pt>
                <c:pt idx="5">
                  <c:v>Co. Kildare</c:v>
                </c:pt>
                <c:pt idx="6">
                  <c:v>Co. Wicklow</c:v>
                </c:pt>
                <c:pt idx="7">
                  <c:v>D06</c:v>
                </c:pt>
                <c:pt idx="8">
                  <c:v>D13</c:v>
                </c:pt>
                <c:pt idx="9">
                  <c:v>Lucan</c:v>
                </c:pt>
              </c:strCache>
            </c:strRef>
          </c:cat>
          <c:val>
            <c:numRef>
              <c:f>Sheet1!$B$2:$B$11</c:f>
              <c:numCache>
                <c:formatCode>General</c:formatCode>
                <c:ptCount val="10"/>
                <c:pt idx="0">
                  <c:v>6</c:v>
                </c:pt>
                <c:pt idx="1">
                  <c:v>5</c:v>
                </c:pt>
                <c:pt idx="2">
                  <c:v>4</c:v>
                </c:pt>
                <c:pt idx="3">
                  <c:v>4</c:v>
                </c:pt>
                <c:pt idx="4">
                  <c:v>3</c:v>
                </c:pt>
                <c:pt idx="5">
                  <c:v>3</c:v>
                </c:pt>
                <c:pt idx="6">
                  <c:v>3</c:v>
                </c:pt>
                <c:pt idx="7">
                  <c:v>3</c:v>
                </c:pt>
                <c:pt idx="8">
                  <c:v>3</c:v>
                </c:pt>
                <c:pt idx="9">
                  <c:v>3</c:v>
                </c:pt>
              </c:numCache>
            </c:numRef>
          </c:val>
          <c:extLst>
            <c:ext xmlns:c16="http://schemas.microsoft.com/office/drawing/2014/chart" uri="{C3380CC4-5D6E-409C-BE32-E72D297353CC}">
              <c16:uniqueId val="{00000014-34C6-4925-8014-0D69D38331B6}"/>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Students</c:v>
                </c:pt>
              </c:strCache>
            </c:strRef>
          </c:tx>
          <c:spPr>
            <a:solidFill>
              <a:srgbClr val="1F6F8B"/>
            </a:solidFill>
            <a:effectLst/>
          </c:spPr>
          <c:invertIfNegative val="0"/>
          <c:dPt>
            <c:idx val="0"/>
            <c:invertIfNegative val="0"/>
            <c:bubble3D val="0"/>
            <c:extLst>
              <c:ext xmlns:c16="http://schemas.microsoft.com/office/drawing/2014/chart" uri="{C3380CC4-5D6E-409C-BE32-E72D297353CC}">
                <c16:uniqueId val="{00000001-A2D3-4E5B-AE4A-0918E080B8A3}"/>
              </c:ext>
            </c:extLst>
          </c:dPt>
          <c:dPt>
            <c:idx val="1"/>
            <c:invertIfNegative val="0"/>
            <c:bubble3D val="0"/>
            <c:extLst>
              <c:ext xmlns:c16="http://schemas.microsoft.com/office/drawing/2014/chart" uri="{C3380CC4-5D6E-409C-BE32-E72D297353CC}">
                <c16:uniqueId val="{00000003-A2D3-4E5B-AE4A-0918E080B8A3}"/>
              </c:ext>
            </c:extLst>
          </c:dPt>
          <c:dPt>
            <c:idx val="2"/>
            <c:invertIfNegative val="0"/>
            <c:bubble3D val="0"/>
            <c:extLst>
              <c:ext xmlns:c16="http://schemas.microsoft.com/office/drawing/2014/chart" uri="{C3380CC4-5D6E-409C-BE32-E72D297353CC}">
                <c16:uniqueId val="{00000005-A2D3-4E5B-AE4A-0918E080B8A3}"/>
              </c:ext>
            </c:extLst>
          </c:dPt>
          <c:dPt>
            <c:idx val="3"/>
            <c:invertIfNegative val="0"/>
            <c:bubble3D val="0"/>
            <c:spPr>
              <a:solidFill>
                <a:srgbClr val="E76F51"/>
              </a:solidFill>
              <a:effectLst/>
            </c:spPr>
            <c:extLst>
              <c:ext xmlns:c16="http://schemas.microsoft.com/office/drawing/2014/chart" uri="{C3380CC4-5D6E-409C-BE32-E72D297353CC}">
                <c16:uniqueId val="{00000007-A2D3-4E5B-AE4A-0918E080B8A3}"/>
              </c:ext>
            </c:extLst>
          </c:dPt>
          <c:dPt>
            <c:idx val="4"/>
            <c:invertIfNegative val="0"/>
            <c:bubble3D val="0"/>
            <c:spPr>
              <a:solidFill>
                <a:srgbClr val="E76F51"/>
              </a:solidFill>
              <a:effectLst/>
            </c:spPr>
            <c:extLst>
              <c:ext xmlns:c16="http://schemas.microsoft.com/office/drawing/2014/chart" uri="{C3380CC4-5D6E-409C-BE32-E72D297353CC}">
                <c16:uniqueId val="{00000009-A2D3-4E5B-AE4A-0918E080B8A3}"/>
              </c:ext>
            </c:extLst>
          </c:dPt>
          <c:dPt>
            <c:idx val="5"/>
            <c:invertIfNegative val="0"/>
            <c:bubble3D val="0"/>
            <c:spPr>
              <a:solidFill>
                <a:srgbClr val="E76F51"/>
              </a:solidFill>
              <a:effectLst/>
            </c:spPr>
            <c:extLst>
              <c:ext xmlns:c16="http://schemas.microsoft.com/office/drawing/2014/chart" uri="{C3380CC4-5D6E-409C-BE32-E72D297353CC}">
                <c16:uniqueId val="{0000000B-A2D3-4E5B-AE4A-0918E080B8A3}"/>
              </c:ext>
            </c:extLst>
          </c:dPt>
          <c:dLbls>
            <c:numFmt formatCode="#,##0" sourceLinked="0"/>
            <c:spPr>
              <a:noFill/>
              <a:ln>
                <a:noFill/>
              </a:ln>
              <a:effectLst/>
            </c:spPr>
            <c:txPr>
              <a:bodyPr/>
              <a:lstStyle/>
              <a:p>
                <a:pPr>
                  <a:defRPr sz="11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0–15</c:v>
                </c:pt>
                <c:pt idx="1">
                  <c:v>16–30</c:v>
                </c:pt>
                <c:pt idx="2">
                  <c:v>31–45</c:v>
                </c:pt>
                <c:pt idx="3">
                  <c:v>46–60</c:v>
                </c:pt>
                <c:pt idx="4">
                  <c:v>61–90</c:v>
                </c:pt>
                <c:pt idx="5">
                  <c:v>90+</c:v>
                </c:pt>
              </c:strCache>
            </c:strRef>
          </c:cat>
          <c:val>
            <c:numRef>
              <c:f>Sheet1!$B$2:$B$7</c:f>
              <c:numCache>
                <c:formatCode>General</c:formatCode>
                <c:ptCount val="6"/>
                <c:pt idx="0">
                  <c:v>6</c:v>
                </c:pt>
                <c:pt idx="1">
                  <c:v>11</c:v>
                </c:pt>
                <c:pt idx="2">
                  <c:v>7</c:v>
                </c:pt>
                <c:pt idx="3">
                  <c:v>14</c:v>
                </c:pt>
                <c:pt idx="4">
                  <c:v>13</c:v>
                </c:pt>
                <c:pt idx="5">
                  <c:v>5</c:v>
                </c:pt>
              </c:numCache>
            </c:numRef>
          </c:val>
          <c:extLst>
            <c:ext xmlns:c16="http://schemas.microsoft.com/office/drawing/2014/chart" uri="{C3380CC4-5D6E-409C-BE32-E72D297353CC}">
              <c16:uniqueId val="{0000000C-A2D3-4E5B-AE4A-0918E080B8A3}"/>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 of students</c:v>
                </c:pt>
              </c:strCache>
            </c:strRef>
          </c:tx>
          <c:spPr>
            <a:solidFill>
              <a:srgbClr val="1F6F8B"/>
            </a:solidFill>
            <a:effectLst/>
          </c:spPr>
          <c:invertIfNegative val="0"/>
          <c:dLbls>
            <c:numFmt formatCode="0&quot;%&quot;" sourceLinked="0"/>
            <c:spPr>
              <a:noFill/>
              <a:ln>
                <a:noFill/>
              </a:ln>
              <a:effectLst/>
            </c:spPr>
            <c:txPr>
              <a:bodyPr/>
              <a:lstStyle/>
              <a:p>
                <a:pPr>
                  <a:defRPr sz="11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Bus</c:v>
                </c:pt>
                <c:pt idx="1">
                  <c:v>Luas</c:v>
                </c:pt>
                <c:pt idx="2">
                  <c:v>Train</c:v>
                </c:pt>
                <c:pt idx="3">
                  <c:v>Walk</c:v>
                </c:pt>
                <c:pt idx="4">
                  <c:v>Car</c:v>
                </c:pt>
                <c:pt idx="5">
                  <c:v>Bike / e-scooter</c:v>
                </c:pt>
              </c:strCache>
            </c:strRef>
          </c:cat>
          <c:val>
            <c:numRef>
              <c:f>Sheet1!$B$2:$B$7</c:f>
              <c:numCache>
                <c:formatCode>General</c:formatCode>
                <c:ptCount val="6"/>
                <c:pt idx="0">
                  <c:v>56</c:v>
                </c:pt>
                <c:pt idx="1">
                  <c:v>53</c:v>
                </c:pt>
                <c:pt idx="2">
                  <c:v>30</c:v>
                </c:pt>
                <c:pt idx="3">
                  <c:v>9</c:v>
                </c:pt>
                <c:pt idx="4">
                  <c:v>4</c:v>
                </c:pt>
                <c:pt idx="5">
                  <c:v>2</c:v>
                </c:pt>
              </c:numCache>
            </c:numRef>
          </c:val>
          <c:extLst>
            <c:ext xmlns:c16="http://schemas.microsoft.com/office/drawing/2014/chart" uri="{C3380CC4-5D6E-409C-BE32-E72D297353CC}">
              <c16:uniqueId val="{00000000-6AF1-4EC3-A021-7B0DC9F5C769}"/>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 with it nearby</c:v>
                </c:pt>
              </c:strCache>
            </c:strRef>
          </c:tx>
          <c:spPr>
            <a:solidFill>
              <a:srgbClr val="1F6F8B"/>
            </a:solidFill>
            <a:effectLst/>
          </c:spPr>
          <c:invertIfNegative val="0"/>
          <c:dPt>
            <c:idx val="0"/>
            <c:invertIfNegative val="0"/>
            <c:bubble3D val="0"/>
            <c:extLst>
              <c:ext xmlns:c16="http://schemas.microsoft.com/office/drawing/2014/chart" uri="{C3380CC4-5D6E-409C-BE32-E72D297353CC}">
                <c16:uniqueId val="{00000001-618D-4C0D-9346-A98A9302420B}"/>
              </c:ext>
            </c:extLst>
          </c:dPt>
          <c:dPt>
            <c:idx val="1"/>
            <c:invertIfNegative val="0"/>
            <c:bubble3D val="0"/>
            <c:extLst>
              <c:ext xmlns:c16="http://schemas.microsoft.com/office/drawing/2014/chart" uri="{C3380CC4-5D6E-409C-BE32-E72D297353CC}">
                <c16:uniqueId val="{00000003-618D-4C0D-9346-A98A9302420B}"/>
              </c:ext>
            </c:extLst>
          </c:dPt>
          <c:dPt>
            <c:idx val="2"/>
            <c:invertIfNegative val="0"/>
            <c:bubble3D val="0"/>
            <c:extLst>
              <c:ext xmlns:c16="http://schemas.microsoft.com/office/drawing/2014/chart" uri="{C3380CC4-5D6E-409C-BE32-E72D297353CC}">
                <c16:uniqueId val="{00000005-618D-4C0D-9346-A98A9302420B}"/>
              </c:ext>
            </c:extLst>
          </c:dPt>
          <c:dPt>
            <c:idx val="3"/>
            <c:invertIfNegative val="0"/>
            <c:bubble3D val="0"/>
            <c:extLst>
              <c:ext xmlns:c16="http://schemas.microsoft.com/office/drawing/2014/chart" uri="{C3380CC4-5D6E-409C-BE32-E72D297353CC}">
                <c16:uniqueId val="{00000007-618D-4C0D-9346-A98A9302420B}"/>
              </c:ext>
            </c:extLst>
          </c:dPt>
          <c:dPt>
            <c:idx val="4"/>
            <c:invertIfNegative val="0"/>
            <c:bubble3D val="0"/>
            <c:extLst>
              <c:ext xmlns:c16="http://schemas.microsoft.com/office/drawing/2014/chart" uri="{C3380CC4-5D6E-409C-BE32-E72D297353CC}">
                <c16:uniqueId val="{00000009-618D-4C0D-9346-A98A9302420B}"/>
              </c:ext>
            </c:extLst>
          </c:dPt>
          <c:dPt>
            <c:idx val="5"/>
            <c:invertIfNegative val="0"/>
            <c:bubble3D val="0"/>
            <c:spPr>
              <a:solidFill>
                <a:srgbClr val="E76F51"/>
              </a:solidFill>
              <a:effectLst/>
            </c:spPr>
            <c:extLst>
              <c:ext xmlns:c16="http://schemas.microsoft.com/office/drawing/2014/chart" uri="{C3380CC4-5D6E-409C-BE32-E72D297353CC}">
                <c16:uniqueId val="{0000000B-618D-4C0D-9346-A98A9302420B}"/>
              </c:ext>
            </c:extLst>
          </c:dPt>
          <c:dLbls>
            <c:numFmt formatCode="0&quot;%&quot;" sourceLinked="0"/>
            <c:spPr>
              <a:noFill/>
              <a:ln>
                <a:noFill/>
              </a:ln>
              <a:effectLst/>
            </c:spPr>
            <c:txPr>
              <a:bodyPr/>
              <a:lstStyle/>
              <a:p>
                <a:pPr>
                  <a:defRPr sz="11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Cafés</c:v>
                </c:pt>
                <c:pt idx="1">
                  <c:v>Pharmacy</c:v>
                </c:pt>
                <c:pt idx="2">
                  <c:v>Parks</c:v>
                </c:pt>
                <c:pt idx="3">
                  <c:v>Gyms</c:v>
                </c:pt>
                <c:pt idx="4">
                  <c:v>Restaurants</c:v>
                </c:pt>
                <c:pt idx="5">
                  <c:v>Hospitals</c:v>
                </c:pt>
              </c:strCache>
            </c:strRef>
          </c:cat>
          <c:val>
            <c:numRef>
              <c:f>Sheet1!$B$2:$B$7</c:f>
              <c:numCache>
                <c:formatCode>General</c:formatCode>
                <c:ptCount val="6"/>
                <c:pt idx="0">
                  <c:v>88</c:v>
                </c:pt>
                <c:pt idx="1">
                  <c:v>86</c:v>
                </c:pt>
                <c:pt idx="2">
                  <c:v>82</c:v>
                </c:pt>
                <c:pt idx="3">
                  <c:v>75</c:v>
                </c:pt>
                <c:pt idx="4">
                  <c:v>68</c:v>
                </c:pt>
                <c:pt idx="5">
                  <c:v>30</c:v>
                </c:pt>
              </c:numCache>
            </c:numRef>
          </c:val>
          <c:extLst>
            <c:ext xmlns:c16="http://schemas.microsoft.com/office/drawing/2014/chart" uri="{C3380CC4-5D6E-409C-BE32-E72D297353CC}">
              <c16:uniqueId val="{0000000C-618D-4C0D-9346-A98A9302420B}"/>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Safety (avg 8.0)</c:v>
                </c:pt>
              </c:strCache>
            </c:strRef>
          </c:tx>
          <c:spPr>
            <a:solidFill>
              <a:srgbClr val="1F6F8B"/>
            </a:solidFill>
            <a:effectLst/>
          </c:spPr>
          <c:invertIfNegative val="0"/>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0</c:v>
                </c:pt>
                <c:pt idx="1">
                  <c:v>1</c:v>
                </c:pt>
                <c:pt idx="2">
                  <c:v>0</c:v>
                </c:pt>
                <c:pt idx="3">
                  <c:v>0</c:v>
                </c:pt>
                <c:pt idx="4">
                  <c:v>2</c:v>
                </c:pt>
                <c:pt idx="5">
                  <c:v>3</c:v>
                </c:pt>
                <c:pt idx="6">
                  <c:v>14</c:v>
                </c:pt>
                <c:pt idx="7">
                  <c:v>15</c:v>
                </c:pt>
                <c:pt idx="8">
                  <c:v>10</c:v>
                </c:pt>
                <c:pt idx="9">
                  <c:v>12</c:v>
                </c:pt>
              </c:numCache>
            </c:numRef>
          </c:val>
          <c:extLst>
            <c:ext xmlns:c16="http://schemas.microsoft.com/office/drawing/2014/chart" uri="{C3380CC4-5D6E-409C-BE32-E72D297353CC}">
              <c16:uniqueId val="{00000000-BC4A-4C21-AC2A-2928ED23B67C}"/>
            </c:ext>
          </c:extLst>
        </c:ser>
        <c:ser>
          <c:idx val="1"/>
          <c:order val="1"/>
          <c:tx>
            <c:strRef>
              <c:f>Sheet1!$C$1</c:f>
              <c:strCache>
                <c:ptCount val="1"/>
                <c:pt idx="0">
                  <c:v>Overall (avg 7.7)</c:v>
                </c:pt>
              </c:strCache>
            </c:strRef>
          </c:tx>
          <c:spPr>
            <a:solidFill>
              <a:srgbClr val="E9A23B"/>
            </a:solidFill>
            <a:effectLst/>
          </c:spPr>
          <c:invertIfNegative val="0"/>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0</c:v>
                </c:pt>
                <c:pt idx="1">
                  <c:v>0</c:v>
                </c:pt>
                <c:pt idx="2">
                  <c:v>0</c:v>
                </c:pt>
                <c:pt idx="3">
                  <c:v>0</c:v>
                </c:pt>
                <c:pt idx="4">
                  <c:v>5</c:v>
                </c:pt>
                <c:pt idx="5">
                  <c:v>6</c:v>
                </c:pt>
                <c:pt idx="6">
                  <c:v>14</c:v>
                </c:pt>
                <c:pt idx="7">
                  <c:v>15</c:v>
                </c:pt>
                <c:pt idx="8">
                  <c:v>9</c:v>
                </c:pt>
                <c:pt idx="9">
                  <c:v>8</c:v>
                </c:pt>
              </c:numCache>
            </c:numRef>
          </c:val>
          <c:extLst>
            <c:ext xmlns:c16="http://schemas.microsoft.com/office/drawing/2014/chart" uri="{C3380CC4-5D6E-409C-BE32-E72D297353CC}">
              <c16:uniqueId val="{00000001-BC4A-4C21-AC2A-2928ED23B67C}"/>
            </c:ext>
          </c:extLst>
        </c:ser>
        <c:dLbls>
          <c:showLegendKey val="0"/>
          <c:showVal val="0"/>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8233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E743DC-154B-4EB6-B358-1F07D78E8593}" type="slidenum">
              <a:rPr lang="en-IN"/>
              <a:t>37</a:t>
            </a:fld>
            <a:endParaRPr lang="en-IN"/>
          </a:p>
        </p:txBody>
      </p:sp>
    </p:spTree>
    <p:extLst>
      <p:ext uri="{BB962C8B-B14F-4D97-AF65-F5344CB8AC3E}">
        <p14:creationId xmlns:p14="http://schemas.microsoft.com/office/powerpoint/2010/main" val="1026735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89D37C-E544-286C-20C6-111331D3C254}"/>
              </a:ext>
            </a:extLst>
          </p:cNvPr>
          <p:cNvSpPr>
            <a:spLocks noGrp="1"/>
          </p:cNvSpPr>
          <p:nvPr>
            <p:ph type="dt" sz="half" idx="10"/>
          </p:nvPr>
        </p:nvSpPr>
        <p:spPr/>
        <p:txBody>
          <a:bodyPr/>
          <a:lstStyle/>
          <a:p>
            <a:fld id="{B876637C-391C-4CBF-9855-37C9F3257B5D}" type="datetime1">
              <a:rPr lang="en-US" smtClean="0"/>
              <a:t>10/2/2026</a:t>
            </a:fld>
            <a:endParaRPr lang="en-IN"/>
          </a:p>
        </p:txBody>
      </p:sp>
      <p:sp>
        <p:nvSpPr>
          <p:cNvPr id="3" name="Footer Placeholder 2">
            <a:extLst>
              <a:ext uri="{FF2B5EF4-FFF2-40B4-BE49-F238E27FC236}">
                <a16:creationId xmlns:a16="http://schemas.microsoft.com/office/drawing/2014/main" id="{2AA490C8-EF99-0A5A-383D-7DEC217145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80A73F0-287F-40F1-4CE0-3F60121ED534}"/>
              </a:ext>
            </a:extLst>
          </p:cNvPr>
          <p:cNvSpPr>
            <a:spLocks noGrp="1"/>
          </p:cNvSpPr>
          <p:nvPr>
            <p:ph type="sldNum" sz="quarter" idx="12"/>
          </p:nvPr>
        </p:nvSpPr>
        <p:spPr/>
        <p:txBody>
          <a:bodyPr/>
          <a:lstStyle/>
          <a:p>
            <a:fld id="{0806877C-565E-4484-9C6B-4F48F7164138}" type="slidenum">
              <a:rPr lang="en-IN"/>
              <a:t>‹#›</a:t>
            </a:fld>
            <a:endParaRPr lang="en-IN"/>
          </a:p>
        </p:txBody>
      </p:sp>
    </p:spTree>
    <p:extLst>
      <p:ext uri="{BB962C8B-B14F-4D97-AF65-F5344CB8AC3E}">
        <p14:creationId xmlns:p14="http://schemas.microsoft.com/office/powerpoint/2010/main" val="1555592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966B5-8D91-19D0-6AD3-3A577B21559F}"/>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E1D48B8D-1C17-DE46-5D7B-741DB18C5B9E}"/>
              </a:ext>
            </a:extLst>
          </p:cNvPr>
          <p:cNvSpPr>
            <a:spLocks noGrp="1"/>
          </p:cNvSpPr>
          <p:nvPr>
            <p:ph type="subTitle" idx="1"/>
          </p:nvPr>
        </p:nvSpPr>
        <p:spPr>
          <a:xfrm>
            <a:off x="1143000" y="2701528"/>
            <a:ext cx="6858000" cy="1241821"/>
          </a:xfrm>
        </p:spPr>
        <p:txBody>
          <a:bodyPr/>
          <a:lstStyle>
            <a:lvl1pPr marL="0" indent="0" algn="ctr">
              <a:buNone/>
              <a:defRPr sz="1800"/>
            </a:lvl1pPr>
            <a:lvl2pPr marL="457200" indent="0" algn="ctr">
              <a:buNone/>
              <a:defRPr sz="1500"/>
            </a:lvl2pPr>
            <a:lvl3pPr marL="914400" indent="0" algn="ctr">
              <a:buNone/>
              <a:defRPr sz="1350"/>
            </a:lvl3pPr>
            <a:lvl4pPr marL="1371600" indent="0" algn="ctr">
              <a:buNone/>
              <a:defRPr sz="1200"/>
            </a:lvl4pPr>
            <a:lvl5pPr marL="1828800" indent="0" algn="ctr">
              <a:buNone/>
              <a:defRPr sz="1200"/>
            </a:lvl5pPr>
            <a:lvl6pPr marL="2286000" indent="0" algn="ctr">
              <a:buNone/>
              <a:defRPr sz="1200"/>
            </a:lvl6pPr>
            <a:lvl7pPr marL="2743200" indent="0" algn="ctr">
              <a:buNone/>
              <a:defRPr sz="1200"/>
            </a:lvl7pPr>
            <a:lvl8pPr marL="3200400" indent="0" algn="ctr">
              <a:buNone/>
              <a:defRPr sz="1200"/>
            </a:lvl8pPr>
            <a:lvl9pPr marL="36576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F3895F-A21E-9829-5B0A-962C7095C48C}"/>
              </a:ext>
            </a:extLst>
          </p:cNvPr>
          <p:cNvSpPr>
            <a:spLocks noGrp="1"/>
          </p:cNvSpPr>
          <p:nvPr>
            <p:ph type="dt" sz="half" idx="10"/>
          </p:nvPr>
        </p:nvSpPr>
        <p:spPr/>
        <p:txBody>
          <a:bodyPr/>
          <a:lstStyle/>
          <a:p>
            <a:fld id="{94A9BE41-9CC2-4934-84FE-E7BE26D0EC2E}" type="datetime1">
              <a:rPr lang="en-US" smtClean="0"/>
              <a:t>10/2/2026</a:t>
            </a:fld>
            <a:endParaRPr lang="en-IN"/>
          </a:p>
        </p:txBody>
      </p:sp>
      <p:sp>
        <p:nvSpPr>
          <p:cNvPr id="5" name="Footer Placeholder 4">
            <a:extLst>
              <a:ext uri="{FF2B5EF4-FFF2-40B4-BE49-F238E27FC236}">
                <a16:creationId xmlns:a16="http://schemas.microsoft.com/office/drawing/2014/main" id="{E25A7F33-0F84-4AE2-D6F7-E140421E2B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067EB5-0943-7DF7-7A46-9269492C3EEF}"/>
              </a:ext>
            </a:extLst>
          </p:cNvPr>
          <p:cNvSpPr>
            <a:spLocks noGrp="1"/>
          </p:cNvSpPr>
          <p:nvPr>
            <p:ph type="sldNum" sz="quarter" idx="12"/>
          </p:nvPr>
        </p:nvSpPr>
        <p:spPr/>
        <p:txBody>
          <a:bodyPr/>
          <a:lstStyle/>
          <a:p>
            <a:fld id="{0806877C-565E-4484-9C6B-4F48F7164138}" type="slidenum">
              <a:rPr lang="en-IN"/>
              <a:t>‹#›</a:t>
            </a:fld>
            <a:endParaRPr lang="en-IN"/>
          </a:p>
        </p:txBody>
      </p:sp>
    </p:spTree>
    <p:extLst>
      <p:ext uri="{BB962C8B-B14F-4D97-AF65-F5344CB8AC3E}">
        <p14:creationId xmlns:p14="http://schemas.microsoft.com/office/powerpoint/2010/main" val="1851494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6A59B-3C0C-F4E2-144C-04C7E9CDDF2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7D16DD-C370-3C6B-CFF5-CC93DCE62E9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A7D2F79-9F6F-746E-3245-18B439903A8E}"/>
              </a:ext>
            </a:extLst>
          </p:cNvPr>
          <p:cNvSpPr>
            <a:spLocks noGrp="1"/>
          </p:cNvSpPr>
          <p:nvPr>
            <p:ph type="dt" sz="half" idx="10"/>
          </p:nvPr>
        </p:nvSpPr>
        <p:spPr/>
        <p:txBody>
          <a:bodyPr/>
          <a:lstStyle/>
          <a:p>
            <a:fld id="{3C1CAA92-FF22-44A9-BA6C-801FAA5015FB}" type="datetime1">
              <a:rPr lang="en-US" smtClean="0"/>
              <a:t>10/2/2026</a:t>
            </a:fld>
            <a:endParaRPr lang="en-US"/>
          </a:p>
        </p:txBody>
      </p:sp>
      <p:sp>
        <p:nvSpPr>
          <p:cNvPr id="5" name="Footer Placeholder 4">
            <a:extLst>
              <a:ext uri="{FF2B5EF4-FFF2-40B4-BE49-F238E27FC236}">
                <a16:creationId xmlns:a16="http://schemas.microsoft.com/office/drawing/2014/main" id="{1E917B3D-1CD4-7160-C8EF-802B2FC2AD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BD094B-0497-5B59-870B-1EAF833A3C7C}"/>
              </a:ext>
            </a:extLst>
          </p:cNvPr>
          <p:cNvSpPr>
            <a:spLocks noGrp="1"/>
          </p:cNvSpPr>
          <p:nvPr>
            <p:ph type="sldNum" sz="quarter" idx="12"/>
          </p:nvPr>
        </p:nvSpPr>
        <p:spPr/>
        <p:txBody>
          <a:bodyPr/>
          <a:lstStyle/>
          <a:p>
            <a:fld id="{85350DE5-420E-214B-AB92-106DDAFF6172}" type="slidenum">
              <a:rPr lang="en-US"/>
              <a:t>‹#›</a:t>
            </a:fld>
            <a:endParaRPr lang="en-US"/>
          </a:p>
        </p:txBody>
      </p:sp>
    </p:spTree>
    <p:extLst>
      <p:ext uri="{BB962C8B-B14F-4D97-AF65-F5344CB8AC3E}">
        <p14:creationId xmlns:p14="http://schemas.microsoft.com/office/powerpoint/2010/main" val="2491127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56DF2-4FEB-C6C2-5558-8FCC1CA9147B}"/>
              </a:ext>
            </a:extLst>
          </p:cNvPr>
          <p:cNvSpPr>
            <a:spLocks noGrp="1"/>
          </p:cNvSpPr>
          <p:nvPr>
            <p:ph type="ctrTitle"/>
          </p:nvPr>
        </p:nvSpPr>
        <p:spPr>
          <a:xfrm>
            <a:off x="1143000" y="841772"/>
            <a:ext cx="6858000" cy="17907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CC32284A-D2FC-D41F-5927-6B4F51B4F20B}"/>
              </a:ext>
            </a:extLst>
          </p:cNvPr>
          <p:cNvSpPr>
            <a:spLocks noGrp="1"/>
          </p:cNvSpPr>
          <p:nvPr>
            <p:ph type="subTitle" idx="1"/>
          </p:nvPr>
        </p:nvSpPr>
        <p:spPr>
          <a:xfrm>
            <a:off x="1143000" y="2701528"/>
            <a:ext cx="6858000" cy="1241821"/>
          </a:xfrm>
        </p:spPr>
        <p:txBody>
          <a:bodyPr/>
          <a:lstStyle>
            <a:lvl1pPr marL="0" indent="0" algn="ctr">
              <a:buNone/>
              <a:defRPr sz="1800"/>
            </a:lvl1pPr>
            <a:lvl2pPr marL="457200" indent="0" algn="ctr">
              <a:buNone/>
              <a:defRPr sz="1500"/>
            </a:lvl2pPr>
            <a:lvl3pPr marL="914400" indent="0" algn="ctr">
              <a:buNone/>
              <a:defRPr sz="1350"/>
            </a:lvl3pPr>
            <a:lvl4pPr marL="1371600" indent="0" algn="ctr">
              <a:buNone/>
              <a:defRPr sz="1200"/>
            </a:lvl4pPr>
            <a:lvl5pPr marL="1828800" indent="0" algn="ctr">
              <a:buNone/>
              <a:defRPr sz="1200"/>
            </a:lvl5pPr>
            <a:lvl6pPr marL="2286000" indent="0" algn="ctr">
              <a:buNone/>
              <a:defRPr sz="1200"/>
            </a:lvl6pPr>
            <a:lvl7pPr marL="2743200" indent="0" algn="ctr">
              <a:buNone/>
              <a:defRPr sz="1200"/>
            </a:lvl7pPr>
            <a:lvl8pPr marL="3200400" indent="0" algn="ctr">
              <a:buNone/>
              <a:defRPr sz="1200"/>
            </a:lvl8pPr>
            <a:lvl9pPr marL="36576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28A7149-71B3-5DC0-FCAB-3ED3F0E4BB7C}"/>
              </a:ext>
            </a:extLst>
          </p:cNvPr>
          <p:cNvSpPr>
            <a:spLocks noGrp="1"/>
          </p:cNvSpPr>
          <p:nvPr>
            <p:ph type="dt" sz="half" idx="10"/>
          </p:nvPr>
        </p:nvSpPr>
        <p:spPr/>
        <p:txBody>
          <a:bodyPr/>
          <a:lstStyle/>
          <a:p>
            <a:fld id="{CBC22A8D-CF26-4605-A1D1-614F199DF8A5}" type="datetime1">
              <a:rPr lang="en-US" smtClean="0"/>
              <a:t>10/2/2026</a:t>
            </a:fld>
            <a:endParaRPr lang="en-US"/>
          </a:p>
        </p:txBody>
      </p:sp>
      <p:sp>
        <p:nvSpPr>
          <p:cNvPr id="5" name="Footer Placeholder 4">
            <a:extLst>
              <a:ext uri="{FF2B5EF4-FFF2-40B4-BE49-F238E27FC236}">
                <a16:creationId xmlns:a16="http://schemas.microsoft.com/office/drawing/2014/main" id="{8E849DE9-6687-C2D9-2268-811F96E6D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627744-025D-ED60-1BA4-DD2D1726EA46}"/>
              </a:ext>
            </a:extLst>
          </p:cNvPr>
          <p:cNvSpPr>
            <a:spLocks noGrp="1"/>
          </p:cNvSpPr>
          <p:nvPr>
            <p:ph type="sldNum" sz="quarter" idx="12"/>
          </p:nvPr>
        </p:nvSpPr>
        <p:spPr/>
        <p:txBody>
          <a:bodyPr/>
          <a:lstStyle/>
          <a:p>
            <a:fld id="{85350DE5-420E-214B-AB92-106DDAFF6172}" type="slidenum">
              <a:rPr lang="en-US"/>
              <a:t>‹#›</a:t>
            </a:fld>
            <a:endParaRPr lang="en-US"/>
          </a:p>
        </p:txBody>
      </p:sp>
    </p:spTree>
    <p:extLst>
      <p:ext uri="{BB962C8B-B14F-4D97-AF65-F5344CB8AC3E}">
        <p14:creationId xmlns:p14="http://schemas.microsoft.com/office/powerpoint/2010/main" val="1122979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89BE7-4D4A-35C3-F8BC-8454DDC186B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8C6BC00-4F89-8EE9-6BE4-4B3373D768BF}"/>
              </a:ext>
            </a:extLst>
          </p:cNvPr>
          <p:cNvSpPr>
            <a:spLocks noGrp="1"/>
          </p:cNvSpPr>
          <p:nvPr>
            <p:ph sz="half" idx="1"/>
          </p:nvPr>
        </p:nvSpPr>
        <p:spPr>
          <a:xfrm>
            <a:off x="628650" y="1369218"/>
            <a:ext cx="3886200" cy="326350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52486F9-B64A-A8F0-B30C-D4F01FC03892}"/>
              </a:ext>
            </a:extLst>
          </p:cNvPr>
          <p:cNvSpPr>
            <a:spLocks noGrp="1"/>
          </p:cNvSpPr>
          <p:nvPr>
            <p:ph sz="half" idx="2"/>
          </p:nvPr>
        </p:nvSpPr>
        <p:spPr>
          <a:xfrm>
            <a:off x="4629150" y="1369218"/>
            <a:ext cx="3886200" cy="326350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1244591-22A3-D7B4-19CA-F2250742F5E1}"/>
              </a:ext>
            </a:extLst>
          </p:cNvPr>
          <p:cNvSpPr>
            <a:spLocks noGrp="1"/>
          </p:cNvSpPr>
          <p:nvPr>
            <p:ph type="dt" sz="half" idx="10"/>
          </p:nvPr>
        </p:nvSpPr>
        <p:spPr/>
        <p:txBody>
          <a:bodyPr/>
          <a:lstStyle/>
          <a:p>
            <a:fld id="{9DF71710-952B-41F0-B364-186DCBF481E9}" type="datetime1">
              <a:rPr lang="en-US" smtClean="0"/>
              <a:t>10/2/2026</a:t>
            </a:fld>
            <a:endParaRPr lang="en-US"/>
          </a:p>
        </p:txBody>
      </p:sp>
      <p:sp>
        <p:nvSpPr>
          <p:cNvPr id="6" name="Footer Placeholder 5">
            <a:extLst>
              <a:ext uri="{FF2B5EF4-FFF2-40B4-BE49-F238E27FC236}">
                <a16:creationId xmlns:a16="http://schemas.microsoft.com/office/drawing/2014/main" id="{DF3969D1-3EB6-03A4-8521-4B366BD9EC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711F5-CBED-BC59-4B34-7376BC984452}"/>
              </a:ext>
            </a:extLst>
          </p:cNvPr>
          <p:cNvSpPr>
            <a:spLocks noGrp="1"/>
          </p:cNvSpPr>
          <p:nvPr>
            <p:ph type="sldNum" sz="quarter" idx="12"/>
          </p:nvPr>
        </p:nvSpPr>
        <p:spPr/>
        <p:txBody>
          <a:bodyPr/>
          <a:lstStyle/>
          <a:p>
            <a:fld id="{85350DE5-420E-214B-AB92-106DDAFF6172}" type="slidenum">
              <a:rPr lang="en-US"/>
              <a:t>‹#›</a:t>
            </a:fld>
            <a:endParaRPr lang="en-US"/>
          </a:p>
        </p:txBody>
      </p:sp>
    </p:spTree>
    <p:extLst>
      <p:ext uri="{BB962C8B-B14F-4D97-AF65-F5344CB8AC3E}">
        <p14:creationId xmlns:p14="http://schemas.microsoft.com/office/powerpoint/2010/main" val="4000141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9B6093-2670-4192-81BA-2ECEADC9ADCA}" type="datetime1">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3EDF25-4A79-43CC-8379-7A50F793B1B0}" type="datetime1">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597818"/>
            <a:ext cx="5829300" cy="1102518"/>
          </a:xfrm>
        </p:spPr>
        <p:txBody>
          <a:bodyPr/>
          <a:lstStyle/>
          <a:p>
            <a:r>
              <a:rPr lang="en-US"/>
              <a:t>Click to edit Master title style</a:t>
            </a:r>
          </a:p>
        </p:txBody>
      </p:sp>
      <p:sp>
        <p:nvSpPr>
          <p:cNvPr id="3" name="Subtitle 2"/>
          <p:cNvSpPr>
            <a:spLocks noGrp="1"/>
          </p:cNvSpPr>
          <p:nvPr>
            <p:ph type="subTitle" idx="1"/>
          </p:nvPr>
        </p:nvSpPr>
        <p:spPr>
          <a:xfrm>
            <a:off x="1028700" y="2914650"/>
            <a:ext cx="48006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EC8EA6A-FC20-4FF9-8CC7-33D989FE24DB}" type="datetime1">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C6E3F-1F5B-8F6D-5ABD-9A08EA8EF5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C716E5-BF8D-99BE-C89C-596408D8E1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2F8477-60CE-9522-74B6-2B154489D608}"/>
              </a:ext>
            </a:extLst>
          </p:cNvPr>
          <p:cNvSpPr>
            <a:spLocks noGrp="1"/>
          </p:cNvSpPr>
          <p:nvPr>
            <p:ph type="dt" sz="half" idx="10"/>
          </p:nvPr>
        </p:nvSpPr>
        <p:spPr/>
        <p:txBody>
          <a:bodyPr/>
          <a:lstStyle/>
          <a:p>
            <a:fld id="{CDE6DECF-2E1B-4956-95E6-F3CD301B442B}" type="datetime1">
              <a:rPr lang="en-US" smtClean="0"/>
              <a:t>10/2/2026</a:t>
            </a:fld>
            <a:endParaRPr lang="en-IN"/>
          </a:p>
        </p:txBody>
      </p:sp>
      <p:sp>
        <p:nvSpPr>
          <p:cNvPr id="5" name="Footer Placeholder 4">
            <a:extLst>
              <a:ext uri="{FF2B5EF4-FFF2-40B4-BE49-F238E27FC236}">
                <a16:creationId xmlns:a16="http://schemas.microsoft.com/office/drawing/2014/main" id="{949620FD-79AC-E5CA-EDFB-43341727AE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3D3C88-D289-0457-E88D-265254C5D00A}"/>
              </a:ext>
            </a:extLst>
          </p:cNvPr>
          <p:cNvSpPr>
            <a:spLocks noGrp="1"/>
          </p:cNvSpPr>
          <p:nvPr>
            <p:ph type="sldNum" sz="quarter" idx="12"/>
          </p:nvPr>
        </p:nvSpPr>
        <p:spPr/>
        <p:txBody>
          <a:bodyPr/>
          <a:lstStyle/>
          <a:p>
            <a:fld id="{140C3D1F-4BB2-4A84-9E53-FCEEA8FBCCD1}" type="slidenum">
              <a:rPr lang="en-IN"/>
              <a:t>‹#›</a:t>
            </a:fld>
            <a:endParaRPr lang="en-IN"/>
          </a:p>
        </p:txBody>
      </p:sp>
    </p:spTree>
    <p:extLst>
      <p:ext uri="{BB962C8B-B14F-4D97-AF65-F5344CB8AC3E}">
        <p14:creationId xmlns:p14="http://schemas.microsoft.com/office/powerpoint/2010/main" val="346693190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514C56-45D1-0DAF-8CE0-A21FB3D5F307}"/>
              </a:ext>
            </a:extLst>
          </p:cNvPr>
          <p:cNvSpPr>
            <a:spLocks noGrp="1"/>
          </p:cNvSpPr>
          <p:nvPr>
            <p:ph type="title"/>
          </p:nvPr>
        </p:nvSpPr>
        <p:spPr>
          <a:xfrm>
            <a:off x="628650" y="273843"/>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376CA5-29CF-8C2E-B9E7-0D0A2ECBCC0F}"/>
              </a:ext>
            </a:extLst>
          </p:cNvPr>
          <p:cNvSpPr>
            <a:spLocks noGrp="1"/>
          </p:cNvSpPr>
          <p:nvPr>
            <p:ph type="body" idx="1"/>
          </p:nvPr>
        </p:nvSpPr>
        <p:spPr>
          <a:xfrm>
            <a:off x="628650" y="1369218"/>
            <a:ext cx="7886700" cy="3263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D77684-F1FC-9DE9-AD8A-4349F0B743AE}"/>
              </a:ext>
            </a:extLst>
          </p:cNvPr>
          <p:cNvSpPr>
            <a:spLocks noGrp="1"/>
          </p:cNvSpPr>
          <p:nvPr>
            <p:ph type="dt" sz="half" idx="2"/>
          </p:nvPr>
        </p:nvSpPr>
        <p:spPr>
          <a:xfrm>
            <a:off x="628650" y="4767262"/>
            <a:ext cx="2057400" cy="273843"/>
          </a:xfrm>
          <a:prstGeom prst="rect">
            <a:avLst/>
          </a:prstGeom>
        </p:spPr>
        <p:txBody>
          <a:bodyPr vert="horz" lIns="91440" tIns="45720" rIns="91440" bIns="45720" rtlCol="0" anchor="ctr"/>
          <a:lstStyle>
            <a:lvl1pPr algn="l">
              <a:defRPr sz="900">
                <a:solidFill>
                  <a:schemeClr val="tx1">
                    <a:tint val="75000"/>
                  </a:schemeClr>
                </a:solidFill>
              </a:defRPr>
            </a:lvl1pPr>
          </a:lstStyle>
          <a:p>
            <a:fld id="{99372A7F-918A-4B68-90E7-1CFF96DDF098}" type="datetime1">
              <a:rPr lang="en-US" smtClean="0"/>
              <a:t>10/2/2026</a:t>
            </a:fld>
            <a:endParaRPr lang="en-IN"/>
          </a:p>
        </p:txBody>
      </p:sp>
      <p:sp>
        <p:nvSpPr>
          <p:cNvPr id="5" name="Footer Placeholder 4">
            <a:extLst>
              <a:ext uri="{FF2B5EF4-FFF2-40B4-BE49-F238E27FC236}">
                <a16:creationId xmlns:a16="http://schemas.microsoft.com/office/drawing/2014/main" id="{074612F5-2555-9800-678F-FFB2D9ED2932}"/>
              </a:ext>
            </a:extLst>
          </p:cNvPr>
          <p:cNvSpPr>
            <a:spLocks noGrp="1"/>
          </p:cNvSpPr>
          <p:nvPr>
            <p:ph type="ftr" sz="quarter" idx="3"/>
          </p:nvPr>
        </p:nvSpPr>
        <p:spPr>
          <a:xfrm>
            <a:off x="3028950" y="4767262"/>
            <a:ext cx="3086100" cy="27384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9A57E3D-3529-6ABE-2FBB-F85DB7E740C0}"/>
              </a:ext>
            </a:extLst>
          </p:cNvPr>
          <p:cNvSpPr>
            <a:spLocks noGrp="1"/>
          </p:cNvSpPr>
          <p:nvPr>
            <p:ph type="sldNum" sz="quarter" idx="4"/>
          </p:nvPr>
        </p:nvSpPr>
        <p:spPr>
          <a:xfrm>
            <a:off x="6457950" y="4767262"/>
            <a:ext cx="2057400" cy="273843"/>
          </a:xfrm>
          <a:prstGeom prst="rect">
            <a:avLst/>
          </a:prstGeom>
        </p:spPr>
        <p:txBody>
          <a:bodyPr vert="horz" lIns="91440" tIns="45720" rIns="91440" bIns="45720" rtlCol="0" anchor="ctr"/>
          <a:lstStyle>
            <a:lvl1pPr algn="r">
              <a:defRPr sz="900">
                <a:solidFill>
                  <a:schemeClr val="tx1">
                    <a:tint val="75000"/>
                  </a:schemeClr>
                </a:solidFill>
              </a:defRPr>
            </a:lvl1pPr>
          </a:lstStyle>
          <a:p>
            <a:fld id="{0806877C-565E-4484-9C6B-4F48F7164138}" type="slidenum">
              <a:rPr lang="en-IN"/>
              <a:t>‹#›</a:t>
            </a:fld>
            <a:endParaRPr lang="en-IN"/>
          </a:p>
        </p:txBody>
      </p:sp>
    </p:spTree>
    <p:extLst>
      <p:ext uri="{BB962C8B-B14F-4D97-AF65-F5344CB8AC3E}">
        <p14:creationId xmlns:p14="http://schemas.microsoft.com/office/powerpoint/2010/main" val="3211628292"/>
      </p:ext>
    </p:extLst>
  </p:cSld>
  <p:clrMap bg1="lt1" tx1="dk1" bg2="lt2" tx2="dk2" accent1="accent1" accent2="accent2" accent3="accent3" accent4="accent4" accent5="accent5" accent6="accent6" hlink="hlink" folHlink="folHlink"/>
  <p:sldLayoutIdLst>
    <p:sldLayoutId id="2147483653" r:id="rId1"/>
    <p:sldLayoutId id="2147483655" r:id="rId2"/>
  </p:sldLayoutIdLst>
  <p:hf hdr="0" ftr="0" dt="0"/>
  <p:txStyles>
    <p:titleStyle>
      <a:lvl1pPr algn="l" defTabSz="9144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914400" rtl="0" eaLnBrk="1" latinLnBrk="0" hangingPunct="1">
        <a:defRPr sz="1350" kern="1200">
          <a:solidFill>
            <a:schemeClr val="tx1"/>
          </a:solidFill>
          <a:latin typeface="+mn-lt"/>
          <a:ea typeface="+mn-ea"/>
          <a:cs typeface="+mn-cs"/>
        </a:defRPr>
      </a:lvl1pPr>
      <a:lvl2pPr marL="457200" algn="l" defTabSz="914400" rtl="0" eaLnBrk="1" latinLnBrk="0" hangingPunct="1">
        <a:defRPr sz="1350" kern="1200">
          <a:solidFill>
            <a:schemeClr val="tx1"/>
          </a:solidFill>
          <a:latin typeface="+mn-lt"/>
          <a:ea typeface="+mn-ea"/>
          <a:cs typeface="+mn-cs"/>
        </a:defRPr>
      </a:lvl2pPr>
      <a:lvl3pPr marL="914400" algn="l" defTabSz="914400" rtl="0" eaLnBrk="1" latinLnBrk="0" hangingPunct="1">
        <a:defRPr sz="1350" kern="1200">
          <a:solidFill>
            <a:schemeClr val="tx1"/>
          </a:solidFill>
          <a:latin typeface="+mn-lt"/>
          <a:ea typeface="+mn-ea"/>
          <a:cs typeface="+mn-cs"/>
        </a:defRPr>
      </a:lvl3pPr>
      <a:lvl4pPr marL="1371600" algn="l" defTabSz="914400" rtl="0" eaLnBrk="1" latinLnBrk="0" hangingPunct="1">
        <a:defRPr sz="1350" kern="1200">
          <a:solidFill>
            <a:schemeClr val="tx1"/>
          </a:solidFill>
          <a:latin typeface="+mn-lt"/>
          <a:ea typeface="+mn-ea"/>
          <a:cs typeface="+mn-cs"/>
        </a:defRPr>
      </a:lvl4pPr>
      <a:lvl5pPr marL="1828800" algn="l" defTabSz="914400" rtl="0" eaLnBrk="1" latinLnBrk="0" hangingPunct="1">
        <a:defRPr sz="1350" kern="1200">
          <a:solidFill>
            <a:schemeClr val="tx1"/>
          </a:solidFill>
          <a:latin typeface="+mn-lt"/>
          <a:ea typeface="+mn-ea"/>
          <a:cs typeface="+mn-cs"/>
        </a:defRPr>
      </a:lvl5pPr>
      <a:lvl6pPr marL="2286000" algn="l" defTabSz="914400" rtl="0" eaLnBrk="1" latinLnBrk="0" hangingPunct="1">
        <a:defRPr sz="1350" kern="1200">
          <a:solidFill>
            <a:schemeClr val="tx1"/>
          </a:solidFill>
          <a:latin typeface="+mn-lt"/>
          <a:ea typeface="+mn-ea"/>
          <a:cs typeface="+mn-cs"/>
        </a:defRPr>
      </a:lvl6pPr>
      <a:lvl7pPr marL="2743200" algn="l" defTabSz="914400" rtl="0" eaLnBrk="1" latinLnBrk="0" hangingPunct="1">
        <a:defRPr sz="1350" kern="1200">
          <a:solidFill>
            <a:schemeClr val="tx1"/>
          </a:solidFill>
          <a:latin typeface="+mn-lt"/>
          <a:ea typeface="+mn-ea"/>
          <a:cs typeface="+mn-cs"/>
        </a:defRPr>
      </a:lvl7pPr>
      <a:lvl8pPr marL="3200400" algn="l" defTabSz="914400" rtl="0" eaLnBrk="1" latinLnBrk="0" hangingPunct="1">
        <a:defRPr sz="1350" kern="1200">
          <a:solidFill>
            <a:schemeClr val="tx1"/>
          </a:solidFill>
          <a:latin typeface="+mn-lt"/>
          <a:ea typeface="+mn-ea"/>
          <a:cs typeface="+mn-cs"/>
        </a:defRPr>
      </a:lvl8pPr>
      <a:lvl9pPr marL="3657600" algn="l" defTabSz="9144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1BE6FE-3AE9-9F9F-3CB2-E8D5C95B8A32}"/>
              </a:ext>
            </a:extLst>
          </p:cNvPr>
          <p:cNvSpPr>
            <a:spLocks noGrp="1"/>
          </p:cNvSpPr>
          <p:nvPr>
            <p:ph type="title"/>
          </p:nvPr>
        </p:nvSpPr>
        <p:spPr>
          <a:xfrm>
            <a:off x="628650" y="273843"/>
            <a:ext cx="7886700" cy="994172"/>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BDFD759-6401-0974-9188-B8219012817B}"/>
              </a:ext>
            </a:extLst>
          </p:cNvPr>
          <p:cNvSpPr>
            <a:spLocks noGrp="1"/>
          </p:cNvSpPr>
          <p:nvPr>
            <p:ph type="body" idx="1"/>
          </p:nvPr>
        </p:nvSpPr>
        <p:spPr>
          <a:xfrm>
            <a:off x="628650" y="1369218"/>
            <a:ext cx="7886700" cy="326350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DB3D89-153B-3B2C-AC5B-04FF3C7E564E}"/>
              </a:ext>
            </a:extLst>
          </p:cNvPr>
          <p:cNvSpPr>
            <a:spLocks noGrp="1"/>
          </p:cNvSpPr>
          <p:nvPr>
            <p:ph type="dt" sz="half" idx="2"/>
          </p:nvPr>
        </p:nvSpPr>
        <p:spPr>
          <a:xfrm>
            <a:off x="628650" y="4767262"/>
            <a:ext cx="2057400" cy="273843"/>
          </a:xfrm>
          <a:prstGeom prst="rect">
            <a:avLst/>
          </a:prstGeom>
        </p:spPr>
        <p:txBody>
          <a:bodyPr vert="horz" lIns="91440" tIns="45720" rIns="91440" bIns="45720" rtlCol="0" anchor="ctr"/>
          <a:lstStyle>
            <a:lvl1pPr algn="l">
              <a:defRPr sz="900">
                <a:solidFill>
                  <a:schemeClr val="tx1">
                    <a:tint val="75000"/>
                  </a:schemeClr>
                </a:solidFill>
              </a:defRPr>
            </a:lvl1pPr>
          </a:lstStyle>
          <a:p>
            <a:fld id="{A8D3E49F-88FA-4FD3-870B-6E82EB6746BC}" type="datetime1">
              <a:rPr lang="en-US" smtClean="0"/>
              <a:t>10/2/2026</a:t>
            </a:fld>
            <a:endParaRPr lang="en-US"/>
          </a:p>
        </p:txBody>
      </p:sp>
      <p:sp>
        <p:nvSpPr>
          <p:cNvPr id="5" name="Footer Placeholder 4">
            <a:extLst>
              <a:ext uri="{FF2B5EF4-FFF2-40B4-BE49-F238E27FC236}">
                <a16:creationId xmlns:a16="http://schemas.microsoft.com/office/drawing/2014/main" id="{92484415-E515-9C24-AE7D-A72568AB19FB}"/>
              </a:ext>
            </a:extLst>
          </p:cNvPr>
          <p:cNvSpPr>
            <a:spLocks noGrp="1"/>
          </p:cNvSpPr>
          <p:nvPr>
            <p:ph type="ftr" sz="quarter" idx="3"/>
          </p:nvPr>
        </p:nvSpPr>
        <p:spPr>
          <a:xfrm>
            <a:off x="3028950" y="4767262"/>
            <a:ext cx="3086100" cy="27384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32384C-2406-EF97-DC22-F23463C07282}"/>
              </a:ext>
            </a:extLst>
          </p:cNvPr>
          <p:cNvSpPr>
            <a:spLocks noGrp="1"/>
          </p:cNvSpPr>
          <p:nvPr>
            <p:ph type="sldNum" sz="quarter" idx="4"/>
          </p:nvPr>
        </p:nvSpPr>
        <p:spPr>
          <a:xfrm>
            <a:off x="6457950" y="4767262"/>
            <a:ext cx="2057400" cy="273843"/>
          </a:xfrm>
          <a:prstGeom prst="rect">
            <a:avLst/>
          </a:prstGeom>
        </p:spPr>
        <p:txBody>
          <a:bodyPr vert="horz" lIns="91440" tIns="45720" rIns="91440" bIns="45720" rtlCol="0" anchor="ctr"/>
          <a:lstStyle>
            <a:lvl1pPr algn="r">
              <a:defRPr sz="900">
                <a:solidFill>
                  <a:schemeClr val="tx1">
                    <a:tint val="75000"/>
                  </a:schemeClr>
                </a:solidFill>
              </a:defRPr>
            </a:lvl1pPr>
          </a:lstStyle>
          <a:p>
            <a:fld id="{85350DE5-420E-214B-AB92-106DDAFF6172}" type="slidenum">
              <a:rPr lang="en-US"/>
              <a:t>‹#›</a:t>
            </a:fld>
            <a:endParaRPr lang="en-US"/>
          </a:p>
        </p:txBody>
      </p:sp>
    </p:spTree>
    <p:extLst>
      <p:ext uri="{BB962C8B-B14F-4D97-AF65-F5344CB8AC3E}">
        <p14:creationId xmlns:p14="http://schemas.microsoft.com/office/powerpoint/2010/main" val="1061373861"/>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72" r:id="rId3"/>
  </p:sldLayoutIdLst>
  <p:hf hdr="0" ftr="0" dt="0"/>
  <p:txStyles>
    <p:titleStyle>
      <a:lvl1pPr algn="l" defTabSz="9144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914400" rtl="0" eaLnBrk="1" latinLnBrk="0" hangingPunct="1">
        <a:defRPr sz="1350" kern="1200">
          <a:solidFill>
            <a:schemeClr val="tx1"/>
          </a:solidFill>
          <a:latin typeface="+mn-lt"/>
          <a:ea typeface="+mn-ea"/>
          <a:cs typeface="+mn-cs"/>
        </a:defRPr>
      </a:lvl1pPr>
      <a:lvl2pPr marL="457200" algn="l" defTabSz="914400" rtl="0" eaLnBrk="1" latinLnBrk="0" hangingPunct="1">
        <a:defRPr sz="1350" kern="1200">
          <a:solidFill>
            <a:schemeClr val="tx1"/>
          </a:solidFill>
          <a:latin typeface="+mn-lt"/>
          <a:ea typeface="+mn-ea"/>
          <a:cs typeface="+mn-cs"/>
        </a:defRPr>
      </a:lvl2pPr>
      <a:lvl3pPr marL="914400" algn="l" defTabSz="914400" rtl="0" eaLnBrk="1" latinLnBrk="0" hangingPunct="1">
        <a:defRPr sz="1350" kern="1200">
          <a:solidFill>
            <a:schemeClr val="tx1"/>
          </a:solidFill>
          <a:latin typeface="+mn-lt"/>
          <a:ea typeface="+mn-ea"/>
          <a:cs typeface="+mn-cs"/>
        </a:defRPr>
      </a:lvl3pPr>
      <a:lvl4pPr marL="1371600" algn="l" defTabSz="914400" rtl="0" eaLnBrk="1" latinLnBrk="0" hangingPunct="1">
        <a:defRPr sz="1350" kern="1200">
          <a:solidFill>
            <a:schemeClr val="tx1"/>
          </a:solidFill>
          <a:latin typeface="+mn-lt"/>
          <a:ea typeface="+mn-ea"/>
          <a:cs typeface="+mn-cs"/>
        </a:defRPr>
      </a:lvl4pPr>
      <a:lvl5pPr marL="1828800" algn="l" defTabSz="914400" rtl="0" eaLnBrk="1" latinLnBrk="0" hangingPunct="1">
        <a:defRPr sz="1350" kern="1200">
          <a:solidFill>
            <a:schemeClr val="tx1"/>
          </a:solidFill>
          <a:latin typeface="+mn-lt"/>
          <a:ea typeface="+mn-ea"/>
          <a:cs typeface="+mn-cs"/>
        </a:defRPr>
      </a:lvl5pPr>
      <a:lvl6pPr marL="2286000" algn="l" defTabSz="914400" rtl="0" eaLnBrk="1" latinLnBrk="0" hangingPunct="1">
        <a:defRPr sz="1350" kern="1200">
          <a:solidFill>
            <a:schemeClr val="tx1"/>
          </a:solidFill>
          <a:latin typeface="+mn-lt"/>
          <a:ea typeface="+mn-ea"/>
          <a:cs typeface="+mn-cs"/>
        </a:defRPr>
      </a:lvl6pPr>
      <a:lvl7pPr marL="2743200" algn="l" defTabSz="914400" rtl="0" eaLnBrk="1" latinLnBrk="0" hangingPunct="1">
        <a:defRPr sz="1350" kern="1200">
          <a:solidFill>
            <a:schemeClr val="tx1"/>
          </a:solidFill>
          <a:latin typeface="+mn-lt"/>
          <a:ea typeface="+mn-ea"/>
          <a:cs typeface="+mn-cs"/>
        </a:defRPr>
      </a:lvl7pPr>
      <a:lvl8pPr marL="3200400" algn="l" defTabSz="914400" rtl="0" eaLnBrk="1" latinLnBrk="0" hangingPunct="1">
        <a:defRPr sz="1350" kern="1200">
          <a:solidFill>
            <a:schemeClr val="tx1"/>
          </a:solidFill>
          <a:latin typeface="+mn-lt"/>
          <a:ea typeface="+mn-ea"/>
          <a:cs typeface="+mn-cs"/>
        </a:defRPr>
      </a:lvl8pPr>
      <a:lvl9pPr marL="3657600" algn="l" defTabSz="9144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05978"/>
            <a:ext cx="61722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200150"/>
            <a:ext cx="61722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4767262"/>
            <a:ext cx="1600200" cy="273843"/>
          </a:xfrm>
          <a:prstGeom prst="rect">
            <a:avLst/>
          </a:prstGeom>
        </p:spPr>
        <p:txBody>
          <a:bodyPr vert="horz" lIns="91440" tIns="45720" rIns="91440" bIns="45720" rtlCol="0" anchor="ctr"/>
          <a:lstStyle>
            <a:lvl1pPr algn="l">
              <a:defRPr sz="900">
                <a:solidFill>
                  <a:schemeClr val="tx1">
                    <a:tint val="75000"/>
                  </a:schemeClr>
                </a:solidFill>
              </a:defRPr>
            </a:lvl1pPr>
          </a:lstStyle>
          <a:p>
            <a:fld id="{DBEB8FFE-9494-4CD7-8EF2-D0F3C6CA0F5F}" type="datetime1">
              <a:rPr lang="en-US" smtClean="0"/>
              <a:t>10/2/2026</a:t>
            </a:fld>
            <a:endParaRPr lang="en-US"/>
          </a:p>
        </p:txBody>
      </p:sp>
      <p:sp>
        <p:nvSpPr>
          <p:cNvPr id="5" name="Footer Placeholder 4"/>
          <p:cNvSpPr>
            <a:spLocks noGrp="1"/>
          </p:cNvSpPr>
          <p:nvPr>
            <p:ph type="ftr" sz="quarter" idx="3"/>
          </p:nvPr>
        </p:nvSpPr>
        <p:spPr>
          <a:xfrm>
            <a:off x="2343150" y="4767262"/>
            <a:ext cx="2171700" cy="27384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4767262"/>
            <a:ext cx="1600200" cy="273843"/>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Lst>
  <p:hf hdr="0" ftr="0" dt="0"/>
  <p:txStyles>
    <p:titleStyle>
      <a:lvl1pPr algn="ctr" defTabSz="4572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5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5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5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5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5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350" kern="1200">
          <a:solidFill>
            <a:schemeClr val="tx1"/>
          </a:solidFill>
          <a:latin typeface="+mn-lt"/>
          <a:ea typeface="+mn-ea"/>
          <a:cs typeface="+mn-cs"/>
        </a:defRPr>
      </a:lvl2pPr>
      <a:lvl3pPr marL="914400" algn="l" defTabSz="457200" rtl="0" eaLnBrk="1" latinLnBrk="0" hangingPunct="1">
        <a:defRPr sz="1350" kern="1200">
          <a:solidFill>
            <a:schemeClr val="tx1"/>
          </a:solidFill>
          <a:latin typeface="+mn-lt"/>
          <a:ea typeface="+mn-ea"/>
          <a:cs typeface="+mn-cs"/>
        </a:defRPr>
      </a:lvl3pPr>
      <a:lvl4pPr marL="1371600" algn="l" defTabSz="457200" rtl="0" eaLnBrk="1" latinLnBrk="0" hangingPunct="1">
        <a:defRPr sz="13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350" kern="1200">
          <a:solidFill>
            <a:schemeClr val="tx1"/>
          </a:solidFill>
          <a:latin typeface="+mn-lt"/>
          <a:ea typeface="+mn-ea"/>
          <a:cs typeface="+mn-cs"/>
        </a:defRPr>
      </a:lvl6pPr>
      <a:lvl7pPr marL="2743200" algn="l" defTabSz="457200" rtl="0" eaLnBrk="1" latinLnBrk="0" hangingPunct="1">
        <a:defRPr sz="1350" kern="1200">
          <a:solidFill>
            <a:schemeClr val="tx1"/>
          </a:solidFill>
          <a:latin typeface="+mn-lt"/>
          <a:ea typeface="+mn-ea"/>
          <a:cs typeface="+mn-cs"/>
        </a:defRPr>
      </a:lvl7pPr>
      <a:lvl8pPr marL="3200400" algn="l" defTabSz="457200" rtl="0" eaLnBrk="1" latinLnBrk="0" hangingPunct="1">
        <a:defRPr sz="1350" kern="1200">
          <a:solidFill>
            <a:schemeClr val="tx1"/>
          </a:solidFill>
          <a:latin typeface="+mn-lt"/>
          <a:ea typeface="+mn-ea"/>
          <a:cs typeface="+mn-cs"/>
        </a:defRPr>
      </a:lvl8pPr>
      <a:lvl9pPr marL="3657600" algn="l" defTabSz="4572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BFF0F-1BB4-A6FF-6BFF-955461983B10}"/>
              </a:ext>
            </a:extLst>
          </p:cNvPr>
          <p:cNvSpPr>
            <a:spLocks noGrp="1"/>
          </p:cNvSpPr>
          <p:nvPr>
            <p:ph type="title"/>
          </p:nvPr>
        </p:nvSpPr>
        <p:spPr>
          <a:xfrm>
            <a:off x="628650" y="273843"/>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D6A701-2035-364F-2277-BEF4E6761D1E}"/>
              </a:ext>
            </a:extLst>
          </p:cNvPr>
          <p:cNvSpPr>
            <a:spLocks noGrp="1"/>
          </p:cNvSpPr>
          <p:nvPr>
            <p:ph type="body" idx="1"/>
          </p:nvPr>
        </p:nvSpPr>
        <p:spPr>
          <a:xfrm>
            <a:off x="628650" y="1369218"/>
            <a:ext cx="7886700" cy="3263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C9DAA6-5DD4-3FF4-0A4B-12183B477B32}"/>
              </a:ext>
            </a:extLst>
          </p:cNvPr>
          <p:cNvSpPr>
            <a:spLocks noGrp="1"/>
          </p:cNvSpPr>
          <p:nvPr>
            <p:ph type="dt" sz="half" idx="2"/>
          </p:nvPr>
        </p:nvSpPr>
        <p:spPr>
          <a:xfrm>
            <a:off x="628650" y="4767262"/>
            <a:ext cx="2057400" cy="273843"/>
          </a:xfrm>
          <a:prstGeom prst="rect">
            <a:avLst/>
          </a:prstGeom>
        </p:spPr>
        <p:txBody>
          <a:bodyPr vert="horz" lIns="91440" tIns="45720" rIns="91440" bIns="45720" rtlCol="0" anchor="ctr"/>
          <a:lstStyle>
            <a:lvl1pPr algn="l">
              <a:defRPr sz="900">
                <a:solidFill>
                  <a:schemeClr val="tx1">
                    <a:tint val="82000"/>
                  </a:schemeClr>
                </a:solidFill>
              </a:defRPr>
            </a:lvl1pPr>
          </a:lstStyle>
          <a:p>
            <a:fld id="{0B895283-00D6-4290-9DFE-0016E0810FE2}" type="datetime1">
              <a:rPr lang="en-US" smtClean="0"/>
              <a:t>10/2/2026</a:t>
            </a:fld>
            <a:endParaRPr lang="en-IN"/>
          </a:p>
        </p:txBody>
      </p:sp>
      <p:sp>
        <p:nvSpPr>
          <p:cNvPr id="5" name="Footer Placeholder 4">
            <a:extLst>
              <a:ext uri="{FF2B5EF4-FFF2-40B4-BE49-F238E27FC236}">
                <a16:creationId xmlns:a16="http://schemas.microsoft.com/office/drawing/2014/main" id="{2C24946B-0D0E-A3B9-FAFC-8514E4BEBBAB}"/>
              </a:ext>
            </a:extLst>
          </p:cNvPr>
          <p:cNvSpPr>
            <a:spLocks noGrp="1"/>
          </p:cNvSpPr>
          <p:nvPr>
            <p:ph type="ftr" sz="quarter" idx="3"/>
          </p:nvPr>
        </p:nvSpPr>
        <p:spPr>
          <a:xfrm>
            <a:off x="3028950" y="4767262"/>
            <a:ext cx="3086100" cy="27384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42DB471-AB7E-474A-F3B6-ADA4C1B3E34E}"/>
              </a:ext>
            </a:extLst>
          </p:cNvPr>
          <p:cNvSpPr>
            <a:spLocks noGrp="1"/>
          </p:cNvSpPr>
          <p:nvPr>
            <p:ph type="sldNum" sz="quarter" idx="4"/>
          </p:nvPr>
        </p:nvSpPr>
        <p:spPr>
          <a:xfrm>
            <a:off x="6457950" y="4767262"/>
            <a:ext cx="2057400" cy="273843"/>
          </a:xfrm>
          <a:prstGeom prst="rect">
            <a:avLst/>
          </a:prstGeom>
        </p:spPr>
        <p:txBody>
          <a:bodyPr vert="horz" lIns="91440" tIns="45720" rIns="91440" bIns="45720" rtlCol="0" anchor="ctr"/>
          <a:lstStyle>
            <a:lvl1pPr algn="r">
              <a:defRPr sz="900">
                <a:solidFill>
                  <a:schemeClr val="tx1">
                    <a:tint val="82000"/>
                  </a:schemeClr>
                </a:solidFill>
              </a:defRPr>
            </a:lvl1pPr>
          </a:lstStyle>
          <a:p>
            <a:fld id="{140C3D1F-4BB2-4A84-9E53-FCEEA8FBCCD1}" type="slidenum">
              <a:rPr lang="en-IN"/>
              <a:t>‹#›</a:t>
            </a:fld>
            <a:endParaRPr lang="en-IN"/>
          </a:p>
        </p:txBody>
      </p:sp>
    </p:spTree>
    <p:extLst>
      <p:ext uri="{BB962C8B-B14F-4D97-AF65-F5344CB8AC3E}">
        <p14:creationId xmlns:p14="http://schemas.microsoft.com/office/powerpoint/2010/main" val="2641043666"/>
      </p:ext>
    </p:extLst>
  </p:cSld>
  <p:clrMap bg1="lt1" tx1="dk1" bg2="lt2" tx2="dk2" accent1="accent1" accent2="accent2" accent3="accent3" accent4="accent4" accent5="accent5" accent6="accent6" hlink="hlink" folHlink="folHlink"/>
  <p:sldLayoutIdLst>
    <p:sldLayoutId id="2147483690" r:id="rId1"/>
  </p:sldLayoutIdLst>
  <p:hf hdr="0" ftr="0" dt="0"/>
  <p:txStyles>
    <p:titleStyle>
      <a:lvl1pPr algn="l" defTabSz="9144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914400" rtl="0" eaLnBrk="1" latinLnBrk="0" hangingPunct="1">
        <a:defRPr sz="1350" kern="1200">
          <a:solidFill>
            <a:schemeClr val="tx1"/>
          </a:solidFill>
          <a:latin typeface="+mn-lt"/>
          <a:ea typeface="+mn-ea"/>
          <a:cs typeface="+mn-cs"/>
        </a:defRPr>
      </a:lvl1pPr>
      <a:lvl2pPr marL="457200" algn="l" defTabSz="914400" rtl="0" eaLnBrk="1" latinLnBrk="0" hangingPunct="1">
        <a:defRPr sz="1350" kern="1200">
          <a:solidFill>
            <a:schemeClr val="tx1"/>
          </a:solidFill>
          <a:latin typeface="+mn-lt"/>
          <a:ea typeface="+mn-ea"/>
          <a:cs typeface="+mn-cs"/>
        </a:defRPr>
      </a:lvl2pPr>
      <a:lvl3pPr marL="914400" algn="l" defTabSz="914400" rtl="0" eaLnBrk="1" latinLnBrk="0" hangingPunct="1">
        <a:defRPr sz="1350" kern="1200">
          <a:solidFill>
            <a:schemeClr val="tx1"/>
          </a:solidFill>
          <a:latin typeface="+mn-lt"/>
          <a:ea typeface="+mn-ea"/>
          <a:cs typeface="+mn-cs"/>
        </a:defRPr>
      </a:lvl3pPr>
      <a:lvl4pPr marL="1371600" algn="l" defTabSz="914400" rtl="0" eaLnBrk="1" latinLnBrk="0" hangingPunct="1">
        <a:defRPr sz="1350" kern="1200">
          <a:solidFill>
            <a:schemeClr val="tx1"/>
          </a:solidFill>
          <a:latin typeface="+mn-lt"/>
          <a:ea typeface="+mn-ea"/>
          <a:cs typeface="+mn-cs"/>
        </a:defRPr>
      </a:lvl4pPr>
      <a:lvl5pPr marL="1828800" algn="l" defTabSz="914400" rtl="0" eaLnBrk="1" latinLnBrk="0" hangingPunct="1">
        <a:defRPr sz="1350" kern="1200">
          <a:solidFill>
            <a:schemeClr val="tx1"/>
          </a:solidFill>
          <a:latin typeface="+mn-lt"/>
          <a:ea typeface="+mn-ea"/>
          <a:cs typeface="+mn-cs"/>
        </a:defRPr>
      </a:lvl5pPr>
      <a:lvl6pPr marL="2286000" algn="l" defTabSz="914400" rtl="0" eaLnBrk="1" latinLnBrk="0" hangingPunct="1">
        <a:defRPr sz="1350" kern="1200">
          <a:solidFill>
            <a:schemeClr val="tx1"/>
          </a:solidFill>
          <a:latin typeface="+mn-lt"/>
          <a:ea typeface="+mn-ea"/>
          <a:cs typeface="+mn-cs"/>
        </a:defRPr>
      </a:lvl6pPr>
      <a:lvl7pPr marL="2743200" algn="l" defTabSz="914400" rtl="0" eaLnBrk="1" latinLnBrk="0" hangingPunct="1">
        <a:defRPr sz="1350" kern="1200">
          <a:solidFill>
            <a:schemeClr val="tx1"/>
          </a:solidFill>
          <a:latin typeface="+mn-lt"/>
          <a:ea typeface="+mn-ea"/>
          <a:cs typeface="+mn-cs"/>
        </a:defRPr>
      </a:lvl7pPr>
      <a:lvl8pPr marL="3200400" algn="l" defTabSz="914400" rtl="0" eaLnBrk="1" latinLnBrk="0" hangingPunct="1">
        <a:defRPr sz="1350" kern="1200">
          <a:solidFill>
            <a:schemeClr val="tx1"/>
          </a:solidFill>
          <a:latin typeface="+mn-lt"/>
          <a:ea typeface="+mn-ea"/>
          <a:cs typeface="+mn-cs"/>
        </a:defRPr>
      </a:lvl8pPr>
      <a:lvl9pPr marL="3657600" algn="l" defTabSz="9144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AC252A8-ABF4-56DF-4427-ABAC67049E39}"/>
              </a:ext>
            </a:extLst>
          </p:cNvPr>
          <p:cNvPicPr>
            <a:picLocks noChangeAspect="1"/>
          </p:cNvPicPr>
          <p:nvPr/>
        </p:nvPicPr>
        <p:blipFill>
          <a:blip r:embed="rId2"/>
          <a:srcRect l="3001" r="3001"/>
          <a:stretch/>
        </p:blipFill>
        <p:spPr>
          <a:xfrm>
            <a:off x="0" y="7"/>
            <a:ext cx="6930555" cy="5143492"/>
          </a:xfrm>
          <a:prstGeom prst="rect">
            <a:avLst/>
          </a:prstGeom>
        </p:spPr>
      </p:pic>
      <p:sp>
        <p:nvSpPr>
          <p:cNvPr id="13" name="Rectangle 12">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51435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1884C6-5951-3834-AFA7-549A4ED5BB0B}"/>
              </a:ext>
            </a:extLst>
          </p:cNvPr>
          <p:cNvSpPr>
            <a:spLocks noGrp="1"/>
          </p:cNvSpPr>
          <p:nvPr>
            <p:ph type="ctrTitle"/>
          </p:nvPr>
        </p:nvSpPr>
        <p:spPr>
          <a:xfrm>
            <a:off x="6476187" y="444765"/>
            <a:ext cx="2584323" cy="2769021"/>
          </a:xfrm>
          <a:noFill/>
        </p:spPr>
        <p:txBody>
          <a:bodyPr>
            <a:normAutofit/>
          </a:bodyPr>
          <a:lstStyle/>
          <a:p>
            <a:pPr algn="l"/>
            <a:r>
              <a:rPr lang="en-IN" sz="3900" b="1" dirty="0">
                <a:latin typeface="Times New Roman" panose="02020603050405020304" pitchFamily="18" charset="0"/>
                <a:cs typeface="Times New Roman" panose="02020603050405020304" pitchFamily="18" charset="0"/>
              </a:rPr>
              <a:t>Find Your Dublin</a:t>
            </a:r>
          </a:p>
        </p:txBody>
      </p:sp>
      <p:sp>
        <p:nvSpPr>
          <p:cNvPr id="3" name="Subtitle 2">
            <a:extLst>
              <a:ext uri="{FF2B5EF4-FFF2-40B4-BE49-F238E27FC236}">
                <a16:creationId xmlns:a16="http://schemas.microsoft.com/office/drawing/2014/main" id="{202B0856-748F-F30D-6E88-DA9AD6E65529}"/>
              </a:ext>
            </a:extLst>
          </p:cNvPr>
          <p:cNvSpPr>
            <a:spLocks noGrp="1"/>
          </p:cNvSpPr>
          <p:nvPr>
            <p:ph type="subTitle" idx="1"/>
          </p:nvPr>
        </p:nvSpPr>
        <p:spPr>
          <a:xfrm>
            <a:off x="6516787" y="2793189"/>
            <a:ext cx="2584324" cy="1113989"/>
          </a:xfrm>
          <a:noFill/>
        </p:spPr>
        <p:txBody>
          <a:bodyPr>
            <a:normAutofit/>
          </a:bodyPr>
          <a:lstStyle/>
          <a:p>
            <a:pPr algn="l"/>
            <a:r>
              <a:rPr lang="en-IN" b="1" dirty="0">
                <a:latin typeface="Times New Roman" panose="02020603050405020304" pitchFamily="18" charset="0"/>
                <a:cs typeface="Times New Roman" panose="02020603050405020304" pitchFamily="18" charset="0"/>
              </a:rPr>
              <a:t>Group 1 MSc Team Project</a:t>
            </a:r>
          </a:p>
        </p:txBody>
      </p:sp>
      <p:sp>
        <p:nvSpPr>
          <p:cNvPr id="4" name="Subtitle 2">
            <a:extLst>
              <a:ext uri="{FF2B5EF4-FFF2-40B4-BE49-F238E27FC236}">
                <a16:creationId xmlns:a16="http://schemas.microsoft.com/office/drawing/2014/main" id="{105DC519-DEFB-1968-5695-CBC21940EC8D}"/>
              </a:ext>
            </a:extLst>
          </p:cNvPr>
          <p:cNvSpPr txBox="1">
            <a:spLocks/>
          </p:cNvSpPr>
          <p:nvPr/>
        </p:nvSpPr>
        <p:spPr>
          <a:xfrm>
            <a:off x="2129955" y="3064233"/>
            <a:ext cx="4800600" cy="675363"/>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1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endParaRPr lang="en-IN" b="1" dirty="0"/>
          </a:p>
        </p:txBody>
      </p:sp>
    </p:spTree>
    <p:extLst>
      <p:ext uri="{BB962C8B-B14F-4D97-AF65-F5344CB8AC3E}">
        <p14:creationId xmlns:p14="http://schemas.microsoft.com/office/powerpoint/2010/main" val="1569972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A94146-B460-E5FE-F919-0FD0DB7BC4CA}"/>
              </a:ext>
            </a:extLst>
          </p:cNvPr>
          <p:cNvSpPr txBox="1"/>
          <p:nvPr/>
        </p:nvSpPr>
        <p:spPr>
          <a:xfrm>
            <a:off x="457200" y="1107830"/>
            <a:ext cx="8464062" cy="3693319"/>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1. Make it for everyone, not just international students</a:t>
            </a:r>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(team decision)</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We can open it to anyone moving to or within Dublin. International students stay as one example user, but the system works on preferences, not on who the user is. Nothing in the scoring depends on being a student</a:t>
            </a:r>
            <a:r>
              <a:rPr lang="en-IN" sz="1400" dirty="0"/>
              <a:t>.</a:t>
            </a:r>
          </a:p>
          <a:p>
            <a:endParaRPr lang="en-IN" sz="1400" dirty="0"/>
          </a:p>
          <a:p>
            <a:r>
              <a:rPr lang="en-IN" sz="1400" b="1" dirty="0">
                <a:latin typeface="Times New Roman" panose="02020603050405020304" pitchFamily="18" charset="0"/>
                <a:cs typeface="Times New Roman" panose="02020603050405020304" pitchFamily="18" charset="0"/>
              </a:rPr>
              <a:t>2. System shouldn't always favour one area</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We'll test it with many different preference combinations and check how often each area reaches the top 3. If one area dominates, we'll review the weighting and normalisation. This becomes part of our sensitivity analysis.</a:t>
            </a: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3. </a:t>
            </a:r>
            <a:r>
              <a:rPr lang="en-IN" sz="1400" b="1" dirty="0" err="1">
                <a:latin typeface="Times New Roman" panose="02020603050405020304" pitchFamily="18" charset="0"/>
                <a:cs typeface="Times New Roman" panose="02020603050405020304" pitchFamily="18" charset="0"/>
              </a:rPr>
              <a:t>FastAPI</a:t>
            </a:r>
            <a:r>
              <a:rPr lang="en-IN" sz="1400" b="1" dirty="0">
                <a:latin typeface="Times New Roman" panose="02020603050405020304" pitchFamily="18" charset="0"/>
                <a:cs typeface="Times New Roman" panose="02020603050405020304" pitchFamily="18" charset="0"/>
              </a:rPr>
              <a:t> needs to be replaced</a:t>
            </a:r>
            <a:r>
              <a:rPr lang="en-IN" sz="1400" dirty="0">
                <a:latin typeface="Times New Roman" panose="02020603050405020304" pitchFamily="18" charset="0"/>
                <a:cs typeface="Times New Roman" panose="02020603050405020304" pitchFamily="18" charset="0"/>
              </a:rPr>
              <a:t> </a:t>
            </a:r>
            <a:br>
              <a:rPr lang="en-IN" sz="1400" dirty="0">
                <a:latin typeface="Times New Roman" panose="02020603050405020304" pitchFamily="18" charset="0"/>
                <a:cs typeface="Times New Roman" panose="02020603050405020304" pitchFamily="18" charset="0"/>
              </a:rPr>
            </a:br>
            <a:r>
              <a:rPr lang="en-IN" sz="1400" dirty="0" err="1">
                <a:latin typeface="Times New Roman" panose="02020603050405020304" pitchFamily="18" charset="0"/>
                <a:cs typeface="Times New Roman" panose="02020603050405020304" pitchFamily="18" charset="0"/>
              </a:rPr>
              <a:t>FastAPI</a:t>
            </a:r>
            <a:r>
              <a:rPr lang="en-IN" sz="1400" dirty="0">
                <a:latin typeface="Times New Roman" panose="02020603050405020304" pitchFamily="18" charset="0"/>
                <a:cs typeface="Times New Roman" panose="02020603050405020304" pitchFamily="18" charset="0"/>
              </a:rPr>
              <a:t> is widely used in production and suits our Python data work, if it's about using a more established framework, Django or Flask are Python alternatives; </a:t>
            </a: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4. Use an enterprise database</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PostgreSQL is an enterprise-grade database used by large companies. Neon is just a managed host for it. If needed, the same database can move to an enterprise host such as Azure or AWS without code changes.</a:t>
            </a:r>
          </a:p>
          <a:p>
            <a:endParaRPr lang="en-IN" sz="1200" dirty="0">
              <a:latin typeface="Times New Roman" panose="02020603050405020304" pitchFamily="18" charset="0"/>
              <a:cs typeface="Times New Roman" panose="02020603050405020304" pitchFamily="18" charset="0"/>
            </a:endParaRPr>
          </a:p>
          <a:p>
            <a:endParaRPr lang="en-IN" sz="1200" dirty="0"/>
          </a:p>
        </p:txBody>
      </p:sp>
      <p:sp>
        <p:nvSpPr>
          <p:cNvPr id="4" name="TextBox 3">
            <a:extLst>
              <a:ext uri="{FF2B5EF4-FFF2-40B4-BE49-F238E27FC236}">
                <a16:creationId xmlns:a16="http://schemas.microsoft.com/office/drawing/2014/main" id="{083AADB2-B522-8660-511C-3C01CECEB001}"/>
              </a:ext>
            </a:extLst>
          </p:cNvPr>
          <p:cNvSpPr txBox="1"/>
          <p:nvPr/>
        </p:nvSpPr>
        <p:spPr>
          <a:xfrm>
            <a:off x="457200" y="310662"/>
            <a:ext cx="5111262"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Answering Last week’s Feedback and Questions</a:t>
            </a:r>
          </a:p>
        </p:txBody>
      </p:sp>
    </p:spTree>
    <p:extLst>
      <p:ext uri="{BB962C8B-B14F-4D97-AF65-F5344CB8AC3E}">
        <p14:creationId xmlns:p14="http://schemas.microsoft.com/office/powerpoint/2010/main" val="1241338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24714-F55C-81A1-DA81-838B29F4D694}"/>
              </a:ext>
            </a:extLst>
          </p:cNvPr>
          <p:cNvSpPr>
            <a:spLocks noGrp="1"/>
          </p:cNvSpPr>
          <p:nvPr>
            <p:ph type="title"/>
          </p:nvPr>
        </p:nvSpPr>
        <p:spPr>
          <a:xfrm>
            <a:off x="628650" y="273843"/>
            <a:ext cx="5367704" cy="681588"/>
          </a:xfrm>
        </p:spPr>
        <p:txBody>
          <a:bodyPr>
            <a:normAutofit/>
          </a:bodyPr>
          <a:lstStyle/>
          <a:p>
            <a:r>
              <a:rPr lang="en-IN" sz="2000" b="1" dirty="0">
                <a:latin typeface="Times New Roman" panose="02020603050405020304" pitchFamily="18" charset="0"/>
                <a:cs typeface="Times New Roman" panose="02020603050405020304" pitchFamily="18" charset="0"/>
              </a:rPr>
              <a:t>Requirement Specification</a:t>
            </a:r>
          </a:p>
        </p:txBody>
      </p:sp>
      <p:graphicFrame>
        <p:nvGraphicFramePr>
          <p:cNvPr id="5" name="Content Placeholder 4">
            <a:extLst>
              <a:ext uri="{FF2B5EF4-FFF2-40B4-BE49-F238E27FC236}">
                <a16:creationId xmlns:a16="http://schemas.microsoft.com/office/drawing/2014/main" id="{0AA2A016-532F-60AA-F442-C780BD359310}"/>
              </a:ext>
            </a:extLst>
          </p:cNvPr>
          <p:cNvGraphicFramePr>
            <a:graphicFrameLocks noGrp="1"/>
          </p:cNvGraphicFramePr>
          <p:nvPr>
            <p:ph idx="1"/>
            <p:extLst>
              <p:ext uri="{D42A27DB-BD31-4B8C-83A1-F6EECF244321}">
                <p14:modId xmlns:p14="http://schemas.microsoft.com/office/powerpoint/2010/main" val="1243253592"/>
              </p:ext>
            </p:extLst>
          </p:nvPr>
        </p:nvGraphicFramePr>
        <p:xfrm>
          <a:off x="628650" y="887778"/>
          <a:ext cx="7886700" cy="389128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2326893507"/>
                    </a:ext>
                  </a:extLst>
                </a:gridCol>
                <a:gridCol w="1314450">
                  <a:extLst>
                    <a:ext uri="{9D8B030D-6E8A-4147-A177-3AD203B41FA5}">
                      <a16:colId xmlns:a16="http://schemas.microsoft.com/office/drawing/2014/main" val="2419035016"/>
                    </a:ext>
                  </a:extLst>
                </a:gridCol>
                <a:gridCol w="1314450">
                  <a:extLst>
                    <a:ext uri="{9D8B030D-6E8A-4147-A177-3AD203B41FA5}">
                      <a16:colId xmlns:a16="http://schemas.microsoft.com/office/drawing/2014/main" val="786885088"/>
                    </a:ext>
                  </a:extLst>
                </a:gridCol>
                <a:gridCol w="1314450">
                  <a:extLst>
                    <a:ext uri="{9D8B030D-6E8A-4147-A177-3AD203B41FA5}">
                      <a16:colId xmlns:a16="http://schemas.microsoft.com/office/drawing/2014/main" val="100014148"/>
                    </a:ext>
                  </a:extLst>
                </a:gridCol>
                <a:gridCol w="1314450">
                  <a:extLst>
                    <a:ext uri="{9D8B030D-6E8A-4147-A177-3AD203B41FA5}">
                      <a16:colId xmlns:a16="http://schemas.microsoft.com/office/drawing/2014/main" val="3107486736"/>
                    </a:ext>
                  </a:extLst>
                </a:gridCol>
                <a:gridCol w="1314450">
                  <a:extLst>
                    <a:ext uri="{9D8B030D-6E8A-4147-A177-3AD203B41FA5}">
                      <a16:colId xmlns:a16="http://schemas.microsoft.com/office/drawing/2014/main" val="3520197366"/>
                    </a:ext>
                  </a:extLst>
                </a:gridCol>
              </a:tblGrid>
              <a:tr h="370840">
                <a:tc>
                  <a:txBody>
                    <a:bodyPr/>
                    <a:lstStyle/>
                    <a:p>
                      <a:pPr algn="l" fontAlgn="ctr">
                        <a:buNone/>
                      </a:pPr>
                      <a:r>
                        <a:rPr lang="en-IN" sz="1200" b="1" i="0" u="none" strike="noStrike">
                          <a:solidFill>
                            <a:srgbClr val="000000"/>
                          </a:solidFill>
                          <a:effectLst/>
                          <a:latin typeface="Calibri" panose="020F0502020204030204" pitchFamily="34" charset="0"/>
                        </a:rPr>
                        <a:t>Req ID</a:t>
                      </a:r>
                    </a:p>
                  </a:txBody>
                  <a:tcPr marL="7620" marR="7620" marT="7620" marB="0" anchor="ctr"/>
                </a:tc>
                <a:tc>
                  <a:txBody>
                    <a:bodyPr/>
                    <a:lstStyle/>
                    <a:p>
                      <a:pPr algn="l" fontAlgn="ctr">
                        <a:buNone/>
                      </a:pPr>
                      <a:r>
                        <a:rPr lang="en-IN" sz="1200" b="1" i="0" u="none" strike="noStrike">
                          <a:solidFill>
                            <a:srgbClr val="000000"/>
                          </a:solidFill>
                          <a:effectLst/>
                          <a:latin typeface="Calibri" panose="020F0502020204030204" pitchFamily="34" charset="0"/>
                        </a:rPr>
                        <a:t>Name of Req</a:t>
                      </a:r>
                    </a:p>
                  </a:txBody>
                  <a:tcPr marL="7620" marR="7620" marT="7620" marB="0" anchor="ctr"/>
                </a:tc>
                <a:tc>
                  <a:txBody>
                    <a:bodyPr/>
                    <a:lstStyle/>
                    <a:p>
                      <a:pPr algn="l" fontAlgn="ctr">
                        <a:buNone/>
                      </a:pPr>
                      <a:r>
                        <a:rPr lang="en-IN" sz="1200" b="1" i="0" u="none" strike="noStrike" dirty="0">
                          <a:solidFill>
                            <a:srgbClr val="000000"/>
                          </a:solidFill>
                          <a:effectLst/>
                          <a:latin typeface="Calibri" panose="020F0502020204030204" pitchFamily="34" charset="0"/>
                        </a:rPr>
                        <a:t>Description</a:t>
                      </a:r>
                    </a:p>
                  </a:txBody>
                  <a:tcPr marL="7620" marR="7620" marT="7620" marB="0" anchor="ctr"/>
                </a:tc>
                <a:tc>
                  <a:txBody>
                    <a:bodyPr/>
                    <a:lstStyle/>
                    <a:p>
                      <a:pPr algn="l" fontAlgn="ctr">
                        <a:buNone/>
                      </a:pPr>
                      <a:r>
                        <a:rPr lang="en-IN" sz="1200" b="1" i="0" u="none" strike="noStrike">
                          <a:solidFill>
                            <a:srgbClr val="000000"/>
                          </a:solidFill>
                          <a:effectLst/>
                          <a:latin typeface="Calibri" panose="020F0502020204030204" pitchFamily="34" charset="0"/>
                        </a:rPr>
                        <a:t>Priority</a:t>
                      </a:r>
                    </a:p>
                  </a:txBody>
                  <a:tcPr marL="7620" marR="7620" marT="7620" marB="0" anchor="ctr"/>
                </a:tc>
                <a:tc>
                  <a:txBody>
                    <a:bodyPr/>
                    <a:lstStyle/>
                    <a:p>
                      <a:pPr algn="l" fontAlgn="ctr">
                        <a:buNone/>
                      </a:pPr>
                      <a:r>
                        <a:rPr lang="en-IN" sz="1200" b="1" i="0" u="none" strike="noStrike">
                          <a:solidFill>
                            <a:srgbClr val="000000"/>
                          </a:solidFill>
                          <a:effectLst/>
                          <a:latin typeface="Calibri" panose="020F0502020204030204" pitchFamily="34" charset="0"/>
                        </a:rPr>
                        <a:t>Who uses it?</a:t>
                      </a:r>
                    </a:p>
                  </a:txBody>
                  <a:tcPr marL="7620" marR="7620" marT="7620" marB="0" anchor="ctr"/>
                </a:tc>
                <a:tc>
                  <a:txBody>
                    <a:bodyPr/>
                    <a:lstStyle/>
                    <a:p>
                      <a:pPr algn="l" fontAlgn="ctr">
                        <a:buNone/>
                      </a:pPr>
                      <a:r>
                        <a:rPr lang="en-IN" sz="1200" b="1" i="0" u="none" strike="noStrike">
                          <a:solidFill>
                            <a:srgbClr val="000000"/>
                          </a:solidFill>
                          <a:effectLst/>
                          <a:latin typeface="Calibri" panose="020F0502020204030204" pitchFamily="34" charset="0"/>
                        </a:rPr>
                        <a:t>Release/Week</a:t>
                      </a:r>
                    </a:p>
                  </a:txBody>
                  <a:tcPr marL="7620" marR="7620" marT="7620" marB="0" anchor="ctr"/>
                </a:tc>
                <a:extLst>
                  <a:ext uri="{0D108BD9-81ED-4DB2-BD59-A6C34878D82A}">
                    <a16:rowId xmlns:a16="http://schemas.microsoft.com/office/drawing/2014/main" val="4010366036"/>
                  </a:ext>
                </a:extLst>
              </a:tr>
              <a:tr h="370840">
                <a:tc>
                  <a:txBody>
                    <a:bodyPr/>
                    <a:lstStyle/>
                    <a:p>
                      <a:pPr algn="r" fontAlgn="ctr">
                        <a:buNone/>
                      </a:pPr>
                      <a:r>
                        <a:rPr lang="en-IN" sz="1200" b="0" i="0" u="none" strike="noStrike">
                          <a:solidFill>
                            <a:srgbClr val="000000"/>
                          </a:solidFill>
                          <a:effectLst/>
                          <a:latin typeface="Calibri" panose="020F0502020204030204" pitchFamily="34" charset="0"/>
                        </a:rPr>
                        <a:t>1</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Reccommending Area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Recommend top 3 dublin areas based on user preference</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2121782566"/>
                  </a:ext>
                </a:extLst>
              </a:tr>
              <a:tr h="370840">
                <a:tc>
                  <a:txBody>
                    <a:bodyPr/>
                    <a:lstStyle/>
                    <a:p>
                      <a:pPr algn="r" fontAlgn="ctr">
                        <a:buNone/>
                      </a:pPr>
                      <a:r>
                        <a:rPr lang="en-IN" sz="1200" b="0" i="0" u="none" strike="noStrike">
                          <a:solidFill>
                            <a:srgbClr val="000000"/>
                          </a:solidFill>
                          <a:effectLst/>
                          <a:latin typeface="Calibri" panose="020F0502020204030204" pitchFamily="34" charset="0"/>
                        </a:rPr>
                        <a:t>2</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Explaining the reccommendation</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Explain the shorlist </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3629077016"/>
                  </a:ext>
                </a:extLst>
              </a:tr>
              <a:tr h="370840">
                <a:tc>
                  <a:txBody>
                    <a:bodyPr/>
                    <a:lstStyle/>
                    <a:p>
                      <a:pPr algn="r" fontAlgn="ctr">
                        <a:buNone/>
                      </a:pPr>
                      <a:r>
                        <a:rPr lang="en-IN" sz="1200" b="0" i="0" u="none" strike="noStrike">
                          <a:solidFill>
                            <a:srgbClr val="000000"/>
                          </a:solidFill>
                          <a:effectLst/>
                          <a:latin typeface="Calibri" panose="020F0502020204030204" pitchFamily="34" charset="0"/>
                        </a:rPr>
                        <a:t>3</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Calculate distance of commute </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Calculates distance from university to reccommending area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4058651121"/>
                  </a:ext>
                </a:extLst>
              </a:tr>
              <a:tr h="370840">
                <a:tc>
                  <a:txBody>
                    <a:bodyPr/>
                    <a:lstStyle/>
                    <a:p>
                      <a:pPr algn="r" fontAlgn="ctr">
                        <a:buNone/>
                      </a:pPr>
                      <a:r>
                        <a:rPr lang="en-IN" sz="1200" b="0" i="0" u="none" strike="noStrike">
                          <a:solidFill>
                            <a:srgbClr val="000000"/>
                          </a:solidFill>
                          <a:effectLst/>
                          <a:latin typeface="Calibri" panose="020F0502020204030204" pitchFamily="34" charset="0"/>
                        </a:rPr>
                        <a:t>4</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Find supermarkets in a particular area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Investigate and confirm number of supermarkets in each area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2655059505"/>
                  </a:ext>
                </a:extLst>
              </a:tr>
              <a:tr h="370840">
                <a:tc>
                  <a:txBody>
                    <a:bodyPr/>
                    <a:lstStyle/>
                    <a:p>
                      <a:pPr algn="r" fontAlgn="ctr">
                        <a:buNone/>
                      </a:pPr>
                      <a:r>
                        <a:rPr lang="en-IN" sz="1200" b="0" i="0" u="none" strike="noStrike">
                          <a:solidFill>
                            <a:srgbClr val="000000"/>
                          </a:solidFill>
                          <a:effectLst/>
                          <a:latin typeface="Calibri" panose="020F0502020204030204" pitchFamily="34" charset="0"/>
                        </a:rPr>
                        <a:t>5</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Find parks</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Investigate and confirm number of parks in each area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19155636"/>
                  </a:ext>
                </a:extLst>
              </a:tr>
              <a:tr h="370840">
                <a:tc>
                  <a:txBody>
                    <a:bodyPr/>
                    <a:lstStyle/>
                    <a:p>
                      <a:pPr algn="r" fontAlgn="ctr">
                        <a:buNone/>
                      </a:pPr>
                      <a:r>
                        <a:rPr lang="en-IN" sz="1200" b="0" i="0" u="none" strike="noStrike">
                          <a:solidFill>
                            <a:srgbClr val="000000"/>
                          </a:solidFill>
                          <a:effectLst/>
                          <a:latin typeface="Calibri" panose="020F0502020204030204" pitchFamily="34" charset="0"/>
                        </a:rPr>
                        <a:t>6</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Find gyms</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Investigate and confirm number of gyms in each area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A</a:t>
                      </a:r>
                    </a:p>
                  </a:txBody>
                  <a:tcPr marL="7620" marR="7620" marT="7620" marB="0" anchor="ctr"/>
                </a:tc>
                <a:tc>
                  <a:txBody>
                    <a:bodyPr/>
                    <a:lstStyle/>
                    <a:p>
                      <a:pPr algn="l" fontAlgn="ctr">
                        <a:buNone/>
                      </a:pPr>
                      <a:r>
                        <a:rPr lang="en-IN" sz="1200" b="0" i="0" u="none" strike="noStrike" dirty="0">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200" b="0" i="0" u="none" strike="noStrike" dirty="0">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2794092999"/>
                  </a:ext>
                </a:extLst>
              </a:tr>
            </a:tbl>
          </a:graphicData>
        </a:graphic>
      </p:graphicFrame>
    </p:spTree>
    <p:extLst>
      <p:ext uri="{BB962C8B-B14F-4D97-AF65-F5344CB8AC3E}">
        <p14:creationId xmlns:p14="http://schemas.microsoft.com/office/powerpoint/2010/main" val="318563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3D665AC-70C9-7849-F8FB-E60ADDDAA3AA}"/>
              </a:ext>
            </a:extLst>
          </p:cNvPr>
          <p:cNvGraphicFramePr>
            <a:graphicFrameLocks noGrp="1"/>
          </p:cNvGraphicFramePr>
          <p:nvPr>
            <p:ph idx="1"/>
            <p:extLst>
              <p:ext uri="{D42A27DB-BD31-4B8C-83A1-F6EECF244321}">
                <p14:modId xmlns:p14="http://schemas.microsoft.com/office/powerpoint/2010/main" val="3632419408"/>
              </p:ext>
            </p:extLst>
          </p:nvPr>
        </p:nvGraphicFramePr>
        <p:xfrm>
          <a:off x="1139912" y="236935"/>
          <a:ext cx="6864176" cy="4669629"/>
        </p:xfrm>
        <a:graphic>
          <a:graphicData uri="http://schemas.openxmlformats.org/drawingml/2006/table">
            <a:tbl>
              <a:tblPr firstRow="1" bandRow="1">
                <a:tableStyleId>{5C22544A-7EE6-4342-B048-85BDC9FD1C3A}</a:tableStyleId>
              </a:tblPr>
              <a:tblGrid>
                <a:gridCol w="1144029">
                  <a:extLst>
                    <a:ext uri="{9D8B030D-6E8A-4147-A177-3AD203B41FA5}">
                      <a16:colId xmlns:a16="http://schemas.microsoft.com/office/drawing/2014/main" val="1049213638"/>
                    </a:ext>
                  </a:extLst>
                </a:gridCol>
                <a:gridCol w="1144029">
                  <a:extLst>
                    <a:ext uri="{9D8B030D-6E8A-4147-A177-3AD203B41FA5}">
                      <a16:colId xmlns:a16="http://schemas.microsoft.com/office/drawing/2014/main" val="2475491625"/>
                    </a:ext>
                  </a:extLst>
                </a:gridCol>
                <a:gridCol w="1144335">
                  <a:extLst>
                    <a:ext uri="{9D8B030D-6E8A-4147-A177-3AD203B41FA5}">
                      <a16:colId xmlns:a16="http://schemas.microsoft.com/office/drawing/2014/main" val="1861414847"/>
                    </a:ext>
                  </a:extLst>
                </a:gridCol>
                <a:gridCol w="1143725">
                  <a:extLst>
                    <a:ext uri="{9D8B030D-6E8A-4147-A177-3AD203B41FA5}">
                      <a16:colId xmlns:a16="http://schemas.microsoft.com/office/drawing/2014/main" val="738063612"/>
                    </a:ext>
                  </a:extLst>
                </a:gridCol>
                <a:gridCol w="1144029">
                  <a:extLst>
                    <a:ext uri="{9D8B030D-6E8A-4147-A177-3AD203B41FA5}">
                      <a16:colId xmlns:a16="http://schemas.microsoft.com/office/drawing/2014/main" val="3359277669"/>
                    </a:ext>
                  </a:extLst>
                </a:gridCol>
                <a:gridCol w="1144029">
                  <a:extLst>
                    <a:ext uri="{9D8B030D-6E8A-4147-A177-3AD203B41FA5}">
                      <a16:colId xmlns:a16="http://schemas.microsoft.com/office/drawing/2014/main" val="3730511900"/>
                    </a:ext>
                  </a:extLst>
                </a:gridCol>
              </a:tblGrid>
              <a:tr h="227169">
                <a:tc>
                  <a:txBody>
                    <a:bodyPr/>
                    <a:lstStyle/>
                    <a:p>
                      <a:pPr algn="l" fontAlgn="ctr">
                        <a:buNone/>
                      </a:pPr>
                      <a:r>
                        <a:rPr lang="en-IN" sz="1200" b="1" i="0" u="none" strike="noStrike" dirty="0" err="1">
                          <a:solidFill>
                            <a:srgbClr val="000000"/>
                          </a:solidFill>
                          <a:effectLst/>
                          <a:latin typeface="Calibri" panose="020F0502020204030204" pitchFamily="34" charset="0"/>
                        </a:rPr>
                        <a:t>Req</a:t>
                      </a:r>
                      <a:r>
                        <a:rPr lang="en-IN" sz="1200" b="1" i="0" u="none" strike="noStrike" dirty="0">
                          <a:solidFill>
                            <a:srgbClr val="000000"/>
                          </a:solidFill>
                          <a:effectLst/>
                          <a:latin typeface="Calibri" panose="020F0502020204030204" pitchFamily="34" charset="0"/>
                        </a:rPr>
                        <a:t> ID</a:t>
                      </a:r>
                    </a:p>
                  </a:txBody>
                  <a:tcPr marL="7620" marR="7620" marT="7620" marB="0" anchor="ctr"/>
                </a:tc>
                <a:tc>
                  <a:txBody>
                    <a:bodyPr/>
                    <a:lstStyle/>
                    <a:p>
                      <a:pPr algn="l" fontAlgn="ctr">
                        <a:buNone/>
                      </a:pPr>
                      <a:r>
                        <a:rPr lang="en-IN" sz="1200" b="1" i="0" u="none" strike="noStrike">
                          <a:solidFill>
                            <a:srgbClr val="000000"/>
                          </a:solidFill>
                          <a:effectLst/>
                          <a:latin typeface="Calibri" panose="020F0502020204030204" pitchFamily="34" charset="0"/>
                        </a:rPr>
                        <a:t>Name of Req</a:t>
                      </a:r>
                    </a:p>
                  </a:txBody>
                  <a:tcPr marL="7620" marR="7620" marT="7620" marB="0" anchor="ctr"/>
                </a:tc>
                <a:tc>
                  <a:txBody>
                    <a:bodyPr/>
                    <a:lstStyle/>
                    <a:p>
                      <a:pPr algn="l" fontAlgn="ctr">
                        <a:buNone/>
                      </a:pPr>
                      <a:r>
                        <a:rPr lang="en-IN" sz="1200" b="1" i="0" u="none" strike="noStrike">
                          <a:solidFill>
                            <a:srgbClr val="000000"/>
                          </a:solidFill>
                          <a:effectLst/>
                          <a:latin typeface="Calibri" panose="020F0502020204030204" pitchFamily="34" charset="0"/>
                        </a:rPr>
                        <a:t>Description</a:t>
                      </a:r>
                    </a:p>
                  </a:txBody>
                  <a:tcPr marL="7620" marR="7620" marT="7620" marB="0" anchor="ctr"/>
                </a:tc>
                <a:tc>
                  <a:txBody>
                    <a:bodyPr/>
                    <a:lstStyle/>
                    <a:p>
                      <a:pPr algn="l" fontAlgn="ctr">
                        <a:buNone/>
                      </a:pPr>
                      <a:r>
                        <a:rPr lang="en-IN" sz="1200" b="1" i="0" u="none" strike="noStrike">
                          <a:solidFill>
                            <a:srgbClr val="000000"/>
                          </a:solidFill>
                          <a:effectLst/>
                          <a:latin typeface="Calibri" panose="020F0502020204030204" pitchFamily="34" charset="0"/>
                        </a:rPr>
                        <a:t>Priority</a:t>
                      </a:r>
                    </a:p>
                  </a:txBody>
                  <a:tcPr marL="7620" marR="7620" marT="7620" marB="0" anchor="ctr"/>
                </a:tc>
                <a:tc>
                  <a:txBody>
                    <a:bodyPr/>
                    <a:lstStyle/>
                    <a:p>
                      <a:pPr algn="l" fontAlgn="ctr">
                        <a:buNone/>
                      </a:pPr>
                      <a:r>
                        <a:rPr lang="en-IN" sz="1200" b="1" i="0" u="none" strike="noStrike">
                          <a:solidFill>
                            <a:srgbClr val="000000"/>
                          </a:solidFill>
                          <a:effectLst/>
                          <a:latin typeface="Calibri" panose="020F0502020204030204" pitchFamily="34" charset="0"/>
                        </a:rPr>
                        <a:t>Who uses it?</a:t>
                      </a:r>
                    </a:p>
                  </a:txBody>
                  <a:tcPr marL="7620" marR="7620" marT="7620" marB="0" anchor="ctr"/>
                </a:tc>
                <a:tc>
                  <a:txBody>
                    <a:bodyPr/>
                    <a:lstStyle/>
                    <a:p>
                      <a:pPr algn="l" fontAlgn="ctr">
                        <a:buNone/>
                      </a:pPr>
                      <a:r>
                        <a:rPr lang="en-IN" sz="1200" b="1" i="0" u="none" strike="noStrike" dirty="0">
                          <a:solidFill>
                            <a:srgbClr val="000000"/>
                          </a:solidFill>
                          <a:effectLst/>
                          <a:latin typeface="Calibri" panose="020F0502020204030204" pitchFamily="34" charset="0"/>
                        </a:rPr>
                        <a:t>Release/Week</a:t>
                      </a:r>
                    </a:p>
                  </a:txBody>
                  <a:tcPr marL="7620" marR="7620" marT="7620" marB="0" anchor="ctr"/>
                </a:tc>
                <a:extLst>
                  <a:ext uri="{0D108BD9-81ED-4DB2-BD59-A6C34878D82A}">
                    <a16:rowId xmlns:a16="http://schemas.microsoft.com/office/drawing/2014/main" val="365175266"/>
                  </a:ext>
                </a:extLst>
              </a:tr>
              <a:tr h="733338">
                <a:tc>
                  <a:txBody>
                    <a:bodyPr/>
                    <a:lstStyle/>
                    <a:p>
                      <a:pPr algn="r" fontAlgn="ctr">
                        <a:buNone/>
                      </a:pPr>
                      <a:r>
                        <a:rPr lang="en-IN" sz="1000" b="0" i="0" u="none" strike="noStrike" dirty="0">
                          <a:solidFill>
                            <a:srgbClr val="000000"/>
                          </a:solidFill>
                          <a:effectLst/>
                          <a:latin typeface="Calibri" panose="020F0502020204030204" pitchFamily="34" charset="0"/>
                        </a:rPr>
                        <a:t>7</a:t>
                      </a:r>
                    </a:p>
                  </a:txBody>
                  <a:tcPr marL="7620" marR="7620" marT="7620" marB="0" anchor="ctr"/>
                </a:tc>
                <a:tc>
                  <a:txBody>
                    <a:bodyPr/>
                    <a:lstStyle/>
                    <a:p>
                      <a:pPr algn="l" fontAlgn="ctr">
                        <a:buNone/>
                      </a:pPr>
                      <a:r>
                        <a:rPr lang="en-IN" sz="1000" b="0" i="0" u="none" strike="noStrike" dirty="0">
                          <a:solidFill>
                            <a:srgbClr val="000000"/>
                          </a:solidFill>
                          <a:effectLst/>
                          <a:latin typeface="Calibri" panose="020F0502020204030204" pitchFamily="34" charset="0"/>
                        </a:rPr>
                        <a:t>Find cafes/restaurants</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Investigate and confirm different types of cafes/restaurants in each area</a:t>
                      </a:r>
                    </a:p>
                  </a:txBody>
                  <a:tcPr marL="7620" marR="7620" marT="7620" marB="0" anchor="ctr"/>
                </a:tc>
                <a:tc>
                  <a:txBody>
                    <a:bodyPr/>
                    <a:lstStyle/>
                    <a:p>
                      <a:pPr algn="l" fontAlgn="ctr">
                        <a:buNone/>
                      </a:pPr>
                      <a:r>
                        <a:rPr lang="en-IN" sz="1000" b="0" i="0" u="none" strike="noStrike" dirty="0">
                          <a:solidFill>
                            <a:srgbClr val="000000"/>
                          </a:solidFill>
                          <a:effectLst/>
                          <a:latin typeface="Calibri" panose="020F0502020204030204" pitchFamily="34" charset="0"/>
                        </a:rPr>
                        <a:t>A</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3421523188"/>
                  </a:ext>
                </a:extLst>
              </a:tr>
              <a:tr h="588123">
                <a:tc>
                  <a:txBody>
                    <a:bodyPr/>
                    <a:lstStyle/>
                    <a:p>
                      <a:pPr algn="r" fontAlgn="ctr">
                        <a:buNone/>
                      </a:pPr>
                      <a:r>
                        <a:rPr lang="en-IN" sz="1000" b="0" i="0" u="none" strike="noStrike">
                          <a:solidFill>
                            <a:srgbClr val="000000"/>
                          </a:solidFill>
                          <a:effectLst/>
                          <a:latin typeface="Calibri" panose="020F0502020204030204" pitchFamily="34" charset="0"/>
                        </a:rPr>
                        <a:t>8</a:t>
                      </a:r>
                    </a:p>
                  </a:txBody>
                  <a:tcPr marL="7620" marR="7620" marT="7620" marB="0" anchor="ctr"/>
                </a:tc>
                <a:tc>
                  <a:txBody>
                    <a:bodyPr/>
                    <a:lstStyle/>
                    <a:p>
                      <a:pPr algn="l" fontAlgn="ctr">
                        <a:buNone/>
                      </a:pPr>
                      <a:r>
                        <a:rPr lang="en-IN" sz="1000" b="0" i="0" u="none" strike="noStrike" dirty="0">
                          <a:solidFill>
                            <a:srgbClr val="000000"/>
                          </a:solidFill>
                          <a:effectLst/>
                          <a:latin typeface="Calibri" panose="020F0502020204030204" pitchFamily="34" charset="0"/>
                        </a:rPr>
                        <a:t>Find pharmacies and hospitals</a:t>
                      </a:r>
                    </a:p>
                  </a:txBody>
                  <a:tcPr marL="7620" marR="7620" marT="7620" marB="0" anchor="ctr"/>
                </a:tc>
                <a:tc>
                  <a:txBody>
                    <a:bodyPr/>
                    <a:lstStyle/>
                    <a:p>
                      <a:pPr algn="l" fontAlgn="ctr">
                        <a:buNone/>
                      </a:pPr>
                      <a:r>
                        <a:rPr lang="en-IN" sz="1000" b="0" i="0" u="none" strike="noStrike" dirty="0">
                          <a:solidFill>
                            <a:srgbClr val="000000"/>
                          </a:solidFill>
                          <a:effectLst/>
                          <a:latin typeface="Calibri" panose="020F0502020204030204" pitchFamily="34" charset="0"/>
                        </a:rPr>
                        <a:t>Investigate and confirm number of pharmacies and hospitals in each area</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A</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3602994066"/>
                  </a:ext>
                </a:extLst>
              </a:tr>
              <a:tr h="588123">
                <a:tc>
                  <a:txBody>
                    <a:bodyPr/>
                    <a:lstStyle/>
                    <a:p>
                      <a:pPr algn="r" fontAlgn="ctr">
                        <a:buNone/>
                      </a:pPr>
                      <a:r>
                        <a:rPr lang="en-IN" sz="1000" b="0" i="0" u="none" strike="noStrike">
                          <a:solidFill>
                            <a:srgbClr val="000000"/>
                          </a:solidFill>
                          <a:effectLst/>
                          <a:latin typeface="Calibri" panose="020F0502020204030204" pitchFamily="34" charset="0"/>
                        </a:rPr>
                        <a:t>9</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Find shopping malls</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Investigate and confirm number of shopping malls in each area</a:t>
                      </a:r>
                    </a:p>
                  </a:txBody>
                  <a:tcPr marL="7620" marR="7620" marT="7620" marB="0" anchor="ctr"/>
                </a:tc>
                <a:tc>
                  <a:txBody>
                    <a:bodyPr/>
                    <a:lstStyle/>
                    <a:p>
                      <a:pPr algn="l" fontAlgn="ctr">
                        <a:buNone/>
                      </a:pPr>
                      <a:r>
                        <a:rPr lang="en-IN" sz="1000" b="0" i="0" u="none" strike="noStrike" dirty="0">
                          <a:solidFill>
                            <a:srgbClr val="000000"/>
                          </a:solidFill>
                          <a:effectLst/>
                          <a:latin typeface="Calibri" panose="020F0502020204030204" pitchFamily="34" charset="0"/>
                        </a:rPr>
                        <a:t>A</a:t>
                      </a:r>
                    </a:p>
                  </a:txBody>
                  <a:tcPr marL="7620" marR="7620" marT="7620" marB="0" anchor="ctr"/>
                </a:tc>
                <a:tc>
                  <a:txBody>
                    <a:bodyPr/>
                    <a:lstStyle/>
                    <a:p>
                      <a:pPr algn="l" fontAlgn="ctr">
                        <a:buNone/>
                      </a:pPr>
                      <a:r>
                        <a:rPr lang="en-IN" sz="1000" b="0" i="0" u="none" strike="noStrike" dirty="0">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2544172223"/>
                  </a:ext>
                </a:extLst>
              </a:tr>
              <a:tr h="588123">
                <a:tc>
                  <a:txBody>
                    <a:bodyPr/>
                    <a:lstStyle/>
                    <a:p>
                      <a:pPr algn="r" fontAlgn="ctr">
                        <a:buNone/>
                      </a:pPr>
                      <a:r>
                        <a:rPr lang="en-IN" sz="1000" b="0" i="0" u="none" strike="noStrike">
                          <a:solidFill>
                            <a:srgbClr val="000000"/>
                          </a:solidFill>
                          <a:effectLst/>
                          <a:latin typeface="Calibri" panose="020F0502020204030204" pitchFamily="34" charset="0"/>
                        </a:rPr>
                        <a:t>10</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Area demographics</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Display useful Census demographic information about each area</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B</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000" b="0" i="0" u="none" strike="noStrike" dirty="0">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3338584700"/>
                  </a:ext>
                </a:extLst>
              </a:tr>
              <a:tr h="588123">
                <a:tc>
                  <a:txBody>
                    <a:bodyPr/>
                    <a:lstStyle/>
                    <a:p>
                      <a:pPr algn="r" fontAlgn="ctr">
                        <a:buNone/>
                      </a:pPr>
                      <a:r>
                        <a:rPr lang="en-IN" sz="1000" b="0" i="0" u="none" strike="noStrike">
                          <a:solidFill>
                            <a:srgbClr val="000000"/>
                          </a:solidFill>
                          <a:effectLst/>
                          <a:latin typeface="Calibri" panose="020F0502020204030204" pitchFamily="34" charset="0"/>
                        </a:rPr>
                        <a:t>11</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International community</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Show demographic community information from Census data</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B</a:t>
                      </a:r>
                    </a:p>
                  </a:txBody>
                  <a:tcPr marL="7620" marR="7620" marT="7620" marB="0" anchor="ctr"/>
                </a:tc>
                <a:tc>
                  <a:txBody>
                    <a:bodyPr/>
                    <a:lstStyle/>
                    <a:p>
                      <a:pPr algn="l" fontAlgn="ctr">
                        <a:buNone/>
                      </a:pPr>
                      <a:r>
                        <a:rPr lang="en-IN" sz="1000" b="0" i="0" u="none" strike="noStrike" dirty="0">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000" b="0" i="0" u="none" strike="noStrike" dirty="0">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1870514473"/>
                  </a:ext>
                </a:extLst>
              </a:tr>
              <a:tr h="442907">
                <a:tc>
                  <a:txBody>
                    <a:bodyPr/>
                    <a:lstStyle/>
                    <a:p>
                      <a:pPr algn="r" fontAlgn="ctr">
                        <a:buNone/>
                      </a:pPr>
                      <a:r>
                        <a:rPr lang="en-IN" sz="1000" b="0" i="0" u="none" strike="noStrike" dirty="0">
                          <a:solidFill>
                            <a:srgbClr val="000000"/>
                          </a:solidFill>
                          <a:effectLst/>
                          <a:latin typeface="Calibri" panose="020F0502020204030204" pitchFamily="34" charset="0"/>
                        </a:rPr>
                        <a:t>12</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Student feedback</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Allow students to rate/ share info about their area</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B</a:t>
                      </a:r>
                    </a:p>
                  </a:txBody>
                  <a:tcPr marL="7620" marR="7620" marT="7620" marB="0" anchor="ctr"/>
                </a:tc>
                <a:tc>
                  <a:txBody>
                    <a:bodyPr/>
                    <a:lstStyle/>
                    <a:p>
                      <a:pPr algn="l" fontAlgn="ctr">
                        <a:buNone/>
                      </a:pPr>
                      <a:r>
                        <a:rPr lang="en-IN" sz="1000" b="0" i="0" u="none" strike="noStrike">
                          <a:solidFill>
                            <a:srgbClr val="000000"/>
                          </a:solidFill>
                          <a:effectLst/>
                          <a:latin typeface="Calibri" panose="020F0502020204030204" pitchFamily="34" charset="0"/>
                        </a:rPr>
                        <a:t>User</a:t>
                      </a:r>
                    </a:p>
                  </a:txBody>
                  <a:tcPr marL="7620" marR="7620" marT="7620" marB="0" anchor="ctr"/>
                </a:tc>
                <a:tc>
                  <a:txBody>
                    <a:bodyPr/>
                    <a:lstStyle/>
                    <a:p>
                      <a:pPr algn="l" fontAlgn="ctr">
                        <a:buNone/>
                      </a:pPr>
                      <a:r>
                        <a:rPr lang="en-IN" sz="1000" b="0" i="0" u="none" strike="noStrike" dirty="0">
                          <a:solidFill>
                            <a:srgbClr val="000000"/>
                          </a:solidFill>
                          <a:effectLst/>
                          <a:latin typeface="Calibri" panose="020F0502020204030204" pitchFamily="34" charset="0"/>
                        </a:rPr>
                        <a:t> </a:t>
                      </a:r>
                    </a:p>
                  </a:txBody>
                  <a:tcPr marL="7620" marR="7620" marT="7620" marB="0" anchor="ctr"/>
                </a:tc>
                <a:extLst>
                  <a:ext uri="{0D108BD9-81ED-4DB2-BD59-A6C34878D82A}">
                    <a16:rowId xmlns:a16="http://schemas.microsoft.com/office/drawing/2014/main" val="1319705482"/>
                  </a:ext>
                </a:extLst>
              </a:tr>
              <a:tr h="704295">
                <a:tc>
                  <a:txBody>
                    <a:bodyPr/>
                    <a:lstStyle/>
                    <a:p>
                      <a:pPr algn="r" fontAlgn="ctr">
                        <a:buNone/>
                      </a:pPr>
                      <a:r>
                        <a:rPr lang="en-IN" sz="1200" b="0" i="0" u="none" strike="noStrike">
                          <a:solidFill>
                            <a:srgbClr val="000000"/>
                          </a:solidFill>
                          <a:effectLst/>
                          <a:latin typeface="Calibri" panose="020F0502020204030204" pitchFamily="34" charset="0"/>
                        </a:rPr>
                        <a:t>13</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Mobile responsive UI</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Website properly works on phone,tablets,desktop</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A</a:t>
                      </a:r>
                    </a:p>
                  </a:txBody>
                  <a:tcPr marL="7620" marR="7620" marT="7620" marB="0" anchor="ctr"/>
                </a:tc>
                <a:tc>
                  <a:txBody>
                    <a:bodyPr/>
                    <a:lstStyle/>
                    <a:p>
                      <a:pPr algn="l" fontAlgn="ctr">
                        <a:buNone/>
                      </a:pPr>
                      <a:r>
                        <a:rPr lang="en-IN" sz="1200" b="0" i="0" u="none" strike="noStrike">
                          <a:solidFill>
                            <a:srgbClr val="000000"/>
                          </a:solidFill>
                          <a:effectLst/>
                          <a:latin typeface="Calibri" panose="020F0502020204030204" pitchFamily="34" charset="0"/>
                        </a:rPr>
                        <a:t>User</a:t>
                      </a:r>
                    </a:p>
                  </a:txBody>
                  <a:tcPr marL="7620" marR="7620" marT="7620" marB="0" anchor="ctr"/>
                </a:tc>
                <a:tc>
                  <a:txBody>
                    <a:bodyPr/>
                    <a:lstStyle/>
                    <a:p>
                      <a:pPr algn="r" fontAlgn="ctr">
                        <a:buNone/>
                      </a:pPr>
                      <a:endParaRPr lang="en-IN" sz="12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50198222"/>
                  </a:ext>
                </a:extLst>
              </a:tr>
            </a:tbl>
          </a:graphicData>
        </a:graphic>
      </p:graphicFrame>
    </p:spTree>
    <p:extLst>
      <p:ext uri="{BB962C8B-B14F-4D97-AF65-F5344CB8AC3E}">
        <p14:creationId xmlns:p14="http://schemas.microsoft.com/office/powerpoint/2010/main" val="564107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12343B"/>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7863840" cy="10972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Where students live in Dublin</a:t>
            </a:r>
            <a:endParaRPr lang="en-US" sz="4400" dirty="0"/>
          </a:p>
        </p:txBody>
      </p:sp>
      <p:sp>
        <p:nvSpPr>
          <p:cNvPr id="3" name="Text 1"/>
          <p:cNvSpPr txBox="1"/>
          <p:nvPr/>
        </p:nvSpPr>
        <p:spPr>
          <a:xfrm>
            <a:off x="640080" y="2651760"/>
            <a:ext cx="7863840" cy="457200"/>
          </a:xfrm>
          <a:prstGeom prst="rect">
            <a:avLst/>
          </a:prstGeom>
          <a:noFill/>
          <a:ln/>
        </p:spPr>
        <p:txBody>
          <a:bodyPr wrap="square" lIns="0" tIns="0" rIns="0" bIns="0" rtlCol="0" anchor="ctr"/>
          <a:lstStyle/>
          <a:p>
            <a:pPr marL="0" indent="0">
              <a:buNone/>
            </a:pPr>
            <a:r>
              <a:rPr lang="en-US" sz="2000" dirty="0">
                <a:solidFill>
                  <a:srgbClr val="CFE3E8"/>
                </a:solidFill>
                <a:latin typeface="Calibri" pitchFamily="34" charset="0"/>
                <a:ea typeface="Calibri" pitchFamily="34" charset="-122"/>
                <a:cs typeface="Calibri" pitchFamily="34" charset="-120"/>
              </a:rPr>
              <a:t>Commutes, transport, facilities and safety</a:t>
            </a:r>
            <a:endParaRPr lang="en-US" sz="2000" dirty="0"/>
          </a:p>
        </p:txBody>
      </p:sp>
      <p:sp>
        <p:nvSpPr>
          <p:cNvPr id="4" name="Text 2"/>
          <p:cNvSpPr txBox="1"/>
          <p:nvPr/>
        </p:nvSpPr>
        <p:spPr>
          <a:xfrm>
            <a:off x="640080" y="4114800"/>
            <a:ext cx="7863840" cy="365760"/>
          </a:xfrm>
          <a:prstGeom prst="rect">
            <a:avLst/>
          </a:prstGeom>
          <a:noFill/>
          <a:ln/>
        </p:spPr>
        <p:txBody>
          <a:bodyPr wrap="square" lIns="0" tIns="0" rIns="0" bIns="0" rtlCol="0" anchor="ctr"/>
          <a:lstStyle/>
          <a:p>
            <a:pPr marL="0" indent="0">
              <a:buNone/>
            </a:pPr>
            <a:r>
              <a:rPr lang="en-US" sz="1400" dirty="0">
                <a:solidFill>
                  <a:srgbClr val="9DBFC8"/>
                </a:solidFill>
                <a:latin typeface="Calibri" pitchFamily="34" charset="0"/>
                <a:ea typeface="Calibri" pitchFamily="34" charset="-122"/>
                <a:cs typeface="Calibri" pitchFamily="34" charset="-120"/>
              </a:rPr>
              <a:t>Insights from 57 valid student survey responses                                                     By: Shreyas </a:t>
            </a:r>
            <a:r>
              <a:rPr lang="en-US" sz="1400" dirty="0" err="1">
                <a:solidFill>
                  <a:srgbClr val="9DBFC8"/>
                </a:solidFill>
                <a:latin typeface="Calibri" pitchFamily="34" charset="0"/>
                <a:ea typeface="Calibri" pitchFamily="34" charset="-122"/>
                <a:cs typeface="Calibri" pitchFamily="34" charset="-120"/>
              </a:rPr>
              <a:t>Chandradip</a:t>
            </a:r>
            <a:r>
              <a:rPr lang="en-US" sz="1400" dirty="0">
                <a:solidFill>
                  <a:srgbClr val="9DBFC8"/>
                </a:solidFill>
                <a:latin typeface="Calibri" pitchFamily="34" charset="0"/>
                <a:ea typeface="Calibri" pitchFamily="34" charset="-122"/>
                <a:cs typeface="Calibri" pitchFamily="34" charset="-120"/>
              </a:rPr>
              <a:t> Salunke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200" b="1" dirty="0">
                <a:solidFill>
                  <a:srgbClr val="12343B"/>
                </a:solidFill>
                <a:latin typeface="Cambria" pitchFamily="34" charset="0"/>
                <a:ea typeface="Cambria" pitchFamily="34" charset="-122"/>
                <a:cs typeface="Cambria" pitchFamily="34" charset="-120"/>
              </a:rPr>
              <a:t>The survey at a glance</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Where you live shapes the whole student experience</a:t>
            </a:r>
            <a:endParaRPr lang="en-US" sz="1400" dirty="0"/>
          </a:p>
        </p:txBody>
      </p:sp>
      <p:sp>
        <p:nvSpPr>
          <p:cNvPr id="4" name="Shape 2"/>
          <p:cNvSpPr/>
          <p:nvPr/>
        </p:nvSpPr>
        <p:spPr>
          <a:xfrm>
            <a:off x="457200" y="1554480"/>
            <a:ext cx="1920240" cy="1371600"/>
          </a:xfrm>
          <a:prstGeom prst="roundRect">
            <a:avLst>
              <a:gd name="adj" fmla="val 8000"/>
            </a:avLst>
          </a:prstGeom>
          <a:solidFill>
            <a:srgbClr val="EEF4F5"/>
          </a:solidFill>
          <a:ln w="12700">
            <a:solidFill>
              <a:srgbClr val="EEF4F5"/>
            </a:solidFill>
            <a:prstDash val="solid"/>
          </a:ln>
        </p:spPr>
        <p:txBody>
          <a:bodyPr/>
          <a:lstStyle/>
          <a:p>
            <a:endParaRPr lang="en-IN"/>
          </a:p>
        </p:txBody>
      </p:sp>
      <p:sp>
        <p:nvSpPr>
          <p:cNvPr id="5" name="Text 3"/>
          <p:cNvSpPr txBox="1"/>
          <p:nvPr/>
        </p:nvSpPr>
        <p:spPr>
          <a:xfrm>
            <a:off x="640080" y="1664208"/>
            <a:ext cx="1554480" cy="6858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57</a:t>
            </a:r>
            <a:endParaRPr lang="en-US" sz="3000" dirty="0"/>
          </a:p>
        </p:txBody>
      </p:sp>
      <p:sp>
        <p:nvSpPr>
          <p:cNvPr id="6" name="Text 4"/>
          <p:cNvSpPr txBox="1"/>
          <p:nvPr/>
        </p:nvSpPr>
        <p:spPr>
          <a:xfrm>
            <a:off x="640080" y="2350008"/>
            <a:ext cx="1554480" cy="493776"/>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valid student responses</a:t>
            </a:r>
            <a:endParaRPr lang="en-US" sz="1200" dirty="0"/>
          </a:p>
        </p:txBody>
      </p:sp>
      <p:sp>
        <p:nvSpPr>
          <p:cNvPr id="7" name="Shape 5"/>
          <p:cNvSpPr/>
          <p:nvPr/>
        </p:nvSpPr>
        <p:spPr>
          <a:xfrm>
            <a:off x="2560320" y="1554480"/>
            <a:ext cx="1920240" cy="1371600"/>
          </a:xfrm>
          <a:prstGeom prst="roundRect">
            <a:avLst>
              <a:gd name="adj" fmla="val 8000"/>
            </a:avLst>
          </a:prstGeom>
          <a:solidFill>
            <a:srgbClr val="EEF4F5"/>
          </a:solidFill>
          <a:ln w="12700">
            <a:solidFill>
              <a:srgbClr val="EEF4F5"/>
            </a:solidFill>
            <a:prstDash val="solid"/>
          </a:ln>
        </p:spPr>
        <p:txBody>
          <a:bodyPr/>
          <a:lstStyle/>
          <a:p>
            <a:endParaRPr lang="en-IN"/>
          </a:p>
        </p:txBody>
      </p:sp>
      <p:sp>
        <p:nvSpPr>
          <p:cNvPr id="8" name="Text 6"/>
          <p:cNvSpPr txBox="1"/>
          <p:nvPr/>
        </p:nvSpPr>
        <p:spPr>
          <a:xfrm>
            <a:off x="2743200" y="1664208"/>
            <a:ext cx="1554480" cy="685800"/>
          </a:xfrm>
          <a:prstGeom prst="rect">
            <a:avLst/>
          </a:prstGeom>
          <a:noFill/>
          <a:ln/>
        </p:spPr>
        <p:txBody>
          <a:bodyPr wrap="square" lIns="0" tIns="0" rIns="0" bIns="0" rtlCol="0" anchor="ctr"/>
          <a:lstStyle/>
          <a:p>
            <a:pPr marL="0" indent="0">
              <a:buNone/>
            </a:pPr>
            <a:r>
              <a:rPr lang="en-US" sz="3000" b="1" dirty="0">
                <a:solidFill>
                  <a:srgbClr val="E76F51"/>
                </a:solidFill>
                <a:latin typeface="Cambria" pitchFamily="34" charset="0"/>
                <a:ea typeface="Cambria" pitchFamily="34" charset="-122"/>
                <a:cs typeface="Cambria" pitchFamily="34" charset="-120"/>
              </a:rPr>
              <a:t>50 min</a:t>
            </a:r>
            <a:endParaRPr lang="en-US" sz="3000" dirty="0"/>
          </a:p>
        </p:txBody>
      </p:sp>
      <p:sp>
        <p:nvSpPr>
          <p:cNvPr id="9" name="Text 7"/>
          <p:cNvSpPr txBox="1"/>
          <p:nvPr/>
        </p:nvSpPr>
        <p:spPr>
          <a:xfrm>
            <a:off x="2743200" y="2350008"/>
            <a:ext cx="1554480" cy="493776"/>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typical commute to university</a:t>
            </a:r>
            <a:endParaRPr lang="en-US" sz="1200" dirty="0"/>
          </a:p>
        </p:txBody>
      </p:sp>
      <p:sp>
        <p:nvSpPr>
          <p:cNvPr id="10" name="Shape 8"/>
          <p:cNvSpPr/>
          <p:nvPr/>
        </p:nvSpPr>
        <p:spPr>
          <a:xfrm>
            <a:off x="4663440" y="1554480"/>
            <a:ext cx="1920240" cy="1371600"/>
          </a:xfrm>
          <a:prstGeom prst="roundRect">
            <a:avLst>
              <a:gd name="adj" fmla="val 8000"/>
            </a:avLst>
          </a:prstGeom>
          <a:solidFill>
            <a:srgbClr val="EEF4F5"/>
          </a:solidFill>
          <a:ln w="12700">
            <a:solidFill>
              <a:srgbClr val="EEF4F5"/>
            </a:solidFill>
            <a:prstDash val="solid"/>
          </a:ln>
        </p:spPr>
        <p:txBody>
          <a:bodyPr/>
          <a:lstStyle/>
          <a:p>
            <a:endParaRPr lang="en-IN"/>
          </a:p>
        </p:txBody>
      </p:sp>
      <p:sp>
        <p:nvSpPr>
          <p:cNvPr id="11" name="Text 9"/>
          <p:cNvSpPr txBox="1"/>
          <p:nvPr/>
        </p:nvSpPr>
        <p:spPr>
          <a:xfrm>
            <a:off x="4846320" y="1664208"/>
            <a:ext cx="1554480" cy="6858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8.0 / 10</a:t>
            </a:r>
            <a:endParaRPr lang="en-US" sz="3000" dirty="0"/>
          </a:p>
        </p:txBody>
      </p:sp>
      <p:sp>
        <p:nvSpPr>
          <p:cNvPr id="12" name="Text 10"/>
          <p:cNvSpPr txBox="1"/>
          <p:nvPr/>
        </p:nvSpPr>
        <p:spPr>
          <a:xfrm>
            <a:off x="4846320" y="2350008"/>
            <a:ext cx="1554480" cy="493776"/>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average safety score</a:t>
            </a:r>
            <a:endParaRPr lang="en-US" sz="1200" dirty="0"/>
          </a:p>
        </p:txBody>
      </p:sp>
      <p:sp>
        <p:nvSpPr>
          <p:cNvPr id="13" name="Shape 11"/>
          <p:cNvSpPr/>
          <p:nvPr/>
        </p:nvSpPr>
        <p:spPr>
          <a:xfrm>
            <a:off x="6766560" y="1554480"/>
            <a:ext cx="1920240" cy="1371600"/>
          </a:xfrm>
          <a:prstGeom prst="roundRect">
            <a:avLst>
              <a:gd name="adj" fmla="val 8000"/>
            </a:avLst>
          </a:prstGeom>
          <a:solidFill>
            <a:srgbClr val="EEF4F5"/>
          </a:solidFill>
          <a:ln w="12700">
            <a:solidFill>
              <a:srgbClr val="EEF4F5"/>
            </a:solidFill>
            <a:prstDash val="solid"/>
          </a:ln>
        </p:spPr>
        <p:txBody>
          <a:bodyPr/>
          <a:lstStyle/>
          <a:p>
            <a:endParaRPr lang="en-IN"/>
          </a:p>
        </p:txBody>
      </p:sp>
      <p:sp>
        <p:nvSpPr>
          <p:cNvPr id="14" name="Text 12"/>
          <p:cNvSpPr txBox="1"/>
          <p:nvPr/>
        </p:nvSpPr>
        <p:spPr>
          <a:xfrm>
            <a:off x="6949440" y="1664208"/>
            <a:ext cx="1554480" cy="6858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7.7 / 10</a:t>
            </a:r>
            <a:endParaRPr lang="en-US" sz="3000" dirty="0"/>
          </a:p>
        </p:txBody>
      </p:sp>
      <p:sp>
        <p:nvSpPr>
          <p:cNvPr id="15" name="Text 13"/>
          <p:cNvSpPr txBox="1"/>
          <p:nvPr/>
        </p:nvSpPr>
        <p:spPr>
          <a:xfrm>
            <a:off x="6949440" y="2350008"/>
            <a:ext cx="1554480" cy="493776"/>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average overall experience</a:t>
            </a:r>
            <a:endParaRPr lang="en-US" sz="1200" dirty="0"/>
          </a:p>
        </p:txBody>
      </p:sp>
      <p:sp>
        <p:nvSpPr>
          <p:cNvPr id="16" name="Text 14"/>
          <p:cNvSpPr txBox="1"/>
          <p:nvPr/>
        </p:nvSpPr>
        <p:spPr>
          <a:xfrm>
            <a:off x="457200" y="3291840"/>
            <a:ext cx="822960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Being close to campus is the number one benefit of an area.</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Long commutes are the biggest issue, not safety.</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The Luas Green Line is the most useful route to Grangegorman.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200" b="1" dirty="0">
                <a:solidFill>
                  <a:srgbClr val="12343B"/>
                </a:solidFill>
                <a:latin typeface="Cambria" pitchFamily="34" charset="0"/>
                <a:ea typeface="Cambria" pitchFamily="34" charset="-122"/>
                <a:cs typeface="Cambria" pitchFamily="34" charset="-120"/>
              </a:rPr>
              <a:t>Students are spread out</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Where respondents live (top 10 areas, n = 57)</a:t>
            </a:r>
            <a:endParaRPr lang="en-US" sz="1400" dirty="0"/>
          </a:p>
        </p:txBody>
      </p:sp>
      <p:graphicFrame>
        <p:nvGraphicFramePr>
          <p:cNvPr id="4" name="Chart 0"/>
          <p:cNvGraphicFramePr/>
          <p:nvPr/>
        </p:nvGraphicFramePr>
        <p:xfrm>
          <a:off x="457200" y="137160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457200" y="4663440"/>
            <a:ext cx="512064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Blue: Dublin postcodes   Amber: Co. Dublin towns   Grey: outside Co. Dublin</a:t>
            </a:r>
            <a:endParaRPr lang="en-US" sz="1000" dirty="0"/>
          </a:p>
        </p:txBody>
      </p:sp>
      <p:sp>
        <p:nvSpPr>
          <p:cNvPr id="6" name="Shape 3"/>
          <p:cNvSpPr/>
          <p:nvPr/>
        </p:nvSpPr>
        <p:spPr>
          <a:xfrm>
            <a:off x="5943600" y="137160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7" name="Text 4"/>
          <p:cNvSpPr txBox="1"/>
          <p:nvPr/>
        </p:nvSpPr>
        <p:spPr>
          <a:xfrm>
            <a:off x="6126480" y="1481328"/>
            <a:ext cx="2377440" cy="4572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38 of 57</a:t>
            </a:r>
            <a:endParaRPr lang="en-US" sz="3000" dirty="0"/>
          </a:p>
        </p:txBody>
      </p:sp>
      <p:sp>
        <p:nvSpPr>
          <p:cNvPr id="8" name="Text 5"/>
          <p:cNvSpPr txBox="1"/>
          <p:nvPr/>
        </p:nvSpPr>
        <p:spPr>
          <a:xfrm>
            <a:off x="6126480" y="190195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live in D01–D24 postcodes</a:t>
            </a:r>
            <a:endParaRPr lang="en-US" sz="1200" dirty="0"/>
          </a:p>
        </p:txBody>
      </p:sp>
      <p:sp>
        <p:nvSpPr>
          <p:cNvPr id="9" name="Shape 6"/>
          <p:cNvSpPr/>
          <p:nvPr/>
        </p:nvSpPr>
        <p:spPr>
          <a:xfrm>
            <a:off x="5943600" y="242316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10" name="Text 7"/>
          <p:cNvSpPr txBox="1"/>
          <p:nvPr/>
        </p:nvSpPr>
        <p:spPr>
          <a:xfrm>
            <a:off x="6126480" y="2532888"/>
            <a:ext cx="2377440" cy="4572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19</a:t>
            </a:r>
            <a:endParaRPr lang="en-US" sz="3000" dirty="0"/>
          </a:p>
        </p:txBody>
      </p:sp>
      <p:sp>
        <p:nvSpPr>
          <p:cNvPr id="11" name="Text 8"/>
          <p:cNvSpPr txBox="1"/>
          <p:nvPr/>
        </p:nvSpPr>
        <p:spPr>
          <a:xfrm>
            <a:off x="6126480" y="295351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live further out, 9 in Co. Dublin towns, 10 outside the county</a:t>
            </a:r>
            <a:endParaRPr lang="en-US" sz="1200" dirty="0"/>
          </a:p>
        </p:txBody>
      </p:sp>
      <p:sp>
        <p:nvSpPr>
          <p:cNvPr id="12" name="Shape 9"/>
          <p:cNvSpPr/>
          <p:nvPr/>
        </p:nvSpPr>
        <p:spPr>
          <a:xfrm>
            <a:off x="5943600" y="347472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13" name="Text 10"/>
          <p:cNvSpPr txBox="1"/>
          <p:nvPr/>
        </p:nvSpPr>
        <p:spPr>
          <a:xfrm>
            <a:off x="6126480" y="3584448"/>
            <a:ext cx="2377440" cy="457200"/>
          </a:xfrm>
          <a:prstGeom prst="rect">
            <a:avLst/>
          </a:prstGeom>
          <a:noFill/>
          <a:ln/>
        </p:spPr>
        <p:txBody>
          <a:bodyPr wrap="square" lIns="0" tIns="0" rIns="0" bIns="0" rtlCol="0" anchor="ctr"/>
          <a:lstStyle/>
          <a:p>
            <a:pPr marL="0" indent="0">
              <a:buNone/>
            </a:pPr>
            <a:r>
              <a:rPr lang="en-US" sz="3000" b="1" dirty="0">
                <a:solidFill>
                  <a:srgbClr val="E76F51"/>
                </a:solidFill>
                <a:latin typeface="Cambria" pitchFamily="34" charset="0"/>
                <a:ea typeface="Cambria" pitchFamily="34" charset="-122"/>
                <a:cs typeface="Cambria" pitchFamily="34" charset="-120"/>
              </a:rPr>
              <a:t>25 areas</a:t>
            </a:r>
            <a:endParaRPr lang="en-US" sz="3000" dirty="0"/>
          </a:p>
        </p:txBody>
      </p:sp>
      <p:sp>
        <p:nvSpPr>
          <p:cNvPr id="14" name="Text 11"/>
          <p:cNvSpPr txBox="1"/>
          <p:nvPr/>
        </p:nvSpPr>
        <p:spPr>
          <a:xfrm>
            <a:off x="6126480" y="400507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no single "student area", so a recommendation tool makes sense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200" b="1" dirty="0">
                <a:solidFill>
                  <a:srgbClr val="12343B"/>
                </a:solidFill>
                <a:latin typeface="Cambria" pitchFamily="34" charset="0"/>
                <a:ea typeface="Cambria" pitchFamily="34" charset="-122"/>
                <a:cs typeface="Cambria" pitchFamily="34" charset="-120"/>
              </a:rPr>
              <a:t>Commutes are long</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Commute time to university (n = 56, median 50 min)</a:t>
            </a:r>
            <a:endParaRPr lang="en-US" sz="1400" dirty="0"/>
          </a:p>
        </p:txBody>
      </p:sp>
      <p:graphicFrame>
        <p:nvGraphicFramePr>
          <p:cNvPr id="4" name="Chart 0"/>
          <p:cNvGraphicFramePr/>
          <p:nvPr/>
        </p:nvGraphicFramePr>
        <p:xfrm>
          <a:off x="457200" y="137160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457200" y="4663440"/>
            <a:ext cx="512064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Minutes each way</a:t>
            </a:r>
            <a:endParaRPr lang="en-US" sz="1000" dirty="0"/>
          </a:p>
        </p:txBody>
      </p:sp>
      <p:sp>
        <p:nvSpPr>
          <p:cNvPr id="6" name="Shape 3"/>
          <p:cNvSpPr/>
          <p:nvPr/>
        </p:nvSpPr>
        <p:spPr>
          <a:xfrm>
            <a:off x="5943600" y="137160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7" name="Text 4"/>
          <p:cNvSpPr txBox="1"/>
          <p:nvPr/>
        </p:nvSpPr>
        <p:spPr>
          <a:xfrm>
            <a:off x="6126480" y="1481328"/>
            <a:ext cx="2377440" cy="457200"/>
          </a:xfrm>
          <a:prstGeom prst="rect">
            <a:avLst/>
          </a:prstGeom>
          <a:noFill/>
          <a:ln/>
        </p:spPr>
        <p:txBody>
          <a:bodyPr wrap="square" lIns="0" tIns="0" rIns="0" bIns="0" rtlCol="0" anchor="ctr"/>
          <a:lstStyle/>
          <a:p>
            <a:pPr marL="0" indent="0">
              <a:buNone/>
            </a:pPr>
            <a:r>
              <a:rPr lang="en-US" sz="3000" b="1" dirty="0">
                <a:solidFill>
                  <a:srgbClr val="E76F51"/>
                </a:solidFill>
                <a:latin typeface="Cambria" pitchFamily="34" charset="0"/>
                <a:ea typeface="Cambria" pitchFamily="34" charset="-122"/>
                <a:cs typeface="Cambria" pitchFamily="34" charset="-120"/>
              </a:rPr>
              <a:t>57%</a:t>
            </a:r>
            <a:endParaRPr lang="en-US" sz="3000" dirty="0"/>
          </a:p>
        </p:txBody>
      </p:sp>
      <p:sp>
        <p:nvSpPr>
          <p:cNvPr id="8" name="Text 5"/>
          <p:cNvSpPr txBox="1"/>
          <p:nvPr/>
        </p:nvSpPr>
        <p:spPr>
          <a:xfrm>
            <a:off x="6126480" y="190195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travel 45 minutes or more each way</a:t>
            </a:r>
            <a:endParaRPr lang="en-US" sz="1200" dirty="0"/>
          </a:p>
        </p:txBody>
      </p:sp>
      <p:sp>
        <p:nvSpPr>
          <p:cNvPr id="9" name="Shape 6"/>
          <p:cNvSpPr/>
          <p:nvPr/>
        </p:nvSpPr>
        <p:spPr>
          <a:xfrm>
            <a:off x="5943600" y="242316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10" name="Text 7"/>
          <p:cNvSpPr txBox="1"/>
          <p:nvPr/>
        </p:nvSpPr>
        <p:spPr>
          <a:xfrm>
            <a:off x="6126480" y="2564239"/>
            <a:ext cx="2377440" cy="4572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41 / 72 / 92 min</a:t>
            </a:r>
            <a:endParaRPr lang="en-US" sz="3000" dirty="0"/>
          </a:p>
        </p:txBody>
      </p:sp>
      <p:sp>
        <p:nvSpPr>
          <p:cNvPr id="11" name="Text 8"/>
          <p:cNvSpPr txBox="1"/>
          <p:nvPr/>
        </p:nvSpPr>
        <p:spPr>
          <a:xfrm>
            <a:off x="6126480" y="3149455"/>
            <a:ext cx="2501537" cy="292608"/>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Dublin city / Co. Dublin towns / outside </a:t>
            </a:r>
            <a:endParaRPr lang="en-US" sz="1200" dirty="0"/>
          </a:p>
        </p:txBody>
      </p:sp>
      <p:sp>
        <p:nvSpPr>
          <p:cNvPr id="12" name="Shape 9"/>
          <p:cNvSpPr/>
          <p:nvPr/>
        </p:nvSpPr>
        <p:spPr>
          <a:xfrm>
            <a:off x="5943600" y="347472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13" name="Text 10"/>
          <p:cNvSpPr txBox="1"/>
          <p:nvPr/>
        </p:nvSpPr>
        <p:spPr>
          <a:xfrm>
            <a:off x="6126480" y="3584448"/>
            <a:ext cx="2377440" cy="4572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8.8 vs 6.8</a:t>
            </a:r>
            <a:endParaRPr lang="en-US" sz="3000" dirty="0"/>
          </a:p>
        </p:txBody>
      </p:sp>
      <p:sp>
        <p:nvSpPr>
          <p:cNvPr id="14" name="Text 11"/>
          <p:cNvSpPr txBox="1"/>
          <p:nvPr/>
        </p:nvSpPr>
        <p:spPr>
          <a:xfrm>
            <a:off x="6126480" y="400507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area rating for ≤15 min vs 90+ min commutes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200" b="1" dirty="0">
                <a:solidFill>
                  <a:srgbClr val="12343B"/>
                </a:solidFill>
                <a:latin typeface="Cambria" pitchFamily="34" charset="0"/>
                <a:ea typeface="Cambria" pitchFamily="34" charset="-122"/>
                <a:cs typeface="Cambria" pitchFamily="34" charset="-120"/>
              </a:rPr>
              <a:t>Bus and Luas lead</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Transport modes used (students could pick more than one)</a:t>
            </a:r>
            <a:endParaRPr lang="en-US" sz="1400" dirty="0"/>
          </a:p>
        </p:txBody>
      </p:sp>
      <p:graphicFrame>
        <p:nvGraphicFramePr>
          <p:cNvPr id="4" name="Chart 0"/>
          <p:cNvGraphicFramePr/>
          <p:nvPr/>
        </p:nvGraphicFramePr>
        <p:xfrm>
          <a:off x="457200" y="137160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137160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6" name="Text 3"/>
          <p:cNvSpPr txBox="1"/>
          <p:nvPr/>
        </p:nvSpPr>
        <p:spPr>
          <a:xfrm>
            <a:off x="6126480" y="1481328"/>
            <a:ext cx="2377440" cy="4572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24 of 30</a:t>
            </a:r>
            <a:endParaRPr lang="en-US" sz="3000" dirty="0"/>
          </a:p>
        </p:txBody>
      </p:sp>
      <p:sp>
        <p:nvSpPr>
          <p:cNvPr id="7" name="Text 4"/>
          <p:cNvSpPr txBox="1"/>
          <p:nvPr/>
        </p:nvSpPr>
        <p:spPr>
          <a:xfrm>
            <a:off x="6126480" y="190195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Luas users take the Green Line</a:t>
            </a:r>
            <a:endParaRPr lang="en-US" sz="1200" dirty="0"/>
          </a:p>
        </p:txBody>
      </p:sp>
      <p:sp>
        <p:nvSpPr>
          <p:cNvPr id="8" name="Shape 5"/>
          <p:cNvSpPr/>
          <p:nvPr/>
        </p:nvSpPr>
        <p:spPr>
          <a:xfrm>
            <a:off x="5943600" y="242316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9" name="Text 6"/>
          <p:cNvSpPr txBox="1"/>
          <p:nvPr/>
        </p:nvSpPr>
        <p:spPr>
          <a:xfrm>
            <a:off x="6126480" y="2532888"/>
            <a:ext cx="2377440" cy="457200"/>
          </a:xfrm>
          <a:prstGeom prst="rect">
            <a:avLst/>
          </a:prstGeom>
          <a:noFill/>
          <a:ln/>
        </p:spPr>
        <p:txBody>
          <a:bodyPr wrap="square" lIns="0" tIns="0" rIns="0" bIns="0" rtlCol="0" anchor="ctr"/>
          <a:lstStyle/>
          <a:p>
            <a:pPr marL="0" indent="0">
              <a:buNone/>
            </a:pPr>
            <a:r>
              <a:rPr lang="en-US" sz="3000" b="1" dirty="0">
                <a:solidFill>
                  <a:srgbClr val="E76F51"/>
                </a:solidFill>
                <a:latin typeface="Cambria" pitchFamily="34" charset="0"/>
                <a:ea typeface="Cambria" pitchFamily="34" charset="-122"/>
                <a:cs typeface="Cambria" pitchFamily="34" charset="-120"/>
              </a:rPr>
              <a:t>42%</a:t>
            </a:r>
            <a:endParaRPr lang="en-US" sz="3000" dirty="0"/>
          </a:p>
        </p:txBody>
      </p:sp>
      <p:sp>
        <p:nvSpPr>
          <p:cNvPr id="10" name="Text 7"/>
          <p:cNvSpPr txBox="1"/>
          <p:nvPr/>
        </p:nvSpPr>
        <p:spPr>
          <a:xfrm>
            <a:off x="6126480" y="295351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use two or more modes, so smooth connections matter</a:t>
            </a:r>
            <a:endParaRPr lang="en-US" sz="1200" dirty="0"/>
          </a:p>
        </p:txBody>
      </p:sp>
      <p:sp>
        <p:nvSpPr>
          <p:cNvPr id="11" name="Shape 8"/>
          <p:cNvSpPr/>
          <p:nvPr/>
        </p:nvSpPr>
        <p:spPr>
          <a:xfrm>
            <a:off x="5943600" y="347472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12" name="Text 9"/>
          <p:cNvSpPr txBox="1"/>
          <p:nvPr/>
        </p:nvSpPr>
        <p:spPr>
          <a:xfrm>
            <a:off x="6126480" y="3584448"/>
            <a:ext cx="2377440" cy="4572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2 students</a:t>
            </a:r>
            <a:endParaRPr lang="en-US" sz="3000" dirty="0"/>
          </a:p>
        </p:txBody>
      </p:sp>
      <p:sp>
        <p:nvSpPr>
          <p:cNvPr id="13" name="Text 10"/>
          <p:cNvSpPr txBox="1"/>
          <p:nvPr/>
        </p:nvSpPr>
        <p:spPr>
          <a:xfrm>
            <a:off x="6126480" y="400507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drive to university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5902"/>
            <a:ext cx="8229600" cy="640080"/>
          </a:xfrm>
          <a:prstGeom prst="rect">
            <a:avLst/>
          </a:prstGeom>
          <a:noFill/>
          <a:ln/>
        </p:spPr>
        <p:txBody>
          <a:bodyPr wrap="square" lIns="0" tIns="0" rIns="0" bIns="0" rtlCol="0" anchor="ctr"/>
          <a:lstStyle/>
          <a:p>
            <a:pPr marL="0" indent="0">
              <a:buNone/>
            </a:pPr>
            <a:r>
              <a:rPr lang="en-US" sz="3200" b="1" dirty="0">
                <a:solidFill>
                  <a:srgbClr val="12343B"/>
                </a:solidFill>
                <a:latin typeface="Cambria" pitchFamily="34" charset="0"/>
                <a:ea typeface="Cambria" pitchFamily="34" charset="-122"/>
                <a:cs typeface="Cambria" pitchFamily="34" charset="-120"/>
              </a:rPr>
              <a:t>Everyday needs are covered</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Facilities near where students live</a:t>
            </a:r>
            <a:endParaRPr lang="en-US" sz="1400" dirty="0"/>
          </a:p>
        </p:txBody>
      </p:sp>
      <p:graphicFrame>
        <p:nvGraphicFramePr>
          <p:cNvPr id="4" name="Chart 0"/>
          <p:cNvGraphicFramePr/>
          <p:nvPr/>
        </p:nvGraphicFramePr>
        <p:xfrm>
          <a:off x="457200" y="137160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137160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6" name="Text 3"/>
          <p:cNvSpPr txBox="1"/>
          <p:nvPr/>
        </p:nvSpPr>
        <p:spPr>
          <a:xfrm>
            <a:off x="6126480" y="1481328"/>
            <a:ext cx="2377440" cy="4572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86–88%</a:t>
            </a:r>
            <a:endParaRPr lang="en-US" sz="3000" dirty="0"/>
          </a:p>
        </p:txBody>
      </p:sp>
      <p:sp>
        <p:nvSpPr>
          <p:cNvPr id="7" name="Text 4"/>
          <p:cNvSpPr txBox="1"/>
          <p:nvPr/>
        </p:nvSpPr>
        <p:spPr>
          <a:xfrm>
            <a:off x="6126480" y="190195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have a cafe or pharmacy nearby</a:t>
            </a:r>
            <a:endParaRPr lang="en-US" sz="1200" dirty="0"/>
          </a:p>
        </p:txBody>
      </p:sp>
      <p:sp>
        <p:nvSpPr>
          <p:cNvPr id="8" name="Shape 5"/>
          <p:cNvSpPr/>
          <p:nvPr/>
        </p:nvSpPr>
        <p:spPr>
          <a:xfrm>
            <a:off x="5943600" y="242316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9" name="Text 6"/>
          <p:cNvSpPr txBox="1"/>
          <p:nvPr/>
        </p:nvSpPr>
        <p:spPr>
          <a:xfrm>
            <a:off x="6126480" y="2532888"/>
            <a:ext cx="2377440" cy="457200"/>
          </a:xfrm>
          <a:prstGeom prst="rect">
            <a:avLst/>
          </a:prstGeom>
          <a:noFill/>
          <a:ln/>
        </p:spPr>
        <p:txBody>
          <a:bodyPr wrap="square" lIns="0" tIns="0" rIns="0" bIns="0" rtlCol="0" anchor="ctr"/>
          <a:lstStyle/>
          <a:p>
            <a:pPr marL="0" indent="0">
              <a:buNone/>
            </a:pPr>
            <a:r>
              <a:rPr lang="en-US" sz="3000" b="1" dirty="0">
                <a:solidFill>
                  <a:srgbClr val="E76F51"/>
                </a:solidFill>
                <a:latin typeface="Cambria" pitchFamily="34" charset="0"/>
                <a:ea typeface="Cambria" pitchFamily="34" charset="-122"/>
                <a:cs typeface="Cambria" pitchFamily="34" charset="-120"/>
              </a:rPr>
              <a:t>30%</a:t>
            </a:r>
            <a:endParaRPr lang="en-US" sz="3000" dirty="0"/>
          </a:p>
        </p:txBody>
      </p:sp>
      <p:sp>
        <p:nvSpPr>
          <p:cNvPr id="10" name="Text 7"/>
          <p:cNvSpPr txBox="1"/>
          <p:nvPr/>
        </p:nvSpPr>
        <p:spPr>
          <a:xfrm>
            <a:off x="6126480" y="295351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have a hospital nearby</a:t>
            </a:r>
            <a:endParaRPr lang="en-US" sz="1200" dirty="0"/>
          </a:p>
        </p:txBody>
      </p:sp>
      <p:sp>
        <p:nvSpPr>
          <p:cNvPr id="11" name="Shape 8"/>
          <p:cNvSpPr/>
          <p:nvPr/>
        </p:nvSpPr>
        <p:spPr>
          <a:xfrm>
            <a:off x="5943600" y="347472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12" name="Text 9"/>
          <p:cNvSpPr txBox="1"/>
          <p:nvPr/>
        </p:nvSpPr>
        <p:spPr>
          <a:xfrm>
            <a:off x="6126480" y="3584448"/>
            <a:ext cx="2377440" cy="4572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Lidl 79%</a:t>
            </a:r>
            <a:endParaRPr lang="en-US" sz="3000" dirty="0"/>
          </a:p>
        </p:txBody>
      </p:sp>
      <p:sp>
        <p:nvSpPr>
          <p:cNvPr id="13" name="Text 10"/>
          <p:cNvSpPr txBox="1"/>
          <p:nvPr/>
        </p:nvSpPr>
        <p:spPr>
          <a:xfrm>
            <a:off x="6126480" y="400507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Tesco 68%</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200" b="1" dirty="0">
                <a:solidFill>
                  <a:srgbClr val="12343B"/>
                </a:solidFill>
                <a:latin typeface="Cambria" pitchFamily="34" charset="0"/>
                <a:ea typeface="Cambria" pitchFamily="34" charset="-122"/>
                <a:cs typeface="Cambria" pitchFamily="34" charset="-120"/>
              </a:rPr>
              <a:t>Safety is good, overall is lower</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Ratings out of 10 (n = 57)</a:t>
            </a:r>
            <a:endParaRPr lang="en-US" sz="1400" dirty="0"/>
          </a:p>
        </p:txBody>
      </p:sp>
      <p:graphicFrame>
        <p:nvGraphicFramePr>
          <p:cNvPr id="4" name="Chart 0"/>
          <p:cNvGraphicFramePr/>
          <p:nvPr/>
        </p:nvGraphicFramePr>
        <p:xfrm>
          <a:off x="457200" y="137160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137160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6" name="Text 3"/>
          <p:cNvSpPr txBox="1"/>
          <p:nvPr/>
        </p:nvSpPr>
        <p:spPr>
          <a:xfrm>
            <a:off x="6126480" y="1481328"/>
            <a:ext cx="2377440" cy="4572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89%</a:t>
            </a:r>
            <a:endParaRPr lang="en-US" sz="3000" dirty="0"/>
          </a:p>
        </p:txBody>
      </p:sp>
      <p:sp>
        <p:nvSpPr>
          <p:cNvPr id="7" name="Text 4"/>
          <p:cNvSpPr txBox="1"/>
          <p:nvPr/>
        </p:nvSpPr>
        <p:spPr>
          <a:xfrm>
            <a:off x="6126480" y="190195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give safety a 7 or above</a:t>
            </a:r>
            <a:endParaRPr lang="en-US" sz="1200" dirty="0"/>
          </a:p>
        </p:txBody>
      </p:sp>
      <p:sp>
        <p:nvSpPr>
          <p:cNvPr id="8" name="Shape 5"/>
          <p:cNvSpPr/>
          <p:nvPr/>
        </p:nvSpPr>
        <p:spPr>
          <a:xfrm>
            <a:off x="5943600" y="2423160"/>
            <a:ext cx="2743200" cy="914400"/>
          </a:xfrm>
          <a:prstGeom prst="roundRect">
            <a:avLst>
              <a:gd name="adj" fmla="val 12000"/>
            </a:avLst>
          </a:prstGeom>
          <a:solidFill>
            <a:srgbClr val="EEF4F5"/>
          </a:solidFill>
          <a:ln w="12700">
            <a:solidFill>
              <a:srgbClr val="EEF4F5"/>
            </a:solidFill>
            <a:prstDash val="solid"/>
          </a:ln>
        </p:spPr>
        <p:txBody>
          <a:bodyPr/>
          <a:lstStyle/>
          <a:p>
            <a:endParaRPr lang="en-IN"/>
          </a:p>
        </p:txBody>
      </p:sp>
      <p:sp>
        <p:nvSpPr>
          <p:cNvPr id="9" name="Text 6"/>
          <p:cNvSpPr txBox="1"/>
          <p:nvPr/>
        </p:nvSpPr>
        <p:spPr>
          <a:xfrm>
            <a:off x="6126480" y="2532888"/>
            <a:ext cx="2377440" cy="457200"/>
          </a:xfrm>
          <a:prstGeom prst="rect">
            <a:avLst/>
          </a:prstGeom>
          <a:noFill/>
          <a:ln/>
        </p:spPr>
        <p:txBody>
          <a:bodyPr wrap="square" lIns="0" tIns="0" rIns="0" bIns="0" rtlCol="0" anchor="ctr"/>
          <a:lstStyle/>
          <a:p>
            <a:pPr marL="0" indent="0">
              <a:buNone/>
            </a:pPr>
            <a:r>
              <a:rPr lang="en-US" sz="3000" b="1" dirty="0">
                <a:solidFill>
                  <a:srgbClr val="1F6F8B"/>
                </a:solidFill>
                <a:latin typeface="Cambria" pitchFamily="34" charset="0"/>
                <a:ea typeface="Cambria" pitchFamily="34" charset="-122"/>
                <a:cs typeface="Cambria" pitchFamily="34" charset="-120"/>
              </a:rPr>
              <a:t>8.3 vs 6.7</a:t>
            </a:r>
            <a:endParaRPr lang="en-US" sz="3000" dirty="0"/>
          </a:p>
        </p:txBody>
      </p:sp>
      <p:sp>
        <p:nvSpPr>
          <p:cNvPr id="10" name="Text 7"/>
          <p:cNvSpPr txBox="1"/>
          <p:nvPr/>
        </p:nvSpPr>
        <p:spPr>
          <a:xfrm>
            <a:off x="6126480" y="2953512"/>
            <a:ext cx="2377440" cy="32918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students who feel very safe vs less safe</a:t>
            </a:r>
            <a:endParaRPr lang="en-US" sz="1200" dirty="0"/>
          </a:p>
        </p:txBody>
      </p:sp>
      <p:sp>
        <p:nvSpPr>
          <p:cNvPr id="11" name="Text 8"/>
          <p:cNvSpPr txBox="1"/>
          <p:nvPr/>
        </p:nvSpPr>
        <p:spPr>
          <a:xfrm>
            <a:off x="5943600" y="3566160"/>
            <a:ext cx="2743200" cy="9144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Concerns are (drugs, antisocial behaviour, dark areas at night) they are not general fear.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200" b="1" dirty="0">
                <a:solidFill>
                  <a:srgbClr val="12343B"/>
                </a:solidFill>
                <a:latin typeface="Cambria" pitchFamily="34" charset="0"/>
                <a:ea typeface="Cambria" pitchFamily="34" charset="-122"/>
                <a:cs typeface="Cambria" pitchFamily="34" charset="-120"/>
              </a:rPr>
              <a:t>Feeling safe is not feeling settled</a:t>
            </a:r>
            <a:endParaRPr lang="en-US" sz="3200" dirty="0"/>
          </a:p>
        </p:txBody>
      </p:sp>
      <p:sp>
        <p:nvSpPr>
          <p:cNvPr id="3" name="Text 1"/>
          <p:cNvSpPr txBox="1"/>
          <p:nvPr/>
        </p:nvSpPr>
        <p:spPr>
          <a:xfrm>
            <a:off x="457200" y="914400"/>
            <a:ext cx="82296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Average scores by where students live</a:t>
            </a:r>
            <a:endParaRPr lang="en-US" sz="1400" dirty="0"/>
          </a:p>
        </p:txBody>
      </p:sp>
      <p:sp>
        <p:nvSpPr>
          <p:cNvPr id="4" name="Shape 2"/>
          <p:cNvSpPr/>
          <p:nvPr/>
        </p:nvSpPr>
        <p:spPr>
          <a:xfrm>
            <a:off x="457200" y="1463040"/>
            <a:ext cx="4023360" cy="3017520"/>
          </a:xfrm>
          <a:prstGeom prst="roundRect">
            <a:avLst>
              <a:gd name="adj" fmla="val 3636"/>
            </a:avLst>
          </a:prstGeom>
          <a:solidFill>
            <a:srgbClr val="EEF4F5"/>
          </a:solidFill>
          <a:ln w="12700">
            <a:solidFill>
              <a:srgbClr val="EEF4F5"/>
            </a:solidFill>
            <a:prstDash val="solid"/>
          </a:ln>
        </p:spPr>
        <p:txBody>
          <a:bodyPr/>
          <a:lstStyle/>
          <a:p>
            <a:endParaRPr lang="en-IN"/>
          </a:p>
        </p:txBody>
      </p:sp>
      <p:sp>
        <p:nvSpPr>
          <p:cNvPr id="5" name="Text 3"/>
          <p:cNvSpPr txBox="1"/>
          <p:nvPr/>
        </p:nvSpPr>
        <p:spPr>
          <a:xfrm>
            <a:off x="731520" y="1645920"/>
            <a:ext cx="3474720" cy="640080"/>
          </a:xfrm>
          <a:prstGeom prst="rect">
            <a:avLst/>
          </a:prstGeom>
          <a:noFill/>
          <a:ln/>
        </p:spPr>
        <p:txBody>
          <a:bodyPr wrap="square" lIns="0" tIns="0" rIns="0" bIns="0" rtlCol="0" anchor="t"/>
          <a:lstStyle/>
          <a:p>
            <a:pPr marL="0" indent="0">
              <a:buNone/>
            </a:pPr>
            <a:r>
              <a:rPr lang="en-US" sz="1800" b="1" dirty="0">
                <a:solidFill>
                  <a:srgbClr val="12343B"/>
                </a:solidFill>
                <a:latin typeface="Cambria" pitchFamily="34" charset="0"/>
                <a:ea typeface="Cambria" pitchFamily="34" charset="-122"/>
                <a:cs typeface="Cambria" pitchFamily="34" charset="-120"/>
              </a:rPr>
              <a:t>Outside Co. Dublin</a:t>
            </a:r>
            <a:endParaRPr lang="en-US" sz="1800" dirty="0"/>
          </a:p>
        </p:txBody>
      </p:sp>
      <p:sp>
        <p:nvSpPr>
          <p:cNvPr id="6" name="Text 4"/>
          <p:cNvSpPr txBox="1"/>
          <p:nvPr/>
        </p:nvSpPr>
        <p:spPr>
          <a:xfrm>
            <a:off x="731520" y="2377440"/>
            <a:ext cx="1645920" cy="731520"/>
          </a:xfrm>
          <a:prstGeom prst="rect">
            <a:avLst/>
          </a:prstGeom>
          <a:noFill/>
          <a:ln/>
        </p:spPr>
        <p:txBody>
          <a:bodyPr wrap="square" lIns="0" tIns="0" rIns="0" bIns="0" rtlCol="0" anchor="ctr"/>
          <a:lstStyle/>
          <a:p>
            <a:pPr marL="0" indent="0">
              <a:buNone/>
            </a:pPr>
            <a:r>
              <a:rPr lang="en-US" sz="4400" b="1" dirty="0">
                <a:solidFill>
                  <a:srgbClr val="1F6F8B"/>
                </a:solidFill>
                <a:latin typeface="Cambria" pitchFamily="34" charset="0"/>
                <a:ea typeface="Cambria" pitchFamily="34" charset="-122"/>
                <a:cs typeface="Cambria" pitchFamily="34" charset="-120"/>
              </a:rPr>
              <a:t>8.9</a:t>
            </a:r>
            <a:endParaRPr lang="en-US" sz="4400" dirty="0"/>
          </a:p>
        </p:txBody>
      </p:sp>
      <p:sp>
        <p:nvSpPr>
          <p:cNvPr id="7" name="Text 5"/>
          <p:cNvSpPr txBox="1"/>
          <p:nvPr/>
        </p:nvSpPr>
        <p:spPr>
          <a:xfrm>
            <a:off x="731520" y="3108960"/>
            <a:ext cx="164592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safety</a:t>
            </a:r>
            <a:endParaRPr lang="en-US" sz="1200" dirty="0"/>
          </a:p>
        </p:txBody>
      </p:sp>
      <p:sp>
        <p:nvSpPr>
          <p:cNvPr id="8" name="Text 6"/>
          <p:cNvSpPr txBox="1"/>
          <p:nvPr/>
        </p:nvSpPr>
        <p:spPr>
          <a:xfrm>
            <a:off x="2560320" y="2377440"/>
            <a:ext cx="1645920" cy="731520"/>
          </a:xfrm>
          <a:prstGeom prst="rect">
            <a:avLst/>
          </a:prstGeom>
          <a:noFill/>
          <a:ln/>
        </p:spPr>
        <p:txBody>
          <a:bodyPr wrap="square" lIns="0" tIns="0" rIns="0" bIns="0" rtlCol="0" anchor="ctr"/>
          <a:lstStyle/>
          <a:p>
            <a:pPr marL="0" indent="0">
              <a:buNone/>
            </a:pPr>
            <a:r>
              <a:rPr lang="en-US" sz="4400" b="1" dirty="0">
                <a:solidFill>
                  <a:srgbClr val="E76F51"/>
                </a:solidFill>
                <a:latin typeface="Cambria" pitchFamily="34" charset="0"/>
                <a:ea typeface="Cambria" pitchFamily="34" charset="-122"/>
                <a:cs typeface="Cambria" pitchFamily="34" charset="-120"/>
              </a:rPr>
              <a:t>7.7</a:t>
            </a:r>
            <a:endParaRPr lang="en-US" sz="4400" dirty="0"/>
          </a:p>
        </p:txBody>
      </p:sp>
      <p:sp>
        <p:nvSpPr>
          <p:cNvPr id="9" name="Text 7"/>
          <p:cNvSpPr txBox="1"/>
          <p:nvPr/>
        </p:nvSpPr>
        <p:spPr>
          <a:xfrm>
            <a:off x="2560320" y="3108960"/>
            <a:ext cx="164592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overall</a:t>
            </a:r>
            <a:endParaRPr lang="en-US" sz="1200" dirty="0"/>
          </a:p>
        </p:txBody>
      </p:sp>
      <p:sp>
        <p:nvSpPr>
          <p:cNvPr id="10" name="Text 8"/>
          <p:cNvSpPr txBox="1"/>
          <p:nvPr/>
        </p:nvSpPr>
        <p:spPr>
          <a:xfrm>
            <a:off x="731520" y="3611880"/>
            <a:ext cx="3474720" cy="73152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Safest, but long travel times drags the overall experience down</a:t>
            </a:r>
            <a:endParaRPr lang="en-US" sz="1400" dirty="0"/>
          </a:p>
        </p:txBody>
      </p:sp>
      <p:sp>
        <p:nvSpPr>
          <p:cNvPr id="11" name="Shape 9"/>
          <p:cNvSpPr/>
          <p:nvPr/>
        </p:nvSpPr>
        <p:spPr>
          <a:xfrm>
            <a:off x="4663440" y="1463040"/>
            <a:ext cx="4023360" cy="3017520"/>
          </a:xfrm>
          <a:prstGeom prst="roundRect">
            <a:avLst>
              <a:gd name="adj" fmla="val 3636"/>
            </a:avLst>
          </a:prstGeom>
          <a:solidFill>
            <a:srgbClr val="EEF4F5"/>
          </a:solidFill>
          <a:ln w="12700">
            <a:solidFill>
              <a:srgbClr val="EEF4F5"/>
            </a:solidFill>
            <a:prstDash val="solid"/>
          </a:ln>
        </p:spPr>
        <p:txBody>
          <a:bodyPr/>
          <a:lstStyle/>
          <a:p>
            <a:endParaRPr lang="en-IN"/>
          </a:p>
        </p:txBody>
      </p:sp>
      <p:sp>
        <p:nvSpPr>
          <p:cNvPr id="12" name="Text 10"/>
          <p:cNvSpPr txBox="1"/>
          <p:nvPr/>
        </p:nvSpPr>
        <p:spPr>
          <a:xfrm>
            <a:off x="4937760" y="1645920"/>
            <a:ext cx="3474720" cy="640080"/>
          </a:xfrm>
          <a:prstGeom prst="rect">
            <a:avLst/>
          </a:prstGeom>
          <a:noFill/>
          <a:ln/>
        </p:spPr>
        <p:txBody>
          <a:bodyPr wrap="square" lIns="0" tIns="0" rIns="0" bIns="0" rtlCol="0" anchor="t"/>
          <a:lstStyle/>
          <a:p>
            <a:pPr marL="0" indent="0">
              <a:buNone/>
            </a:pPr>
            <a:r>
              <a:rPr lang="en-US" sz="1800" b="1" dirty="0">
                <a:solidFill>
                  <a:srgbClr val="12343B"/>
                </a:solidFill>
                <a:latin typeface="Cambria" pitchFamily="34" charset="0"/>
                <a:ea typeface="Cambria" pitchFamily="34" charset="-122"/>
                <a:cs typeface="Cambria" pitchFamily="34" charset="-120"/>
              </a:rPr>
              <a:t>Co. Dublin towns (e.g. Lucan, Balbriggan)</a:t>
            </a:r>
            <a:endParaRPr lang="en-US" sz="1800" dirty="0"/>
          </a:p>
        </p:txBody>
      </p:sp>
      <p:sp>
        <p:nvSpPr>
          <p:cNvPr id="13" name="Text 11"/>
          <p:cNvSpPr txBox="1"/>
          <p:nvPr/>
        </p:nvSpPr>
        <p:spPr>
          <a:xfrm>
            <a:off x="4937760" y="2377440"/>
            <a:ext cx="1645920" cy="731520"/>
          </a:xfrm>
          <a:prstGeom prst="rect">
            <a:avLst/>
          </a:prstGeom>
          <a:noFill/>
          <a:ln/>
        </p:spPr>
        <p:txBody>
          <a:bodyPr wrap="square" lIns="0" tIns="0" rIns="0" bIns="0" rtlCol="0" anchor="ctr"/>
          <a:lstStyle/>
          <a:p>
            <a:pPr marL="0" indent="0">
              <a:buNone/>
            </a:pPr>
            <a:r>
              <a:rPr lang="en-US" sz="4400" b="1" dirty="0">
                <a:solidFill>
                  <a:srgbClr val="1F6F8B"/>
                </a:solidFill>
                <a:latin typeface="Cambria" pitchFamily="34" charset="0"/>
                <a:ea typeface="Cambria" pitchFamily="34" charset="-122"/>
                <a:cs typeface="Cambria" pitchFamily="34" charset="-120"/>
              </a:rPr>
              <a:t>7.2</a:t>
            </a:r>
            <a:endParaRPr lang="en-US" sz="4400" dirty="0"/>
          </a:p>
        </p:txBody>
      </p:sp>
      <p:sp>
        <p:nvSpPr>
          <p:cNvPr id="14" name="Text 12"/>
          <p:cNvSpPr txBox="1"/>
          <p:nvPr/>
        </p:nvSpPr>
        <p:spPr>
          <a:xfrm>
            <a:off x="4937760" y="3108960"/>
            <a:ext cx="164592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safety</a:t>
            </a:r>
            <a:endParaRPr lang="en-US" sz="1200" dirty="0"/>
          </a:p>
        </p:txBody>
      </p:sp>
      <p:sp>
        <p:nvSpPr>
          <p:cNvPr id="15" name="Text 13"/>
          <p:cNvSpPr txBox="1"/>
          <p:nvPr/>
        </p:nvSpPr>
        <p:spPr>
          <a:xfrm>
            <a:off x="6766560" y="2377440"/>
            <a:ext cx="1645920" cy="731520"/>
          </a:xfrm>
          <a:prstGeom prst="rect">
            <a:avLst/>
          </a:prstGeom>
          <a:noFill/>
          <a:ln/>
        </p:spPr>
        <p:txBody>
          <a:bodyPr wrap="square" lIns="0" tIns="0" rIns="0" bIns="0" rtlCol="0" anchor="ctr"/>
          <a:lstStyle/>
          <a:p>
            <a:pPr marL="0" indent="0">
              <a:buNone/>
            </a:pPr>
            <a:r>
              <a:rPr lang="en-US" sz="4400" b="1" dirty="0">
                <a:solidFill>
                  <a:srgbClr val="E76F51"/>
                </a:solidFill>
                <a:latin typeface="Cambria" pitchFamily="34" charset="0"/>
                <a:ea typeface="Cambria" pitchFamily="34" charset="-122"/>
                <a:cs typeface="Cambria" pitchFamily="34" charset="-120"/>
              </a:rPr>
              <a:t>8.1</a:t>
            </a:r>
            <a:endParaRPr lang="en-US" sz="4400" dirty="0"/>
          </a:p>
        </p:txBody>
      </p:sp>
      <p:sp>
        <p:nvSpPr>
          <p:cNvPr id="16" name="Text 14"/>
          <p:cNvSpPr txBox="1"/>
          <p:nvPr/>
        </p:nvSpPr>
        <p:spPr>
          <a:xfrm>
            <a:off x="6766560" y="3108960"/>
            <a:ext cx="164592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overall</a:t>
            </a:r>
            <a:endParaRPr lang="en-US" sz="1200" dirty="0"/>
          </a:p>
        </p:txBody>
      </p:sp>
      <p:sp>
        <p:nvSpPr>
          <p:cNvPr id="17" name="Text 15"/>
          <p:cNvSpPr txBox="1"/>
          <p:nvPr/>
        </p:nvSpPr>
        <p:spPr>
          <a:xfrm>
            <a:off x="4937760" y="3611880"/>
            <a:ext cx="3474720" cy="73152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Lowest safety scores, yet the highest overall experience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12343B"/>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786384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What students should look for</a:t>
            </a:r>
            <a:endParaRPr lang="en-US" sz="3400" dirty="0"/>
          </a:p>
        </p:txBody>
      </p:sp>
      <p:sp>
        <p:nvSpPr>
          <p:cNvPr id="3" name="Text 1"/>
          <p:cNvSpPr txBox="1"/>
          <p:nvPr/>
        </p:nvSpPr>
        <p:spPr>
          <a:xfrm>
            <a:off x="640080" y="1645920"/>
            <a:ext cx="7863840" cy="256032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FFFFFF"/>
                </a:solidFill>
                <a:latin typeface="Calibri" pitchFamily="34" charset="0"/>
                <a:ea typeface="Calibri" pitchFamily="34" charset="-122"/>
                <a:cs typeface="Calibri" pitchFamily="34" charset="-120"/>
              </a:rPr>
              <a:t>Shorter commutes, they drive the highest area ratings.</a:t>
            </a:r>
            <a:endParaRPr lang="en-US" sz="2000" dirty="0"/>
          </a:p>
          <a:p>
            <a:pPr marL="342900" indent="-342900">
              <a:spcAft>
                <a:spcPts val="1200"/>
              </a:spcAft>
              <a:buSzPct val="100000"/>
              <a:buChar char="•"/>
            </a:pPr>
            <a:r>
              <a:rPr lang="en-US" sz="2000" dirty="0">
                <a:solidFill>
                  <a:srgbClr val="FFFFFF"/>
                </a:solidFill>
                <a:latin typeface="Calibri" pitchFamily="34" charset="0"/>
                <a:ea typeface="Calibri" pitchFamily="34" charset="-122"/>
                <a:cs typeface="Calibri" pitchFamily="34" charset="-120"/>
              </a:rPr>
              <a:t>Areas near the Luas Green Line.</a:t>
            </a:r>
            <a:endParaRPr lang="en-US" sz="2000" dirty="0"/>
          </a:p>
          <a:p>
            <a:pPr marL="342900" indent="-342900">
              <a:spcAft>
                <a:spcPts val="1200"/>
              </a:spcAft>
              <a:buSzPct val="100000"/>
              <a:buChar char="•"/>
            </a:pPr>
            <a:r>
              <a:rPr lang="en-US" sz="2000" dirty="0">
                <a:solidFill>
                  <a:srgbClr val="FFFFFF"/>
                </a:solidFill>
                <a:latin typeface="Calibri" pitchFamily="34" charset="0"/>
                <a:ea typeface="Calibri" pitchFamily="34" charset="-122"/>
                <a:cs typeface="Calibri" pitchFamily="34" charset="-120"/>
              </a:rPr>
              <a:t>Easy connections if you use more than one mode.</a:t>
            </a:r>
            <a:endParaRPr lang="en-US" sz="2000" dirty="0"/>
          </a:p>
          <a:p>
            <a:pPr marL="342900" indent="-342900">
              <a:spcAft>
                <a:spcPts val="1200"/>
              </a:spcAft>
              <a:buSzPct val="100000"/>
              <a:buChar char="•"/>
            </a:pPr>
            <a:r>
              <a:rPr lang="en-US" sz="2000" dirty="0">
                <a:solidFill>
                  <a:srgbClr val="FFFFFF"/>
                </a:solidFill>
                <a:latin typeface="Calibri" pitchFamily="34" charset="0"/>
                <a:ea typeface="Calibri" pitchFamily="34" charset="-122"/>
                <a:cs typeface="Calibri" pitchFamily="34" charset="-120"/>
              </a:rPr>
              <a:t>Local safety detail, not just a general score.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F359E-7BE4-EA90-D58F-FB759CA55524}"/>
              </a:ext>
            </a:extLst>
          </p:cNvPr>
          <p:cNvSpPr>
            <a:spLocks noGrp="1"/>
          </p:cNvSpPr>
          <p:nvPr>
            <p:ph type="ctrTitle"/>
          </p:nvPr>
        </p:nvSpPr>
        <p:spPr>
          <a:xfrm>
            <a:off x="216877" y="524076"/>
            <a:ext cx="8710246" cy="358377"/>
          </a:xfrm>
        </p:spPr>
        <p:txBody>
          <a:bodyPr>
            <a:noAutofit/>
          </a:bodyPr>
          <a:lstStyle/>
          <a:p>
            <a:r>
              <a:rPr lang="en-US" sz="3200" b="1" dirty="0">
                <a:latin typeface="Times New Roman" panose="02020603050405020304" pitchFamily="18" charset="0"/>
                <a:cs typeface="Times New Roman" panose="02020603050405020304" pitchFamily="18" charset="0"/>
              </a:rPr>
              <a:t>What I Researched? </a:t>
            </a:r>
            <a:r>
              <a:rPr lang="en-US" sz="2000" b="1" dirty="0">
                <a:latin typeface="Times New Roman" panose="02020603050405020304" pitchFamily="18" charset="0"/>
                <a:cs typeface="Times New Roman" panose="02020603050405020304" pitchFamily="18" charset="0"/>
              </a:rPr>
              <a:t>– By: Santhosh Sekar Asha</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8EEDE4D-1B8A-C4AF-1DA4-BB3CC150FF7B}"/>
              </a:ext>
            </a:extLst>
          </p:cNvPr>
          <p:cNvSpPr>
            <a:spLocks noGrp="1"/>
          </p:cNvSpPr>
          <p:nvPr>
            <p:ph type="subTitle" idx="1"/>
          </p:nvPr>
        </p:nvSpPr>
        <p:spPr>
          <a:xfrm>
            <a:off x="499110" y="1249456"/>
            <a:ext cx="6863887" cy="982510"/>
          </a:xfrm>
        </p:spPr>
        <p:txBody>
          <a:bodyPr>
            <a:noAutofit/>
          </a:bodyPr>
          <a:lstStyle/>
          <a:p>
            <a:pPr algn="l"/>
            <a:r>
              <a:rPr lang="en-US" dirty="0">
                <a:latin typeface="Times New Roman" panose="02020603050405020304" pitchFamily="18" charset="0"/>
                <a:cs typeface="Times New Roman" panose="02020603050405020304" pitchFamily="18" charset="0"/>
              </a:rPr>
              <a:t> - Analyzed Housing Made Easy project – what is useful?</a:t>
            </a:r>
          </a:p>
          <a:p>
            <a:pPr algn="l"/>
            <a:endParaRPr lang="en-IN" dirty="0"/>
          </a:p>
          <a:p>
            <a:pPr algn="l"/>
            <a:r>
              <a:rPr lang="en-IN" dirty="0"/>
              <a:t>- </a:t>
            </a:r>
            <a:r>
              <a:rPr lang="en-IN" dirty="0">
                <a:latin typeface="Times New Roman" panose="02020603050405020304" pitchFamily="18" charset="0"/>
                <a:cs typeface="Times New Roman" panose="02020603050405020304" pitchFamily="18" charset="0"/>
              </a:rPr>
              <a:t>That project was developed for Baltimore, Maryland</a:t>
            </a:r>
          </a:p>
          <a:p>
            <a:pPr algn="l"/>
            <a:endParaRPr lang="en-IN" dirty="0">
              <a:latin typeface="Times New Roman" panose="02020603050405020304" pitchFamily="18" charset="0"/>
              <a:cs typeface="Times New Roman" panose="02020603050405020304" pitchFamily="18" charset="0"/>
            </a:endParaRPr>
          </a:p>
          <a:p>
            <a:pPr algn="l"/>
            <a:r>
              <a:rPr lang="en-IN" dirty="0">
                <a:latin typeface="Times New Roman" panose="02020603050405020304" pitchFamily="18" charset="0"/>
                <a:cs typeface="Times New Roman" panose="02020603050405020304" pitchFamily="18" charset="0"/>
              </a:rPr>
              <a:t> - One notable feature which could be useful for us.</a:t>
            </a:r>
          </a:p>
          <a:p>
            <a:pPr algn="l"/>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Crime record score</a:t>
            </a:r>
          </a:p>
          <a:p>
            <a:pPr algn="l"/>
            <a:r>
              <a:rPr lang="en-US" dirty="0"/>
              <a:t> </a:t>
            </a:r>
          </a:p>
        </p:txBody>
      </p:sp>
    </p:spTree>
    <p:extLst>
      <p:ext uri="{BB962C8B-B14F-4D97-AF65-F5344CB8AC3E}">
        <p14:creationId xmlns:p14="http://schemas.microsoft.com/office/powerpoint/2010/main" val="3473459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370A8E-851A-AA4C-396B-F6B6887C528C}"/>
              </a:ext>
            </a:extLst>
          </p:cNvPr>
          <p:cNvPicPr>
            <a:picLocks noChangeAspect="1"/>
          </p:cNvPicPr>
          <p:nvPr/>
        </p:nvPicPr>
        <p:blipFill>
          <a:blip r:embed="rId2"/>
          <a:stretch>
            <a:fillRect/>
          </a:stretch>
        </p:blipFill>
        <p:spPr>
          <a:xfrm>
            <a:off x="199663" y="882041"/>
            <a:ext cx="3674814" cy="2769242"/>
          </a:xfrm>
          <a:prstGeom prst="rect">
            <a:avLst/>
          </a:prstGeom>
        </p:spPr>
      </p:pic>
      <p:pic>
        <p:nvPicPr>
          <p:cNvPr id="6" name="Picture 5">
            <a:extLst>
              <a:ext uri="{FF2B5EF4-FFF2-40B4-BE49-F238E27FC236}">
                <a16:creationId xmlns:a16="http://schemas.microsoft.com/office/drawing/2014/main" id="{C34B1D4A-CA75-D724-ACEE-C3E60C3338F2}"/>
              </a:ext>
            </a:extLst>
          </p:cNvPr>
          <p:cNvPicPr>
            <a:picLocks noChangeAspect="1"/>
          </p:cNvPicPr>
          <p:nvPr/>
        </p:nvPicPr>
        <p:blipFill>
          <a:blip r:embed="rId3"/>
          <a:stretch>
            <a:fillRect/>
          </a:stretch>
        </p:blipFill>
        <p:spPr>
          <a:xfrm>
            <a:off x="3984585" y="1067764"/>
            <a:ext cx="4959751" cy="2397796"/>
          </a:xfrm>
          <a:prstGeom prst="rect">
            <a:avLst/>
          </a:prstGeom>
        </p:spPr>
      </p:pic>
      <p:sp>
        <p:nvSpPr>
          <p:cNvPr id="7" name="TextBox 6">
            <a:extLst>
              <a:ext uri="{FF2B5EF4-FFF2-40B4-BE49-F238E27FC236}">
                <a16:creationId xmlns:a16="http://schemas.microsoft.com/office/drawing/2014/main" id="{24DCF257-D267-11F0-B4B5-70CC9F0AEFA5}"/>
              </a:ext>
            </a:extLst>
          </p:cNvPr>
          <p:cNvSpPr txBox="1"/>
          <p:nvPr/>
        </p:nvSpPr>
        <p:spPr>
          <a:xfrm>
            <a:off x="1075937" y="3651283"/>
            <a:ext cx="215956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Dublin Crime dataset</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87EC638-321B-6CBD-616F-53E150264A1C}"/>
              </a:ext>
            </a:extLst>
          </p:cNvPr>
          <p:cNvSpPr txBox="1"/>
          <p:nvPr/>
        </p:nvSpPr>
        <p:spPr>
          <a:xfrm>
            <a:off x="3569673" y="3707834"/>
            <a:ext cx="44114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Vs</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5E4E045-28DD-4E81-AEF0-A0626306D940}"/>
              </a:ext>
            </a:extLst>
          </p:cNvPr>
          <p:cNvSpPr txBox="1"/>
          <p:nvPr/>
        </p:nvSpPr>
        <p:spPr>
          <a:xfrm>
            <a:off x="5370627" y="3651283"/>
            <a:ext cx="258275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Baltimore Crime Datasets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2152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5340EB-DE45-8E8B-731D-6532B98CA0A0}"/>
              </a:ext>
            </a:extLst>
          </p:cNvPr>
          <p:cNvSpPr txBox="1"/>
          <p:nvPr/>
        </p:nvSpPr>
        <p:spPr>
          <a:xfrm>
            <a:off x="251749" y="286473"/>
            <a:ext cx="3767559" cy="55399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Analysis of Tech Stack</a:t>
            </a:r>
            <a:endParaRPr lang="en-IN" sz="3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E3216E6-D263-7970-C437-49AAD83F1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0806" y="831839"/>
            <a:ext cx="1491795" cy="1491795"/>
          </a:xfrm>
          <a:prstGeom prst="rect">
            <a:avLst/>
          </a:prstGeom>
        </p:spPr>
      </p:pic>
      <p:pic>
        <p:nvPicPr>
          <p:cNvPr id="11" name="Picture 10">
            <a:extLst>
              <a:ext uri="{FF2B5EF4-FFF2-40B4-BE49-F238E27FC236}">
                <a16:creationId xmlns:a16="http://schemas.microsoft.com/office/drawing/2014/main" id="{D193611F-9BF0-810B-DC1D-03F5945C3B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766" y="1020923"/>
            <a:ext cx="1338403" cy="1302711"/>
          </a:xfrm>
          <a:prstGeom prst="rect">
            <a:avLst/>
          </a:prstGeom>
        </p:spPr>
      </p:pic>
      <p:sp>
        <p:nvSpPr>
          <p:cNvPr id="13" name="TextBox 12">
            <a:extLst>
              <a:ext uri="{FF2B5EF4-FFF2-40B4-BE49-F238E27FC236}">
                <a16:creationId xmlns:a16="http://schemas.microsoft.com/office/drawing/2014/main" id="{736969A9-2F37-7DD3-C172-2C81DD601281}"/>
              </a:ext>
            </a:extLst>
          </p:cNvPr>
          <p:cNvSpPr txBox="1"/>
          <p:nvPr/>
        </p:nvSpPr>
        <p:spPr>
          <a:xfrm>
            <a:off x="188520" y="2649335"/>
            <a:ext cx="3565002" cy="2585323"/>
          </a:xfrm>
          <a:prstGeom prst="rect">
            <a:avLst/>
          </a:prstGeom>
          <a:noFill/>
        </p:spPr>
        <p:txBody>
          <a:bodyPr wrap="square" rtlCol="0">
            <a:spAutoFit/>
          </a:bodyPr>
          <a:lstStyle/>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Used to find nearby amenities for each property</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Could not store business names – only location saved</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Max 60 results per search, one category at a time</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Needs billing account – paid at high usage</a:t>
            </a:r>
          </a:p>
          <a:p>
            <a:endParaRPr lang="en-IN" dirty="0"/>
          </a:p>
        </p:txBody>
      </p:sp>
      <p:sp>
        <p:nvSpPr>
          <p:cNvPr id="14" name="TextBox 13">
            <a:extLst>
              <a:ext uri="{FF2B5EF4-FFF2-40B4-BE49-F238E27FC236}">
                <a16:creationId xmlns:a16="http://schemas.microsoft.com/office/drawing/2014/main" id="{A6CB778E-53A3-FD07-9421-FE8EF10A2397}"/>
              </a:ext>
            </a:extLst>
          </p:cNvPr>
          <p:cNvSpPr txBox="1"/>
          <p:nvPr/>
        </p:nvSpPr>
        <p:spPr>
          <a:xfrm>
            <a:off x="705184" y="2323634"/>
            <a:ext cx="1329066" cy="276999"/>
          </a:xfrm>
          <a:prstGeom prst="rect">
            <a:avLst/>
          </a:prstGeom>
          <a:noFill/>
        </p:spPr>
        <p:txBody>
          <a:bodyPr wrap="none" rtlCol="0">
            <a:spAutoFit/>
          </a:bodyPr>
          <a:lstStyle/>
          <a:p>
            <a:r>
              <a:rPr lang="en-US" dirty="0"/>
              <a:t>Google maps API</a:t>
            </a:r>
            <a:endParaRPr lang="en-IN" dirty="0"/>
          </a:p>
        </p:txBody>
      </p:sp>
      <p:sp>
        <p:nvSpPr>
          <p:cNvPr id="15" name="TextBox 14">
            <a:extLst>
              <a:ext uri="{FF2B5EF4-FFF2-40B4-BE49-F238E27FC236}">
                <a16:creationId xmlns:a16="http://schemas.microsoft.com/office/drawing/2014/main" id="{12D82C3E-0830-BFE6-6E45-550E7069A20C}"/>
              </a:ext>
            </a:extLst>
          </p:cNvPr>
          <p:cNvSpPr txBox="1"/>
          <p:nvPr/>
        </p:nvSpPr>
        <p:spPr>
          <a:xfrm>
            <a:off x="5150887" y="2194975"/>
            <a:ext cx="1258229" cy="276999"/>
          </a:xfrm>
          <a:prstGeom prst="rect">
            <a:avLst/>
          </a:prstGeom>
          <a:noFill/>
        </p:spPr>
        <p:txBody>
          <a:bodyPr wrap="none" rtlCol="0">
            <a:spAutoFit/>
          </a:bodyPr>
          <a:lstStyle/>
          <a:p>
            <a:r>
              <a:rPr lang="en-US" dirty="0"/>
              <a:t>Open Street API</a:t>
            </a:r>
            <a:endParaRPr lang="en-IN" dirty="0"/>
          </a:p>
        </p:txBody>
      </p:sp>
      <p:sp>
        <p:nvSpPr>
          <p:cNvPr id="16" name="TextBox 15">
            <a:extLst>
              <a:ext uri="{FF2B5EF4-FFF2-40B4-BE49-F238E27FC236}">
                <a16:creationId xmlns:a16="http://schemas.microsoft.com/office/drawing/2014/main" id="{F6F98464-9864-E65B-5952-0F15778A585A}"/>
              </a:ext>
            </a:extLst>
          </p:cNvPr>
          <p:cNvSpPr txBox="1"/>
          <p:nvPr/>
        </p:nvSpPr>
        <p:spPr>
          <a:xfrm>
            <a:off x="4462247" y="2571750"/>
            <a:ext cx="3565002" cy="2308324"/>
          </a:xfrm>
          <a:prstGeom prst="rect">
            <a:avLst/>
          </a:prstGeom>
          <a:noFill/>
        </p:spPr>
        <p:txBody>
          <a:bodyPr wrap="square" rtlCol="0">
            <a:spAutoFit/>
          </a:bodyPr>
          <a:lstStyle/>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Free and open – no card, no billing risk</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Can store names – e.g. </a:t>
            </a:r>
            <a:r>
              <a:rPr lang="en-IN" i="1" dirty="0">
                <a:latin typeface="Times New Roman" panose="02020603050405020304" pitchFamily="18" charset="0"/>
                <a:cs typeface="Times New Roman" panose="02020603050405020304" pitchFamily="18" charset="0"/>
              </a:rPr>
              <a:t>"Nearby: Lidl, Tesco"</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One query gets all amenities in Dublin – no limit</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Cuisine tags help our international food feature</a:t>
            </a:r>
          </a:p>
        </p:txBody>
      </p:sp>
    </p:spTree>
    <p:extLst>
      <p:ext uri="{BB962C8B-B14F-4D97-AF65-F5344CB8AC3E}">
        <p14:creationId xmlns:p14="http://schemas.microsoft.com/office/powerpoint/2010/main" val="1089926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937C7-5753-9785-C525-3226495FB621}"/>
              </a:ext>
            </a:extLst>
          </p:cNvPr>
          <p:cNvSpPr>
            <a:spLocks noGrp="1"/>
          </p:cNvSpPr>
          <p:nvPr>
            <p:ph type="ctrTitle"/>
          </p:nvPr>
        </p:nvSpPr>
        <p:spPr>
          <a:xfrm>
            <a:off x="1207872" y="231689"/>
            <a:ext cx="6858000" cy="852616"/>
          </a:xfrm>
        </p:spPr>
        <p:txBody>
          <a:bodyPr>
            <a:normAutofit fontScale="90000"/>
          </a:bodyPr>
          <a:lstStyle/>
          <a:p>
            <a:r>
              <a:rPr lang="en-US" dirty="0">
                <a:latin typeface="Times New Roman" panose="02020603050405020304" pitchFamily="18" charset="0"/>
                <a:cs typeface="Times New Roman" panose="02020603050405020304" pitchFamily="18" charset="0"/>
              </a:rPr>
              <a:t>Data Collection </a:t>
            </a:r>
            <a:r>
              <a:rPr lang="en-US" sz="2200" dirty="0">
                <a:latin typeface="Times New Roman" panose="02020603050405020304" pitchFamily="18" charset="0"/>
                <a:cs typeface="Times New Roman" panose="02020603050405020304" pitchFamily="18" charset="0"/>
              </a:rPr>
              <a:t>– By: </a:t>
            </a:r>
            <a:r>
              <a:rPr lang="en-US" sz="2200" dirty="0" err="1">
                <a:latin typeface="Times New Roman" panose="02020603050405020304" pitchFamily="18" charset="0"/>
                <a:cs typeface="Times New Roman" panose="02020603050405020304" pitchFamily="18" charset="0"/>
              </a:rPr>
              <a:t>Vikneshwaran</a:t>
            </a:r>
            <a:r>
              <a:rPr lang="en-US" sz="2200" dirty="0">
                <a:latin typeface="Times New Roman" panose="02020603050405020304" pitchFamily="18" charset="0"/>
                <a:cs typeface="Times New Roman" panose="02020603050405020304" pitchFamily="18" charset="0"/>
              </a:rPr>
              <a:t> Venkatesh</a:t>
            </a:r>
          </a:p>
        </p:txBody>
      </p:sp>
      <p:sp>
        <p:nvSpPr>
          <p:cNvPr id="3" name="Subtitle 2">
            <a:extLst>
              <a:ext uri="{FF2B5EF4-FFF2-40B4-BE49-F238E27FC236}">
                <a16:creationId xmlns:a16="http://schemas.microsoft.com/office/drawing/2014/main" id="{8B074AF5-B889-A9E6-BA0D-EF7AB5706910}"/>
              </a:ext>
            </a:extLst>
          </p:cNvPr>
          <p:cNvSpPr>
            <a:spLocks noGrp="1"/>
          </p:cNvSpPr>
          <p:nvPr>
            <p:ph type="subTitle" idx="1"/>
          </p:nvPr>
        </p:nvSpPr>
        <p:spPr>
          <a:xfrm>
            <a:off x="1143000" y="1214051"/>
            <a:ext cx="6858000" cy="2729298"/>
          </a:xfrm>
        </p:spPr>
        <p:txBody>
          <a:bodyPr/>
          <a:lstStyle/>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My task this week was to collect data to build the prototype</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 collected 4 main data </a:t>
            </a: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Rent</a:t>
            </a: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Commute</a:t>
            </a: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Amenities</a:t>
            </a:r>
          </a:p>
          <a:p>
            <a:pPr marL="800100" lvl="1"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CSO Census</a:t>
            </a:r>
          </a:p>
        </p:txBody>
      </p:sp>
    </p:spTree>
    <p:extLst>
      <p:ext uri="{BB962C8B-B14F-4D97-AF65-F5344CB8AC3E}">
        <p14:creationId xmlns:p14="http://schemas.microsoft.com/office/powerpoint/2010/main" val="500426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5B850-03D9-CF6B-2E19-4AC15E228D9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RENT</a:t>
            </a:r>
          </a:p>
        </p:txBody>
      </p:sp>
      <p:sp>
        <p:nvSpPr>
          <p:cNvPr id="3" name="Content Placeholder 2">
            <a:extLst>
              <a:ext uri="{FF2B5EF4-FFF2-40B4-BE49-F238E27FC236}">
                <a16:creationId xmlns:a16="http://schemas.microsoft.com/office/drawing/2014/main" id="{83B4D80D-A4E7-3D51-17F2-25FF2154D40E}"/>
              </a:ext>
            </a:extLst>
          </p:cNvPr>
          <p:cNvSpPr>
            <a:spLocks noGrp="1"/>
          </p:cNvSpPr>
          <p:nvPr>
            <p:ph sz="half" idx="1"/>
          </p:nvPr>
        </p:nvSpPr>
        <p:spPr/>
        <p:txBody>
          <a:bodyPr/>
          <a:lstStyle/>
          <a:p>
            <a:r>
              <a:rPr lang="en-US" dirty="0">
                <a:latin typeface="Times New Roman" panose="02020603050405020304" pitchFamily="18" charset="0"/>
                <a:cs typeface="Times New Roman" panose="02020603050405020304" pitchFamily="18" charset="0"/>
              </a:rPr>
              <a:t>I used RTB dataset to collect 1 </a:t>
            </a:r>
            <a:r>
              <a:rPr lang="en-US" dirty="0" err="1">
                <a:latin typeface="Times New Roman" panose="02020603050405020304" pitchFamily="18" charset="0"/>
                <a:cs typeface="Times New Roman" panose="02020603050405020304" pitchFamily="18" charset="0"/>
              </a:rPr>
              <a:t>bhk</a:t>
            </a:r>
            <a:r>
              <a:rPr lang="en-US" dirty="0">
                <a:latin typeface="Times New Roman" panose="02020603050405020304" pitchFamily="18" charset="0"/>
                <a:cs typeface="Times New Roman" panose="02020603050405020304" pitchFamily="18" charset="0"/>
              </a:rPr>
              <a:t>, 2 </a:t>
            </a:r>
            <a:r>
              <a:rPr lang="en-US" dirty="0" err="1">
                <a:latin typeface="Times New Roman" panose="02020603050405020304" pitchFamily="18" charset="0"/>
                <a:cs typeface="Times New Roman" panose="02020603050405020304" pitchFamily="18" charset="0"/>
              </a:rPr>
              <a:t>bhk</a:t>
            </a:r>
            <a:r>
              <a:rPr lang="en-US" dirty="0">
                <a:latin typeface="Times New Roman" panose="02020603050405020304" pitchFamily="18" charset="0"/>
                <a:cs typeface="Times New Roman" panose="02020603050405020304" pitchFamily="18" charset="0"/>
              </a:rPr>
              <a:t>, 3 </a:t>
            </a:r>
            <a:r>
              <a:rPr lang="en-US" dirty="0" err="1">
                <a:latin typeface="Times New Roman" panose="02020603050405020304" pitchFamily="18" charset="0"/>
                <a:cs typeface="Times New Roman" panose="02020603050405020304" pitchFamily="18" charset="0"/>
              </a:rPr>
              <a:t>bhk</a:t>
            </a:r>
            <a:r>
              <a:rPr lang="en-US" dirty="0">
                <a:latin typeface="Times New Roman" panose="02020603050405020304" pitchFamily="18" charset="0"/>
                <a:cs typeface="Times New Roman" panose="02020603050405020304" pitchFamily="18" charset="0"/>
              </a:rPr>
              <a:t> apartment type rents from D1 to D24.</a:t>
            </a:r>
          </a:p>
          <a:p>
            <a:r>
              <a:rPr lang="en-US" dirty="0">
                <a:latin typeface="Times New Roman" panose="02020603050405020304" pitchFamily="18" charset="0"/>
                <a:cs typeface="Times New Roman" panose="02020603050405020304" pitchFamily="18" charset="0"/>
              </a:rPr>
              <a:t>Then I used </a:t>
            </a:r>
            <a:r>
              <a:rPr lang="en-US" dirty="0" err="1">
                <a:latin typeface="Times New Roman" panose="02020603050405020304" pitchFamily="18" charset="0"/>
                <a:cs typeface="Times New Roman" panose="02020603050405020304" pitchFamily="18" charset="0"/>
              </a:rPr>
              <a:t>daft.ie</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rent.ie</a:t>
            </a:r>
            <a:r>
              <a:rPr lang="en-US" dirty="0">
                <a:latin typeface="Times New Roman" panose="02020603050405020304" pitchFamily="18" charset="0"/>
                <a:cs typeface="Times New Roman" panose="02020603050405020304" pitchFamily="18" charset="0"/>
              </a:rPr>
              <a:t> to collect single sharing and double sharing room rents from D1 to D3.</a:t>
            </a:r>
          </a:p>
        </p:txBody>
      </p:sp>
      <p:pic>
        <p:nvPicPr>
          <p:cNvPr id="6" name="Content Placeholder 5">
            <a:extLst>
              <a:ext uri="{FF2B5EF4-FFF2-40B4-BE49-F238E27FC236}">
                <a16:creationId xmlns:a16="http://schemas.microsoft.com/office/drawing/2014/main" id="{A46B9089-EF73-CCFE-147F-025E460E6057}"/>
              </a:ext>
            </a:extLst>
          </p:cNvPr>
          <p:cNvPicPr>
            <a:picLocks noGrp="1" noChangeAspect="1"/>
          </p:cNvPicPr>
          <p:nvPr>
            <p:ph sz="half" idx="2"/>
          </p:nvPr>
        </p:nvPicPr>
        <p:blipFill>
          <a:blip r:embed="rId2"/>
          <a:stretch>
            <a:fillRect/>
          </a:stretch>
        </p:blipFill>
        <p:spPr>
          <a:xfrm>
            <a:off x="4514850" y="1479555"/>
            <a:ext cx="4157217" cy="1197156"/>
          </a:xfrm>
        </p:spPr>
      </p:pic>
      <p:pic>
        <p:nvPicPr>
          <p:cNvPr id="8" name="Picture 7">
            <a:extLst>
              <a:ext uri="{FF2B5EF4-FFF2-40B4-BE49-F238E27FC236}">
                <a16:creationId xmlns:a16="http://schemas.microsoft.com/office/drawing/2014/main" id="{03BC1E67-454E-0BC2-973E-1E24506D8954}"/>
              </a:ext>
            </a:extLst>
          </p:cNvPr>
          <p:cNvPicPr>
            <a:picLocks noChangeAspect="1"/>
          </p:cNvPicPr>
          <p:nvPr/>
        </p:nvPicPr>
        <p:blipFill>
          <a:blip r:embed="rId3"/>
          <a:stretch>
            <a:fillRect/>
          </a:stretch>
        </p:blipFill>
        <p:spPr>
          <a:xfrm>
            <a:off x="4572000" y="127176"/>
            <a:ext cx="3992262" cy="1287504"/>
          </a:xfrm>
          <a:prstGeom prst="rect">
            <a:avLst/>
          </a:prstGeom>
        </p:spPr>
      </p:pic>
      <p:pic>
        <p:nvPicPr>
          <p:cNvPr id="10" name="Picture 9">
            <a:extLst>
              <a:ext uri="{FF2B5EF4-FFF2-40B4-BE49-F238E27FC236}">
                <a16:creationId xmlns:a16="http://schemas.microsoft.com/office/drawing/2014/main" id="{5E04763C-EFA3-4B4E-A69F-C648265C7873}"/>
              </a:ext>
            </a:extLst>
          </p:cNvPr>
          <p:cNvPicPr>
            <a:picLocks noChangeAspect="1"/>
          </p:cNvPicPr>
          <p:nvPr/>
        </p:nvPicPr>
        <p:blipFill>
          <a:blip r:embed="rId4"/>
          <a:stretch>
            <a:fillRect/>
          </a:stretch>
        </p:blipFill>
        <p:spPr>
          <a:xfrm>
            <a:off x="5772277" y="2693122"/>
            <a:ext cx="1892000" cy="2323200"/>
          </a:xfrm>
          <a:prstGeom prst="rect">
            <a:avLst/>
          </a:prstGeom>
        </p:spPr>
      </p:pic>
    </p:spTree>
    <p:extLst>
      <p:ext uri="{BB962C8B-B14F-4D97-AF65-F5344CB8AC3E}">
        <p14:creationId xmlns:p14="http://schemas.microsoft.com/office/powerpoint/2010/main" val="1900685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BB0B-4D68-E09C-F066-9C062CF78D3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COMMUTE</a:t>
            </a:r>
          </a:p>
        </p:txBody>
      </p:sp>
      <p:sp>
        <p:nvSpPr>
          <p:cNvPr id="3" name="Content Placeholder 2">
            <a:extLst>
              <a:ext uri="{FF2B5EF4-FFF2-40B4-BE49-F238E27FC236}">
                <a16:creationId xmlns:a16="http://schemas.microsoft.com/office/drawing/2014/main" id="{DAC7A7A9-7BAE-7C9C-AD6C-50E9D0EBCF06}"/>
              </a:ext>
            </a:extLst>
          </p:cNvPr>
          <p:cNvSpPr>
            <a:spLocks noGrp="1"/>
          </p:cNvSpPr>
          <p:nvPr>
            <p:ph sz="half" idx="1"/>
          </p:nvPr>
        </p:nvSpPr>
        <p:spPr/>
        <p:txBody>
          <a:bodyPr>
            <a:normAutofit fontScale="92500"/>
          </a:bodyPr>
          <a:lstStyle/>
          <a:p>
            <a:r>
              <a:rPr lang="en-IN" dirty="0">
                <a:latin typeface="Times New Roman" panose="02020603050405020304" pitchFamily="18" charset="0"/>
                <a:cs typeface="Times New Roman" panose="02020603050405020304" pitchFamily="18" charset="0"/>
              </a:rPr>
              <a:t>I used Google Maps to investigate travel times from D1 to D24.</a:t>
            </a:r>
          </a:p>
          <a:p>
            <a:r>
              <a:rPr lang="en-IN" dirty="0">
                <a:latin typeface="Times New Roman" panose="02020603050405020304" pitchFamily="18" charset="0"/>
                <a:cs typeface="Times New Roman" panose="02020603050405020304" pitchFamily="18" charset="0"/>
              </a:rPr>
              <a:t>Recorded travel time and distance by public transport between Dublin areas and university campuses. (Only TUD </a:t>
            </a:r>
            <a:r>
              <a:rPr lang="en-IN" dirty="0" err="1">
                <a:latin typeface="Times New Roman" panose="02020603050405020304" pitchFamily="18" charset="0"/>
                <a:cs typeface="Times New Roman" panose="02020603050405020304" pitchFamily="18" charset="0"/>
              </a:rPr>
              <a:t>grangegorman</a:t>
            </a:r>
            <a:r>
              <a:rPr lang="en-IN" dirty="0">
                <a:latin typeface="Times New Roman" panose="02020603050405020304" pitchFamily="18" charset="0"/>
                <a:cs typeface="Times New Roman" panose="02020603050405020304" pitchFamily="18" charset="0"/>
              </a:rPr>
              <a:t> campus data is taken for the implementation)</a:t>
            </a:r>
          </a:p>
          <a:p>
            <a:r>
              <a:rPr lang="en-IN" dirty="0">
                <a:latin typeface="Times New Roman" panose="02020603050405020304" pitchFamily="18" charset="0"/>
                <a:cs typeface="Times New Roman" panose="02020603050405020304" pitchFamily="18" charset="0"/>
              </a:rPr>
              <a:t>Commute time will be used as a recommendation factor</a:t>
            </a:r>
            <a:endParaRPr lang="en-US"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304CDA2C-E550-7E68-DFC5-24945DFFA432}"/>
              </a:ext>
            </a:extLst>
          </p:cNvPr>
          <p:cNvPicPr>
            <a:picLocks noGrp="1" noChangeAspect="1"/>
          </p:cNvPicPr>
          <p:nvPr>
            <p:ph sz="half" idx="2"/>
          </p:nvPr>
        </p:nvPicPr>
        <p:blipFill>
          <a:blip r:embed="rId2"/>
          <a:stretch>
            <a:fillRect/>
          </a:stretch>
        </p:blipFill>
        <p:spPr>
          <a:xfrm>
            <a:off x="4757109" y="770929"/>
            <a:ext cx="4157870" cy="3835711"/>
          </a:xfrm>
        </p:spPr>
      </p:pic>
    </p:spTree>
    <p:extLst>
      <p:ext uri="{BB962C8B-B14F-4D97-AF65-F5344CB8AC3E}">
        <p14:creationId xmlns:p14="http://schemas.microsoft.com/office/powerpoint/2010/main" val="1487205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2A8AB-B8EC-140E-4754-91A46E30995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AMENITIES</a:t>
            </a:r>
          </a:p>
        </p:txBody>
      </p:sp>
      <p:sp>
        <p:nvSpPr>
          <p:cNvPr id="3" name="Content Placeholder 2">
            <a:extLst>
              <a:ext uri="{FF2B5EF4-FFF2-40B4-BE49-F238E27FC236}">
                <a16:creationId xmlns:a16="http://schemas.microsoft.com/office/drawing/2014/main" id="{EEFA3CC2-EE6D-DEA8-2837-83373ACB567C}"/>
              </a:ext>
            </a:extLst>
          </p:cNvPr>
          <p:cNvSpPr>
            <a:spLocks noGrp="1"/>
          </p:cNvSpPr>
          <p:nvPr>
            <p:ph sz="half"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I used </a:t>
            </a:r>
            <a:r>
              <a:rPr lang="en-IN" dirty="0">
                <a:latin typeface="Times New Roman" panose="02020603050405020304" pitchFamily="18" charset="0"/>
                <a:cs typeface="Times New Roman" panose="02020603050405020304" pitchFamily="18" charset="0"/>
              </a:rPr>
              <a:t>OpenStreetMap + Overpass API to scrap amenities in D1 to D3 like:</a:t>
            </a:r>
          </a:p>
          <a:p>
            <a:pPr lvl="1"/>
            <a:r>
              <a:rPr lang="en-IN" dirty="0">
                <a:latin typeface="Times New Roman" panose="02020603050405020304" pitchFamily="18" charset="0"/>
                <a:cs typeface="Times New Roman" panose="02020603050405020304" pitchFamily="18" charset="0"/>
              </a:rPr>
              <a:t>Supermarkets &amp; groceries</a:t>
            </a:r>
          </a:p>
          <a:p>
            <a:pPr lvl="1"/>
            <a:r>
              <a:rPr lang="en-IN" dirty="0">
                <a:latin typeface="Times New Roman" panose="02020603050405020304" pitchFamily="18" charset="0"/>
                <a:cs typeface="Times New Roman" panose="02020603050405020304" pitchFamily="18" charset="0"/>
              </a:rPr>
              <a:t>Cafes</a:t>
            </a:r>
          </a:p>
          <a:p>
            <a:pPr lvl="1"/>
            <a:r>
              <a:rPr lang="en-IN" dirty="0">
                <a:latin typeface="Times New Roman" panose="02020603050405020304" pitchFamily="18" charset="0"/>
                <a:cs typeface="Times New Roman" panose="02020603050405020304" pitchFamily="18" charset="0"/>
              </a:rPr>
              <a:t>Restaurants</a:t>
            </a:r>
          </a:p>
          <a:p>
            <a:pPr lvl="1"/>
            <a:r>
              <a:rPr lang="en-IN" dirty="0">
                <a:latin typeface="Times New Roman" panose="02020603050405020304" pitchFamily="18" charset="0"/>
                <a:cs typeface="Times New Roman" panose="02020603050405020304" pitchFamily="18" charset="0"/>
              </a:rPr>
              <a:t>Asian restaurants</a:t>
            </a:r>
          </a:p>
          <a:p>
            <a:pPr lvl="1"/>
            <a:r>
              <a:rPr lang="en-IN" dirty="0">
                <a:latin typeface="Times New Roman" panose="02020603050405020304" pitchFamily="18" charset="0"/>
                <a:cs typeface="Times New Roman" panose="02020603050405020304" pitchFamily="18" charset="0"/>
              </a:rPr>
              <a:t>Gyms</a:t>
            </a:r>
          </a:p>
          <a:p>
            <a:pPr lvl="1"/>
            <a:r>
              <a:rPr lang="en-IN" dirty="0">
                <a:latin typeface="Times New Roman" panose="02020603050405020304" pitchFamily="18" charset="0"/>
                <a:cs typeface="Times New Roman" panose="02020603050405020304" pitchFamily="18" charset="0"/>
              </a:rPr>
              <a:t>Parks</a:t>
            </a:r>
          </a:p>
          <a:p>
            <a:pPr lvl="1"/>
            <a:r>
              <a:rPr lang="en-IN" dirty="0">
                <a:latin typeface="Times New Roman" panose="02020603050405020304" pitchFamily="18" charset="0"/>
                <a:cs typeface="Times New Roman" panose="02020603050405020304" pitchFamily="18" charset="0"/>
              </a:rPr>
              <a:t>Pharmacies</a:t>
            </a:r>
          </a:p>
          <a:p>
            <a:pPr lvl="1"/>
            <a:r>
              <a:rPr lang="en-IN" dirty="0">
                <a:latin typeface="Times New Roman" panose="02020603050405020304" pitchFamily="18" charset="0"/>
                <a:cs typeface="Times New Roman" panose="02020603050405020304" pitchFamily="18" charset="0"/>
              </a:rPr>
              <a:t>Hospitals</a:t>
            </a:r>
          </a:p>
          <a:p>
            <a:pPr lvl="1"/>
            <a:r>
              <a:rPr lang="en-IN" dirty="0">
                <a:latin typeface="Times New Roman" panose="02020603050405020304" pitchFamily="18" charset="0"/>
                <a:cs typeface="Times New Roman" panose="02020603050405020304" pitchFamily="18" charset="0"/>
              </a:rPr>
              <a:t>Shopping malls</a:t>
            </a:r>
            <a:endParaRPr lang="en-US"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280A23F3-59D0-43C6-3A71-BDF4773284C4}"/>
              </a:ext>
            </a:extLst>
          </p:cNvPr>
          <p:cNvPicPr>
            <a:picLocks noGrp="1" noChangeAspect="1"/>
          </p:cNvPicPr>
          <p:nvPr>
            <p:ph sz="half" idx="2"/>
          </p:nvPr>
        </p:nvPicPr>
        <p:blipFill>
          <a:blip r:embed="rId2"/>
          <a:stretch>
            <a:fillRect/>
          </a:stretch>
        </p:blipFill>
        <p:spPr>
          <a:xfrm>
            <a:off x="4839987" y="104647"/>
            <a:ext cx="3886200" cy="1713162"/>
          </a:xfrm>
        </p:spPr>
      </p:pic>
      <p:pic>
        <p:nvPicPr>
          <p:cNvPr id="8" name="Picture 7">
            <a:extLst>
              <a:ext uri="{FF2B5EF4-FFF2-40B4-BE49-F238E27FC236}">
                <a16:creationId xmlns:a16="http://schemas.microsoft.com/office/drawing/2014/main" id="{B977C64D-4AC2-0850-06D6-F1ABDBD74811}"/>
              </a:ext>
            </a:extLst>
          </p:cNvPr>
          <p:cNvPicPr>
            <a:picLocks noChangeAspect="1"/>
          </p:cNvPicPr>
          <p:nvPr/>
        </p:nvPicPr>
        <p:blipFill>
          <a:blip r:embed="rId3"/>
          <a:stretch>
            <a:fillRect/>
          </a:stretch>
        </p:blipFill>
        <p:spPr>
          <a:xfrm>
            <a:off x="4022123" y="2468184"/>
            <a:ext cx="5030754" cy="1751447"/>
          </a:xfrm>
          <a:prstGeom prst="rect">
            <a:avLst/>
          </a:prstGeom>
        </p:spPr>
      </p:pic>
      <p:pic>
        <p:nvPicPr>
          <p:cNvPr id="10" name="Picture 9">
            <a:extLst>
              <a:ext uri="{FF2B5EF4-FFF2-40B4-BE49-F238E27FC236}">
                <a16:creationId xmlns:a16="http://schemas.microsoft.com/office/drawing/2014/main" id="{72033DF6-AE6D-E839-79E7-59883F392B18}"/>
              </a:ext>
            </a:extLst>
          </p:cNvPr>
          <p:cNvPicPr>
            <a:picLocks noChangeAspect="1"/>
          </p:cNvPicPr>
          <p:nvPr/>
        </p:nvPicPr>
        <p:blipFill>
          <a:blip r:embed="rId4"/>
          <a:stretch>
            <a:fillRect/>
          </a:stretch>
        </p:blipFill>
        <p:spPr>
          <a:xfrm>
            <a:off x="4008221" y="1870234"/>
            <a:ext cx="5135778" cy="615785"/>
          </a:xfrm>
          <a:prstGeom prst="rect">
            <a:avLst/>
          </a:prstGeom>
        </p:spPr>
      </p:pic>
      <p:pic>
        <p:nvPicPr>
          <p:cNvPr id="12" name="Picture 11">
            <a:extLst>
              <a:ext uri="{FF2B5EF4-FFF2-40B4-BE49-F238E27FC236}">
                <a16:creationId xmlns:a16="http://schemas.microsoft.com/office/drawing/2014/main" id="{54D5D605-B0EA-E011-8C51-8A9510C2DA27}"/>
              </a:ext>
            </a:extLst>
          </p:cNvPr>
          <p:cNvPicPr>
            <a:picLocks noChangeAspect="1"/>
          </p:cNvPicPr>
          <p:nvPr/>
        </p:nvPicPr>
        <p:blipFill>
          <a:blip r:embed="rId5"/>
          <a:stretch>
            <a:fillRect/>
          </a:stretch>
        </p:blipFill>
        <p:spPr>
          <a:xfrm>
            <a:off x="3535732" y="4270233"/>
            <a:ext cx="5622169" cy="599422"/>
          </a:xfrm>
          <a:prstGeom prst="rect">
            <a:avLst/>
          </a:prstGeom>
        </p:spPr>
      </p:pic>
    </p:spTree>
    <p:extLst>
      <p:ext uri="{BB962C8B-B14F-4D97-AF65-F5344CB8AC3E}">
        <p14:creationId xmlns:p14="http://schemas.microsoft.com/office/powerpoint/2010/main" val="2065680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D908F-039E-B19B-575D-A5C423D06BD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CSO CENSUS </a:t>
            </a:r>
          </a:p>
        </p:txBody>
      </p:sp>
      <p:sp>
        <p:nvSpPr>
          <p:cNvPr id="3" name="Content Placeholder 2">
            <a:extLst>
              <a:ext uri="{FF2B5EF4-FFF2-40B4-BE49-F238E27FC236}">
                <a16:creationId xmlns:a16="http://schemas.microsoft.com/office/drawing/2014/main" id="{C3CEAA92-1713-BA87-A2B4-5F7605A39334}"/>
              </a:ext>
            </a:extLst>
          </p:cNvPr>
          <p:cNvSpPr>
            <a:spLocks noGrp="1"/>
          </p:cNvSpPr>
          <p:nvPr>
            <p:ph sz="half" idx="1"/>
          </p:nvPr>
        </p:nvSpPr>
        <p:spPr/>
        <p:txBody>
          <a:bodyPr/>
          <a:lstStyle/>
          <a:p>
            <a:r>
              <a:rPr lang="en-IN" dirty="0">
                <a:latin typeface="Times New Roman" panose="02020603050405020304" pitchFamily="18" charset="0"/>
                <a:cs typeface="Times New Roman" panose="02020603050405020304" pitchFamily="18" charset="0"/>
              </a:rPr>
              <a:t>Collected:</a:t>
            </a:r>
          </a:p>
          <a:p>
            <a:pPr lvl="1"/>
            <a:r>
              <a:rPr lang="en-IN" dirty="0">
                <a:latin typeface="Times New Roman" panose="02020603050405020304" pitchFamily="18" charset="0"/>
                <a:cs typeface="Times New Roman" panose="02020603050405020304" pitchFamily="18" charset="0"/>
              </a:rPr>
              <a:t>Population</a:t>
            </a:r>
          </a:p>
          <a:p>
            <a:pPr lvl="1"/>
            <a:r>
              <a:rPr lang="en-IN" dirty="0">
                <a:latin typeface="Times New Roman" panose="02020603050405020304" pitchFamily="18" charset="0"/>
                <a:cs typeface="Times New Roman" panose="02020603050405020304" pitchFamily="18" charset="0"/>
              </a:rPr>
              <a:t>Age 20–29</a:t>
            </a:r>
          </a:p>
          <a:p>
            <a:pPr lvl="1"/>
            <a:r>
              <a:rPr lang="en-IN" dirty="0">
                <a:latin typeface="Times New Roman" panose="02020603050405020304" pitchFamily="18" charset="0"/>
                <a:cs typeface="Times New Roman" panose="02020603050405020304" pitchFamily="18" charset="0"/>
              </a:rPr>
              <a:t>Student population</a:t>
            </a:r>
          </a:p>
          <a:p>
            <a:pPr lvl="1"/>
            <a:r>
              <a:rPr lang="en-IN" dirty="0">
                <a:latin typeface="Times New Roman" panose="02020603050405020304" pitchFamily="18" charset="0"/>
                <a:cs typeface="Times New Roman" panose="02020603050405020304" pitchFamily="18" charset="0"/>
              </a:rPr>
              <a:t>Ethnicity/community profile</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39A3F8DB-5988-F22C-B963-10BBCD914622}"/>
              </a:ext>
            </a:extLst>
          </p:cNvPr>
          <p:cNvPicPr>
            <a:picLocks noGrp="1" noChangeAspect="1"/>
          </p:cNvPicPr>
          <p:nvPr>
            <p:ph sz="half" idx="2"/>
          </p:nvPr>
        </p:nvPicPr>
        <p:blipFill>
          <a:blip r:embed="rId2"/>
          <a:stretch>
            <a:fillRect/>
          </a:stretch>
        </p:blipFill>
        <p:spPr>
          <a:xfrm>
            <a:off x="4711013" y="766827"/>
            <a:ext cx="3537121" cy="3746950"/>
          </a:xfrm>
        </p:spPr>
      </p:pic>
    </p:spTree>
    <p:extLst>
      <p:ext uri="{BB962C8B-B14F-4D97-AF65-F5344CB8AC3E}">
        <p14:creationId xmlns:p14="http://schemas.microsoft.com/office/powerpoint/2010/main" val="3508649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058B6-9397-17B5-B066-750ECF76CB2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FOR NEXT WEEK……</a:t>
            </a:r>
          </a:p>
        </p:txBody>
      </p:sp>
      <p:sp>
        <p:nvSpPr>
          <p:cNvPr id="3" name="Content Placeholder 2">
            <a:extLst>
              <a:ext uri="{FF2B5EF4-FFF2-40B4-BE49-F238E27FC236}">
                <a16:creationId xmlns:a16="http://schemas.microsoft.com/office/drawing/2014/main" id="{5BA88CD2-754B-04FF-5375-A065CBA6F80B}"/>
              </a:ext>
            </a:extLst>
          </p:cNvPr>
          <p:cNvSpPr>
            <a:spLocks noGrp="1"/>
          </p:cNvSpPr>
          <p:nvPr>
            <p:ph idx="1"/>
          </p:nvPr>
        </p:nvSpPr>
        <p:spPr/>
        <p:txBody>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Complete Rent Data</a:t>
            </a:r>
          </a:p>
          <a:p>
            <a:pPr lvl="1"/>
            <a:r>
              <a:rPr lang="en-IN" dirty="0">
                <a:latin typeface="Times New Roman" panose="02020603050405020304" pitchFamily="18" charset="0"/>
                <a:cs typeface="Times New Roman" panose="02020603050405020304" pitchFamily="18" charset="0"/>
              </a:rPr>
              <a:t>Collect rent data for the remaining Dublin areas</a:t>
            </a:r>
          </a:p>
          <a:p>
            <a:pPr lvl="1"/>
            <a:r>
              <a:rPr lang="en-IN" dirty="0">
                <a:latin typeface="Times New Roman" panose="02020603050405020304" pitchFamily="18" charset="0"/>
                <a:cs typeface="Times New Roman" panose="02020603050405020304" pitchFamily="18" charset="0"/>
              </a:rPr>
              <a:t>Continue collecting single, double and shared-room rents</a:t>
            </a:r>
          </a:p>
          <a:p>
            <a:pPr lvl="1"/>
            <a:r>
              <a:rPr lang="en-IN" dirty="0">
                <a:latin typeface="Times New Roman" panose="02020603050405020304" pitchFamily="18" charset="0"/>
                <a:cs typeface="Times New Roman" panose="02020603050405020304" pitchFamily="18" charset="0"/>
              </a:rPr>
              <a:t>Collect student accommodation rents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Complete Area Amenities</a:t>
            </a:r>
          </a:p>
          <a:p>
            <a:pPr lvl="1"/>
            <a:r>
              <a:rPr lang="en-IN" dirty="0">
                <a:latin typeface="Times New Roman" panose="02020603050405020304" pitchFamily="18" charset="0"/>
                <a:cs typeface="Times New Roman" panose="02020603050405020304" pitchFamily="18" charset="0"/>
              </a:rPr>
              <a:t>Collect OSM amenity data for D4 TO D24</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Complete Commute Data</a:t>
            </a:r>
          </a:p>
          <a:p>
            <a:pPr lvl="1"/>
            <a:r>
              <a:rPr lang="en-IN" dirty="0">
                <a:latin typeface="Times New Roman" panose="02020603050405020304" pitchFamily="18" charset="0"/>
                <a:cs typeface="Times New Roman" panose="02020603050405020304" pitchFamily="18" charset="0"/>
              </a:rPr>
              <a:t>Include major Dublin universities</a:t>
            </a:r>
          </a:p>
          <a:p>
            <a:pPr marL="457200" lvl="1" indent="0">
              <a:buNone/>
            </a:pP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528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63659" y="274320"/>
            <a:ext cx="7955280" cy="484748"/>
          </a:xfrm>
          <a:prstGeom prst="rect">
            <a:avLst/>
          </a:prstGeom>
          <a:noFill/>
        </p:spPr>
        <p:txBody>
          <a:bodyPr wrap="square">
            <a:spAutoFit/>
          </a:bodyPr>
          <a:lstStyle/>
          <a:p>
            <a:pPr algn="ctr"/>
            <a:r>
              <a:rPr lang="en-IN" sz="2550" b="1" dirty="0">
                <a:solidFill>
                  <a:srgbClr val="191919"/>
                </a:solidFill>
                <a:latin typeface="Times New Roman"/>
              </a:rPr>
              <a:t>Frontend Prototype using Figma </a:t>
            </a:r>
          </a:p>
        </p:txBody>
      </p:sp>
      <p:pic>
        <p:nvPicPr>
          <p:cNvPr id="13" name="Picture 12">
            <a:extLst>
              <a:ext uri="{FF2B5EF4-FFF2-40B4-BE49-F238E27FC236}">
                <a16:creationId xmlns:a16="http://schemas.microsoft.com/office/drawing/2014/main" id="{B7EF74AE-B6C2-440F-C1CD-7A6C6ED1E6CC}"/>
              </a:ext>
            </a:extLst>
          </p:cNvPr>
          <p:cNvPicPr>
            <a:picLocks noChangeAspect="1"/>
          </p:cNvPicPr>
          <p:nvPr/>
        </p:nvPicPr>
        <p:blipFill>
          <a:blip r:embed="rId2"/>
          <a:stretch>
            <a:fillRect/>
          </a:stretch>
        </p:blipFill>
        <p:spPr>
          <a:xfrm>
            <a:off x="1210293" y="1187708"/>
            <a:ext cx="6723413" cy="3351011"/>
          </a:xfrm>
          <a:prstGeom prst="rect">
            <a:avLst/>
          </a:prstGeom>
        </p:spPr>
      </p:pic>
      <p:sp>
        <p:nvSpPr>
          <p:cNvPr id="15" name="Rectangle 14">
            <a:extLst>
              <a:ext uri="{FF2B5EF4-FFF2-40B4-BE49-F238E27FC236}">
                <a16:creationId xmlns:a16="http://schemas.microsoft.com/office/drawing/2014/main" id="{9AE01A6D-4E66-6B46-68B5-39F7870C51A3}"/>
              </a:ext>
            </a:extLst>
          </p:cNvPr>
          <p:cNvSpPr/>
          <p:nvPr/>
        </p:nvSpPr>
        <p:spPr>
          <a:xfrm>
            <a:off x="1210292" y="1187708"/>
            <a:ext cx="6723413" cy="3351011"/>
          </a:xfrm>
          <a:prstGeom prst="rect">
            <a:avLst/>
          </a:prstGeom>
          <a:noFill/>
          <a:ln w="635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B6AC58F-1F65-C85B-C4C7-A990DA2E7440}"/>
              </a:ext>
            </a:extLst>
          </p:cNvPr>
          <p:cNvSpPr txBox="1"/>
          <p:nvPr/>
        </p:nvSpPr>
        <p:spPr>
          <a:xfrm>
            <a:off x="2872152" y="759068"/>
            <a:ext cx="3399692"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By: Sowmiya Madhan Kumar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D9FC4EC0-EECE-238B-391D-E5A6D7047AF9}"/>
              </a:ext>
            </a:extLst>
          </p:cNvPr>
          <p:cNvSpPr txBox="1"/>
          <p:nvPr/>
        </p:nvSpPr>
        <p:spPr>
          <a:xfrm>
            <a:off x="345881" y="467118"/>
            <a:ext cx="1989546" cy="947820"/>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Simple Explanation for Users:</a:t>
            </a:r>
          </a:p>
        </p:txBody>
      </p:sp>
      <p:pic>
        <p:nvPicPr>
          <p:cNvPr id="18" name="Picture 17">
            <a:extLst>
              <a:ext uri="{FF2B5EF4-FFF2-40B4-BE49-F238E27FC236}">
                <a16:creationId xmlns:a16="http://schemas.microsoft.com/office/drawing/2014/main" id="{A75605DA-32B1-BB25-64A9-64B3DFC2A4C4}"/>
              </a:ext>
            </a:extLst>
          </p:cNvPr>
          <p:cNvPicPr>
            <a:picLocks noChangeAspect="1"/>
          </p:cNvPicPr>
          <p:nvPr/>
        </p:nvPicPr>
        <p:blipFill>
          <a:blip r:embed="rId2"/>
          <a:stretch>
            <a:fillRect/>
          </a:stretch>
        </p:blipFill>
        <p:spPr>
          <a:xfrm>
            <a:off x="2901653" y="377448"/>
            <a:ext cx="5848269" cy="4209264"/>
          </a:xfrm>
          <a:prstGeom prst="rect">
            <a:avLst/>
          </a:prstGeom>
        </p:spPr>
      </p:pic>
      <p:sp>
        <p:nvSpPr>
          <p:cNvPr id="20" name="Rectangle 19">
            <a:extLst>
              <a:ext uri="{FF2B5EF4-FFF2-40B4-BE49-F238E27FC236}">
                <a16:creationId xmlns:a16="http://schemas.microsoft.com/office/drawing/2014/main" id="{7999D716-48F5-A48A-7C62-58BEFA9B7844}"/>
              </a:ext>
            </a:extLst>
          </p:cNvPr>
          <p:cNvSpPr/>
          <p:nvPr/>
        </p:nvSpPr>
        <p:spPr>
          <a:xfrm>
            <a:off x="2901654" y="377448"/>
            <a:ext cx="5848269" cy="4209264"/>
          </a:xfrm>
          <a:prstGeom prst="rect">
            <a:avLst/>
          </a:prstGeom>
          <a:noFill/>
          <a:ln w="635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305CB5DC-13D5-A4B4-ACA9-D1C10A0EB5F5}"/>
              </a:ext>
            </a:extLst>
          </p:cNvPr>
          <p:cNvSpPr txBox="1"/>
          <p:nvPr/>
        </p:nvSpPr>
        <p:spPr>
          <a:xfrm>
            <a:off x="-216374" y="2904813"/>
            <a:ext cx="3429000" cy="192024"/>
          </a:xfrm>
          <a:prstGeom prst="rect">
            <a:avLst/>
          </a:prstGeom>
          <a:noFill/>
        </p:spPr>
        <p:txBody>
          <a:bodyPr wrap="square">
            <a:spAutoFit/>
          </a:bodyPr>
          <a:lstStyle/>
          <a:p>
            <a:pPr algn="ctr"/>
            <a:r>
              <a:rPr sz="900" b="0" dirty="0">
                <a:solidFill>
                  <a:srgbClr val="5F5F5F"/>
                </a:solidFill>
                <a:latin typeface="Times New Roman"/>
              </a:rPr>
              <a:t>Explainable steps: needs → factors → shortlist.</a:t>
            </a:r>
          </a:p>
        </p:txBody>
      </p:sp>
      <p:sp>
        <p:nvSpPr>
          <p:cNvPr id="24" name="TextBox 23">
            <a:extLst>
              <a:ext uri="{FF2B5EF4-FFF2-40B4-BE49-F238E27FC236}">
                <a16:creationId xmlns:a16="http://schemas.microsoft.com/office/drawing/2014/main" id="{E80C3137-4D39-3E47-3AE1-E600150D461D}"/>
              </a:ext>
            </a:extLst>
          </p:cNvPr>
          <p:cNvSpPr txBox="1"/>
          <p:nvPr/>
        </p:nvSpPr>
        <p:spPr>
          <a:xfrm>
            <a:off x="-308222" y="2660709"/>
            <a:ext cx="3429000" cy="205740"/>
          </a:xfrm>
          <a:prstGeom prst="rect">
            <a:avLst/>
          </a:prstGeom>
          <a:noFill/>
        </p:spPr>
        <p:txBody>
          <a:bodyPr wrap="square">
            <a:spAutoFit/>
          </a:bodyPr>
          <a:lstStyle/>
          <a:p>
            <a:pPr algn="ctr"/>
            <a:r>
              <a:rPr sz="975" b="1" dirty="0">
                <a:solidFill>
                  <a:srgbClr val="191919"/>
                </a:solidFill>
                <a:latin typeface="Times New Roman"/>
              </a:rPr>
              <a:t>Matching concept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0060" y="260604"/>
            <a:ext cx="8161020" cy="356616"/>
          </a:xfrm>
          <a:prstGeom prst="rect">
            <a:avLst/>
          </a:prstGeom>
          <a:noFill/>
        </p:spPr>
        <p:txBody>
          <a:bodyPr wrap="square">
            <a:spAutoFit/>
          </a:bodyPr>
          <a:lstStyle/>
          <a:p>
            <a:pPr algn="l"/>
            <a:r>
              <a:rPr sz="1800" b="1" dirty="0">
                <a:solidFill>
                  <a:srgbClr val="191919"/>
                </a:solidFill>
                <a:latin typeface="Times New Roman"/>
              </a:rPr>
              <a:t>District exploration</a:t>
            </a:r>
          </a:p>
        </p:txBody>
      </p:sp>
      <p:sp>
        <p:nvSpPr>
          <p:cNvPr id="7" name="Rectangle 6"/>
          <p:cNvSpPr/>
          <p:nvPr/>
        </p:nvSpPr>
        <p:spPr>
          <a:xfrm>
            <a:off x="1627763" y="898240"/>
            <a:ext cx="6123426" cy="3718662"/>
          </a:xfrm>
          <a:prstGeom prst="rect">
            <a:avLst/>
          </a:prstGeom>
          <a:noFill/>
          <a:ln w="635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0af8551-d348-4a99-97e2-d8ebcd6869a7.png"/>
          <p:cNvPicPr>
            <a:picLocks noChangeAspect="1"/>
          </p:cNvPicPr>
          <p:nvPr/>
        </p:nvPicPr>
        <p:blipFill>
          <a:blip r:embed="rId2"/>
          <a:stretch>
            <a:fillRect/>
          </a:stretch>
        </p:blipFill>
        <p:spPr>
          <a:xfrm>
            <a:off x="1627763" y="898240"/>
            <a:ext cx="6123426" cy="3718662"/>
          </a:xfrm>
          <a:prstGeom prst="rect">
            <a:avLst/>
          </a:prstGeom>
        </p:spPr>
      </p:pic>
      <p:sp>
        <p:nvSpPr>
          <p:cNvPr id="12" name="TextBox 11"/>
          <p:cNvSpPr txBox="1"/>
          <p:nvPr/>
        </p:nvSpPr>
        <p:spPr>
          <a:xfrm>
            <a:off x="159202" y="597981"/>
            <a:ext cx="4212771" cy="253915"/>
          </a:xfrm>
          <a:prstGeom prst="rect">
            <a:avLst/>
          </a:prstGeom>
          <a:noFill/>
        </p:spPr>
        <p:txBody>
          <a:bodyPr wrap="square">
            <a:spAutoFit/>
          </a:bodyPr>
          <a:lstStyle/>
          <a:p>
            <a:pPr algn="ctr"/>
            <a:r>
              <a:rPr sz="1200" b="0" dirty="0">
                <a:solidFill>
                  <a:srgbClr val="5F5F5F"/>
                </a:solidFill>
                <a:latin typeface="Times New Roman"/>
              </a:rPr>
              <a:t>Search and filters make the 2</a:t>
            </a:r>
            <a:r>
              <a:rPr lang="en-IN" sz="1200" b="0" dirty="0">
                <a:solidFill>
                  <a:srgbClr val="5F5F5F"/>
                </a:solidFill>
                <a:latin typeface="Times New Roman"/>
              </a:rPr>
              <a:t>1</a:t>
            </a:r>
            <a:r>
              <a:rPr sz="1200" b="0" dirty="0">
                <a:solidFill>
                  <a:srgbClr val="5F5F5F"/>
                </a:solidFill>
                <a:latin typeface="Times New Roman"/>
              </a:rPr>
              <a:t> districts easier to navigate</a:t>
            </a:r>
            <a:endParaRPr sz="900" b="0" dirty="0">
              <a:solidFill>
                <a:srgbClr val="5F5F5F"/>
              </a:solidFill>
              <a:latin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80060" y="260604"/>
            <a:ext cx="8161020" cy="356616"/>
          </a:xfrm>
          <a:prstGeom prst="rect">
            <a:avLst/>
          </a:prstGeom>
          <a:noFill/>
        </p:spPr>
        <p:txBody>
          <a:bodyPr wrap="square">
            <a:spAutoFit/>
          </a:bodyPr>
          <a:lstStyle/>
          <a:p>
            <a:pPr algn="l"/>
            <a:r>
              <a:rPr sz="1800" b="1" dirty="0">
                <a:solidFill>
                  <a:srgbClr val="191919"/>
                </a:solidFill>
                <a:latin typeface="Times New Roman"/>
              </a:rPr>
              <a:t>District information</a:t>
            </a:r>
          </a:p>
        </p:txBody>
      </p:sp>
      <p:sp>
        <p:nvSpPr>
          <p:cNvPr id="4" name="TextBox 3"/>
          <p:cNvSpPr txBox="1"/>
          <p:nvPr/>
        </p:nvSpPr>
        <p:spPr>
          <a:xfrm>
            <a:off x="480060" y="591377"/>
            <a:ext cx="8092440" cy="253915"/>
          </a:xfrm>
          <a:prstGeom prst="rect">
            <a:avLst/>
          </a:prstGeom>
          <a:noFill/>
        </p:spPr>
        <p:txBody>
          <a:bodyPr wrap="square">
            <a:spAutoFit/>
          </a:bodyPr>
          <a:lstStyle/>
          <a:p>
            <a:pPr algn="l"/>
            <a:r>
              <a:rPr sz="1200" b="0" dirty="0">
                <a:solidFill>
                  <a:srgbClr val="5F5F5F"/>
                </a:solidFill>
                <a:latin typeface="Times New Roman"/>
              </a:rPr>
              <a:t>The district pages show practical information without overwhelming the user</a:t>
            </a:r>
            <a:endParaRPr sz="825" b="0" dirty="0">
              <a:solidFill>
                <a:srgbClr val="5F5F5F"/>
              </a:solidFill>
              <a:latin typeface="Times New Roman"/>
            </a:endParaRPr>
          </a:p>
        </p:txBody>
      </p:sp>
      <p:sp>
        <p:nvSpPr>
          <p:cNvPr id="5" name="Rectangle 4"/>
          <p:cNvSpPr/>
          <p:nvPr/>
        </p:nvSpPr>
        <p:spPr>
          <a:xfrm>
            <a:off x="1291632" y="1073365"/>
            <a:ext cx="6682617" cy="3478757"/>
          </a:xfrm>
          <a:prstGeom prst="rect">
            <a:avLst/>
          </a:prstGeom>
          <a:noFill/>
          <a:ln w="635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010d35ee-fd61-4f0e-9b8d-f25bc16e811d.png"/>
          <p:cNvPicPr>
            <a:picLocks noChangeAspect="1"/>
          </p:cNvPicPr>
          <p:nvPr/>
        </p:nvPicPr>
        <p:blipFill>
          <a:blip r:embed="rId2"/>
          <a:stretch>
            <a:fillRect/>
          </a:stretch>
        </p:blipFill>
        <p:spPr>
          <a:xfrm>
            <a:off x="1291632" y="1081145"/>
            <a:ext cx="6682617" cy="345804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0c0080c3-987d-4cbc-ba95-906d1a36a2d4.png">
            <a:extLst>
              <a:ext uri="{FF2B5EF4-FFF2-40B4-BE49-F238E27FC236}">
                <a16:creationId xmlns:a16="http://schemas.microsoft.com/office/drawing/2014/main" id="{2E5AF881-7B61-0A04-3995-5150D00EDC9B}"/>
              </a:ext>
            </a:extLst>
          </p:cNvPr>
          <p:cNvPicPr>
            <a:picLocks noChangeAspect="1"/>
          </p:cNvPicPr>
          <p:nvPr/>
        </p:nvPicPr>
        <p:blipFill>
          <a:blip r:embed="rId2"/>
          <a:stretch>
            <a:fillRect/>
          </a:stretch>
        </p:blipFill>
        <p:spPr>
          <a:xfrm>
            <a:off x="1695561" y="970318"/>
            <a:ext cx="5592251" cy="3466446"/>
          </a:xfrm>
          <a:prstGeom prst="rect">
            <a:avLst/>
          </a:prstGeom>
        </p:spPr>
      </p:pic>
      <p:sp>
        <p:nvSpPr>
          <p:cNvPr id="5" name="Rectangle 4">
            <a:extLst>
              <a:ext uri="{FF2B5EF4-FFF2-40B4-BE49-F238E27FC236}">
                <a16:creationId xmlns:a16="http://schemas.microsoft.com/office/drawing/2014/main" id="{6DD23855-47B9-2B08-029A-F01431379216}"/>
              </a:ext>
            </a:extLst>
          </p:cNvPr>
          <p:cNvSpPr/>
          <p:nvPr/>
        </p:nvSpPr>
        <p:spPr>
          <a:xfrm>
            <a:off x="1695561" y="970318"/>
            <a:ext cx="5592251" cy="3466446"/>
          </a:xfrm>
          <a:prstGeom prst="rect">
            <a:avLst/>
          </a:prstGeom>
          <a:noFill/>
          <a:ln w="635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FE848542-3008-9B31-3D7D-DDB95F803D2C}"/>
              </a:ext>
            </a:extLst>
          </p:cNvPr>
          <p:cNvSpPr txBox="1"/>
          <p:nvPr/>
        </p:nvSpPr>
        <p:spPr>
          <a:xfrm>
            <a:off x="110039" y="336816"/>
            <a:ext cx="3370030" cy="438581"/>
          </a:xfrm>
          <a:prstGeom prst="rect">
            <a:avLst/>
          </a:prstGeom>
          <a:noFill/>
        </p:spPr>
        <p:txBody>
          <a:bodyPr wrap="square">
            <a:spAutoFit/>
          </a:bodyPr>
          <a:lstStyle/>
          <a:p>
            <a:pPr algn="ctr"/>
            <a:r>
              <a:rPr sz="2400" b="1" dirty="0">
                <a:solidFill>
                  <a:srgbClr val="191919"/>
                </a:solidFill>
                <a:latin typeface="Times New Roman"/>
              </a:rPr>
              <a:t>Open</a:t>
            </a:r>
            <a:r>
              <a:rPr lang="en-IN" sz="2400" b="1" dirty="0" err="1">
                <a:solidFill>
                  <a:srgbClr val="191919"/>
                </a:solidFill>
                <a:latin typeface="Times New Roman"/>
              </a:rPr>
              <a:t>ing</a:t>
            </a:r>
            <a:r>
              <a:rPr sz="2400" b="1" dirty="0">
                <a:solidFill>
                  <a:srgbClr val="191919"/>
                </a:solidFill>
                <a:latin typeface="Times New Roman"/>
              </a:rPr>
              <a:t> a district</a:t>
            </a:r>
          </a:p>
        </p:txBody>
      </p:sp>
    </p:spTree>
    <p:extLst>
      <p:ext uri="{BB962C8B-B14F-4D97-AF65-F5344CB8AC3E}">
        <p14:creationId xmlns:p14="http://schemas.microsoft.com/office/powerpoint/2010/main" val="3123012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1437882" y="502976"/>
            <a:ext cx="6266094" cy="3969315"/>
          </a:xfrm>
          <a:prstGeom prst="rect">
            <a:avLst/>
          </a:prstGeom>
          <a:noFill/>
          <a:ln w="635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91a597d-0276-4b67-a936-d0acd0a1d475.png"/>
          <p:cNvPicPr>
            <a:picLocks noChangeAspect="1"/>
          </p:cNvPicPr>
          <p:nvPr/>
        </p:nvPicPr>
        <p:blipFill>
          <a:blip r:embed="rId2"/>
          <a:stretch>
            <a:fillRect/>
          </a:stretch>
        </p:blipFill>
        <p:spPr>
          <a:xfrm>
            <a:off x="1437882" y="473048"/>
            <a:ext cx="6268236" cy="4058381"/>
          </a:xfrm>
          <a:prstGeom prst="rect">
            <a:avLst/>
          </a:prstGeom>
        </p:spPr>
      </p:pic>
      <p:sp>
        <p:nvSpPr>
          <p:cNvPr id="11" name="TextBox 10"/>
          <p:cNvSpPr txBox="1"/>
          <p:nvPr/>
        </p:nvSpPr>
        <p:spPr>
          <a:xfrm>
            <a:off x="3737610" y="4605253"/>
            <a:ext cx="2084394" cy="276999"/>
          </a:xfrm>
          <a:prstGeom prst="rect">
            <a:avLst/>
          </a:prstGeom>
          <a:noFill/>
        </p:spPr>
        <p:txBody>
          <a:bodyPr wrap="square">
            <a:spAutoFit/>
          </a:bodyPr>
          <a:lstStyle/>
          <a:p>
            <a:pPr algn="ctr"/>
            <a:r>
              <a:rPr b="1" dirty="0">
                <a:solidFill>
                  <a:srgbClr val="191919"/>
                </a:solidFill>
                <a:latin typeface="Times New Roman"/>
              </a:rPr>
              <a:t>District</a:t>
            </a:r>
            <a:r>
              <a:rPr lang="en-IN" b="1" dirty="0">
                <a:solidFill>
                  <a:srgbClr val="191919"/>
                </a:solidFill>
                <a:latin typeface="Times New Roman"/>
              </a:rPr>
              <a:t> in</a:t>
            </a:r>
            <a:r>
              <a:rPr b="1" dirty="0">
                <a:solidFill>
                  <a:srgbClr val="191919"/>
                </a:solidFill>
                <a:latin typeface="Times New Roman"/>
              </a:rPr>
              <a:t> detail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b86d4990-6752-4ab8-8e5b-62cb2d407505.png">
            <a:extLst>
              <a:ext uri="{FF2B5EF4-FFF2-40B4-BE49-F238E27FC236}">
                <a16:creationId xmlns:a16="http://schemas.microsoft.com/office/drawing/2014/main" id="{930B2C64-2790-1B76-66CC-7F2E19F92DD9}"/>
              </a:ext>
            </a:extLst>
          </p:cNvPr>
          <p:cNvPicPr>
            <a:picLocks noChangeAspect="1"/>
          </p:cNvPicPr>
          <p:nvPr/>
        </p:nvPicPr>
        <p:blipFill>
          <a:blip r:embed="rId2"/>
          <a:stretch>
            <a:fillRect/>
          </a:stretch>
        </p:blipFill>
        <p:spPr>
          <a:xfrm>
            <a:off x="749580" y="1059443"/>
            <a:ext cx="7644839" cy="3024613"/>
          </a:xfrm>
          <a:prstGeom prst="rect">
            <a:avLst/>
          </a:prstGeom>
        </p:spPr>
      </p:pic>
      <p:sp>
        <p:nvSpPr>
          <p:cNvPr id="8" name="Rectangle 7">
            <a:extLst>
              <a:ext uri="{FF2B5EF4-FFF2-40B4-BE49-F238E27FC236}">
                <a16:creationId xmlns:a16="http://schemas.microsoft.com/office/drawing/2014/main" id="{BEDE1CA0-3AB3-0D55-1A3A-03BA85A5F5A0}"/>
              </a:ext>
            </a:extLst>
          </p:cNvPr>
          <p:cNvSpPr/>
          <p:nvPr/>
        </p:nvSpPr>
        <p:spPr>
          <a:xfrm>
            <a:off x="749580" y="1059443"/>
            <a:ext cx="7644839" cy="3024613"/>
          </a:xfrm>
          <a:prstGeom prst="rect">
            <a:avLst/>
          </a:prstGeom>
          <a:noFill/>
          <a:ln w="635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998405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e6afaa7f-7984-467a-8672-db4b777dde00.png">
            <a:extLst>
              <a:ext uri="{FF2B5EF4-FFF2-40B4-BE49-F238E27FC236}">
                <a16:creationId xmlns:a16="http://schemas.microsoft.com/office/drawing/2014/main" id="{BC1F419E-C63D-04CD-13A9-61AC94ED89B5}"/>
              </a:ext>
            </a:extLst>
          </p:cNvPr>
          <p:cNvPicPr>
            <a:picLocks noChangeAspect="1"/>
          </p:cNvPicPr>
          <p:nvPr/>
        </p:nvPicPr>
        <p:blipFill>
          <a:blip r:embed="rId2"/>
          <a:stretch>
            <a:fillRect/>
          </a:stretch>
        </p:blipFill>
        <p:spPr>
          <a:xfrm>
            <a:off x="1909699" y="512235"/>
            <a:ext cx="5324601" cy="4119030"/>
          </a:xfrm>
          <a:prstGeom prst="rect">
            <a:avLst/>
          </a:prstGeom>
        </p:spPr>
      </p:pic>
      <p:sp>
        <p:nvSpPr>
          <p:cNvPr id="8" name="Rectangle 7">
            <a:extLst>
              <a:ext uri="{FF2B5EF4-FFF2-40B4-BE49-F238E27FC236}">
                <a16:creationId xmlns:a16="http://schemas.microsoft.com/office/drawing/2014/main" id="{B0B1E79D-C45A-52F4-0833-51715EBD7877}"/>
              </a:ext>
            </a:extLst>
          </p:cNvPr>
          <p:cNvSpPr/>
          <p:nvPr/>
        </p:nvSpPr>
        <p:spPr>
          <a:xfrm>
            <a:off x="1909699" y="512235"/>
            <a:ext cx="5324601" cy="4119030"/>
          </a:xfrm>
          <a:prstGeom prst="rect">
            <a:avLst/>
          </a:prstGeom>
          <a:noFill/>
          <a:ln w="635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4AF78C29-C106-D322-70FA-6CA9A682F8BA}"/>
              </a:ext>
            </a:extLst>
          </p:cNvPr>
          <p:cNvSpPr txBox="1"/>
          <p:nvPr/>
        </p:nvSpPr>
        <p:spPr>
          <a:xfrm>
            <a:off x="196985" y="744165"/>
            <a:ext cx="1583176" cy="48474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Start building user profile</a:t>
            </a:r>
          </a:p>
        </p:txBody>
      </p:sp>
    </p:spTree>
    <p:extLst>
      <p:ext uri="{BB962C8B-B14F-4D97-AF65-F5344CB8AC3E}">
        <p14:creationId xmlns:p14="http://schemas.microsoft.com/office/powerpoint/2010/main" val="18869479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610653" y="241935"/>
            <a:ext cx="5218647" cy="4750688"/>
          </a:xfrm>
          <a:prstGeom prst="rect">
            <a:avLst/>
          </a:prstGeom>
          <a:noFill/>
          <a:ln w="635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ba0bada-ac25-4bdd-af0d-3840964e9be2.png"/>
          <p:cNvPicPr>
            <a:picLocks noChangeAspect="1"/>
          </p:cNvPicPr>
          <p:nvPr/>
        </p:nvPicPr>
        <p:blipFill>
          <a:blip r:embed="rId2"/>
          <a:stretch>
            <a:fillRect/>
          </a:stretch>
        </p:blipFill>
        <p:spPr>
          <a:xfrm>
            <a:off x="610653" y="241034"/>
            <a:ext cx="5218647" cy="4751589"/>
          </a:xfrm>
          <a:prstGeom prst="rect">
            <a:avLst/>
          </a:prstGeom>
        </p:spPr>
      </p:pic>
      <p:sp>
        <p:nvSpPr>
          <p:cNvPr id="16" name="TextBox 15">
            <a:extLst>
              <a:ext uri="{FF2B5EF4-FFF2-40B4-BE49-F238E27FC236}">
                <a16:creationId xmlns:a16="http://schemas.microsoft.com/office/drawing/2014/main" id="{12D067AE-D099-1CEA-0BD4-58CB292E1C4F}"/>
              </a:ext>
            </a:extLst>
          </p:cNvPr>
          <p:cNvSpPr txBox="1"/>
          <p:nvPr/>
        </p:nvSpPr>
        <p:spPr>
          <a:xfrm>
            <a:off x="6259749" y="2339829"/>
            <a:ext cx="2716449" cy="27699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Set user priorities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44549F3D-74D4-A9E6-BAD8-D163AC37F58F}"/>
              </a:ext>
            </a:extLst>
          </p:cNvPr>
          <p:cNvPicPr>
            <a:picLocks noGrp="1" noChangeAspect="1"/>
          </p:cNvPicPr>
          <p:nvPr>
            <p:ph idx="1"/>
          </p:nvPr>
        </p:nvPicPr>
        <p:blipFill>
          <a:blip r:embed="rId2"/>
          <a:stretch>
            <a:fillRect/>
          </a:stretch>
        </p:blipFill>
        <p:spPr>
          <a:xfrm>
            <a:off x="1174282" y="621994"/>
            <a:ext cx="7164753" cy="4145268"/>
          </a:xfrm>
          <a:prstGeom prst="rect">
            <a:avLst/>
          </a:prstGeom>
        </p:spPr>
      </p:pic>
      <p:sp>
        <p:nvSpPr>
          <p:cNvPr id="11" name="TextBox 10">
            <a:extLst>
              <a:ext uri="{FF2B5EF4-FFF2-40B4-BE49-F238E27FC236}">
                <a16:creationId xmlns:a16="http://schemas.microsoft.com/office/drawing/2014/main" id="{01A86F51-D527-3785-28BB-726366A87123}"/>
              </a:ext>
            </a:extLst>
          </p:cNvPr>
          <p:cNvSpPr txBox="1"/>
          <p:nvPr/>
        </p:nvSpPr>
        <p:spPr>
          <a:xfrm>
            <a:off x="481519" y="328308"/>
            <a:ext cx="1823935" cy="300082"/>
          </a:xfrm>
          <a:prstGeom prst="rect">
            <a:avLst/>
          </a:prstGeom>
          <a:noFill/>
        </p:spPr>
        <p:txBody>
          <a:bodyPr wrap="square" rtlCol="0">
            <a:spAutoFit/>
          </a:bodyPr>
          <a:lstStyle/>
          <a:p>
            <a:r>
              <a:rPr lang="en-IN" sz="1500" b="1" dirty="0">
                <a:latin typeface="Times New Roman" panose="02020603050405020304" pitchFamily="18" charset="0"/>
                <a:cs typeface="Times New Roman" panose="02020603050405020304" pitchFamily="18" charset="0"/>
              </a:rPr>
              <a:t>Shortlist 3 districts</a:t>
            </a:r>
          </a:p>
        </p:txBody>
      </p:sp>
    </p:spTree>
    <p:extLst>
      <p:ext uri="{BB962C8B-B14F-4D97-AF65-F5344CB8AC3E}">
        <p14:creationId xmlns:p14="http://schemas.microsoft.com/office/powerpoint/2010/main" val="673704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50CA4A0-7A97-ED48-BD45-2166584B3AC5}"/>
              </a:ext>
            </a:extLst>
          </p:cNvPr>
          <p:cNvPicPr>
            <a:picLocks noGrp="1" noChangeAspect="1"/>
          </p:cNvPicPr>
          <p:nvPr>
            <p:ph idx="1"/>
          </p:nvPr>
        </p:nvPicPr>
        <p:blipFill>
          <a:blip r:embed="rId2"/>
          <a:stretch>
            <a:fillRect/>
          </a:stretch>
        </p:blipFill>
        <p:spPr>
          <a:xfrm>
            <a:off x="1261940" y="445888"/>
            <a:ext cx="6214556" cy="425172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174065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3465EC-6EB1-C18D-E392-014EC1E4F542}"/>
              </a:ext>
            </a:extLst>
          </p:cNvPr>
          <p:cNvSpPr/>
          <p:nvPr/>
        </p:nvSpPr>
        <p:spPr>
          <a:xfrm>
            <a:off x="895446" y="204365"/>
            <a:ext cx="5442625" cy="4698137"/>
          </a:xfrm>
          <a:prstGeom prst="rect">
            <a:avLst/>
          </a:prstGeom>
          <a:noFill/>
          <a:ln w="6350">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65A89A80-48EB-BFEB-0DF5-41BA58D11E21}"/>
              </a:ext>
            </a:extLst>
          </p:cNvPr>
          <p:cNvSpPr txBox="1"/>
          <p:nvPr/>
        </p:nvSpPr>
        <p:spPr>
          <a:xfrm>
            <a:off x="6746375" y="2085123"/>
            <a:ext cx="1577340" cy="530914"/>
          </a:xfrm>
          <a:prstGeom prst="rect">
            <a:avLst/>
          </a:prstGeom>
          <a:noFill/>
        </p:spPr>
        <p:txBody>
          <a:bodyPr wrap="square">
            <a:spAutoFit/>
          </a:bodyPr>
          <a:lstStyle/>
          <a:p>
            <a:pPr algn="ctr"/>
            <a:r>
              <a:rPr lang="en-IN" sz="1500" b="1" dirty="0">
                <a:solidFill>
                  <a:srgbClr val="191919"/>
                </a:solidFill>
                <a:latin typeface="Times New Roman"/>
              </a:rPr>
              <a:t>Final shortlist comparison</a:t>
            </a:r>
            <a:endParaRPr sz="1500" b="1" dirty="0">
              <a:solidFill>
                <a:srgbClr val="191919"/>
              </a:solidFill>
              <a:latin typeface="Times New Roman"/>
            </a:endParaRPr>
          </a:p>
        </p:txBody>
      </p:sp>
      <p:pic>
        <p:nvPicPr>
          <p:cNvPr id="14" name="Picture 13">
            <a:extLst>
              <a:ext uri="{FF2B5EF4-FFF2-40B4-BE49-F238E27FC236}">
                <a16:creationId xmlns:a16="http://schemas.microsoft.com/office/drawing/2014/main" id="{91860A45-900F-12DE-590A-CC19F359E3DB}"/>
              </a:ext>
            </a:extLst>
          </p:cNvPr>
          <p:cNvPicPr>
            <a:picLocks noChangeAspect="1"/>
          </p:cNvPicPr>
          <p:nvPr/>
        </p:nvPicPr>
        <p:blipFill>
          <a:blip r:embed="rId2"/>
          <a:stretch>
            <a:fillRect/>
          </a:stretch>
        </p:blipFill>
        <p:spPr>
          <a:xfrm>
            <a:off x="908351" y="204365"/>
            <a:ext cx="5429720" cy="4698137"/>
          </a:xfrm>
          <a:prstGeom prst="rect">
            <a:avLst/>
          </a:prstGeom>
        </p:spPr>
      </p:pic>
    </p:spTree>
    <p:extLst>
      <p:ext uri="{BB962C8B-B14F-4D97-AF65-F5344CB8AC3E}">
        <p14:creationId xmlns:p14="http://schemas.microsoft.com/office/powerpoint/2010/main" val="5937090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Box 4"/>
          <p:cNvSpPr txBox="1"/>
          <p:nvPr/>
        </p:nvSpPr>
        <p:spPr>
          <a:xfrm>
            <a:off x="507783" y="473732"/>
            <a:ext cx="4258526" cy="346248"/>
          </a:xfrm>
          <a:prstGeom prst="rect">
            <a:avLst/>
          </a:prstGeom>
          <a:noFill/>
        </p:spPr>
        <p:txBody>
          <a:bodyPr wrap="square">
            <a:spAutoFit/>
          </a:bodyPr>
          <a:lstStyle/>
          <a:p>
            <a:pPr algn="l"/>
            <a:r>
              <a:rPr lang="en-IN" sz="1800" b="1" dirty="0">
                <a:solidFill>
                  <a:srgbClr val="191919"/>
                </a:solidFill>
                <a:latin typeface="Times New Roman"/>
              </a:rPr>
              <a:t>Next Steps:</a:t>
            </a:r>
            <a:endParaRPr sz="1800" b="1" dirty="0">
              <a:solidFill>
                <a:srgbClr val="191919"/>
              </a:solidFill>
              <a:latin typeface="Times New Roman"/>
            </a:endParaRPr>
          </a:p>
        </p:txBody>
      </p:sp>
      <p:sp>
        <p:nvSpPr>
          <p:cNvPr id="6" name="TextBox 5"/>
          <p:cNvSpPr txBox="1"/>
          <p:nvPr/>
        </p:nvSpPr>
        <p:spPr>
          <a:xfrm>
            <a:off x="588036" y="988262"/>
            <a:ext cx="6663933" cy="2932854"/>
          </a:xfrm>
          <a:prstGeom prst="rect">
            <a:avLst/>
          </a:prstGeom>
          <a:noFill/>
        </p:spPr>
        <p:txBody>
          <a:bodyPr wrap="square">
            <a:spAutoFit/>
          </a:bodyPr>
          <a:lstStyle/>
          <a:p>
            <a:pPr>
              <a:spcAft>
                <a:spcPts val="800"/>
              </a:spcAft>
              <a:defRPr sz="975">
                <a:solidFill>
                  <a:srgbClr val="191919"/>
                </a:solidFill>
                <a:latin typeface="Times New Roman"/>
              </a:defRPr>
            </a:pPr>
            <a:r>
              <a:rPr sz="1700" dirty="0"/>
              <a:t>• Use reliable </a:t>
            </a:r>
            <a:r>
              <a:rPr lang="en-IN" sz="1700" dirty="0"/>
              <a:t>data</a:t>
            </a:r>
            <a:r>
              <a:rPr sz="1700" dirty="0"/>
              <a:t> for rent, transport, amenities and district information.</a:t>
            </a:r>
          </a:p>
          <a:p>
            <a:pPr>
              <a:spcAft>
                <a:spcPts val="800"/>
              </a:spcAft>
              <a:defRPr sz="975">
                <a:solidFill>
                  <a:srgbClr val="191919"/>
                </a:solidFill>
                <a:latin typeface="Times New Roman"/>
              </a:defRPr>
            </a:pPr>
            <a:r>
              <a:rPr sz="1700" dirty="0"/>
              <a:t>• Define how each factor is measured and updated.</a:t>
            </a:r>
            <a:endParaRPr lang="en-IN" sz="1700" dirty="0"/>
          </a:p>
          <a:p>
            <a:pPr>
              <a:spcAft>
                <a:spcPts val="800"/>
              </a:spcAft>
              <a:defRPr sz="975">
                <a:solidFill>
                  <a:srgbClr val="191919"/>
                </a:solidFill>
                <a:latin typeface="Times New Roman"/>
              </a:defRPr>
            </a:pPr>
            <a:r>
              <a:rPr lang="en-US" sz="1700" dirty="0"/>
              <a:t>• Test the prototype with users.</a:t>
            </a:r>
          </a:p>
          <a:p>
            <a:pPr>
              <a:spcAft>
                <a:spcPts val="800"/>
              </a:spcAft>
              <a:defRPr sz="975">
                <a:solidFill>
                  <a:srgbClr val="191919"/>
                </a:solidFill>
                <a:latin typeface="Times New Roman"/>
              </a:defRPr>
            </a:pPr>
            <a:r>
              <a:rPr lang="en-US" sz="1700" dirty="0"/>
              <a:t>• Check whether the recommendations are understandable and useful.</a:t>
            </a:r>
          </a:p>
          <a:p>
            <a:pPr>
              <a:spcAft>
                <a:spcPts val="800"/>
              </a:spcAft>
              <a:defRPr sz="975">
                <a:solidFill>
                  <a:srgbClr val="191919"/>
                </a:solidFill>
                <a:latin typeface="Times New Roman"/>
              </a:defRPr>
            </a:pPr>
            <a:r>
              <a:rPr lang="en-US" sz="1700" dirty="0"/>
              <a:t>• Connect the Figma flow to the actual application.</a:t>
            </a:r>
          </a:p>
          <a:p>
            <a:pPr>
              <a:spcAft>
                <a:spcPts val="800"/>
              </a:spcAft>
              <a:defRPr sz="975">
                <a:solidFill>
                  <a:srgbClr val="191919"/>
                </a:solidFill>
                <a:latin typeface="Times New Roman"/>
              </a:defRPr>
            </a:pPr>
            <a:r>
              <a:rPr lang="en-US" sz="1700" dirty="0"/>
              <a:t>• Add map view, mobile responsiveness and accessibility improvements</a:t>
            </a:r>
            <a:r>
              <a:rPr lang="en-US" sz="1500" dirty="0"/>
              <a:t>.</a:t>
            </a:r>
          </a:p>
          <a:p>
            <a:pPr>
              <a:spcAft>
                <a:spcPts val="800"/>
              </a:spcAft>
              <a:defRPr sz="975">
                <a:solidFill>
                  <a:srgbClr val="191919"/>
                </a:solidFill>
                <a:latin typeface="Times New Roman"/>
              </a:defRPr>
            </a:pPr>
            <a:endParaRPr lang="en-US" dirty="0"/>
          </a:p>
          <a:p>
            <a:pPr>
              <a:spcAft>
                <a:spcPts val="800"/>
              </a:spcAft>
              <a:defRPr sz="975">
                <a:solidFill>
                  <a:srgbClr val="191919"/>
                </a:solidFill>
                <a:latin typeface="Times New Roman"/>
              </a:defRPr>
            </a:pPr>
            <a:endParaRPr lang="en-IN" dirty="0"/>
          </a:p>
          <a:p>
            <a:pPr>
              <a:spcAft>
                <a:spcPts val="800"/>
              </a:spcAft>
              <a:defRPr sz="975">
                <a:solidFill>
                  <a:srgbClr val="191919"/>
                </a:solidFill>
                <a:latin typeface="Times New Roman"/>
              </a:defRPr>
            </a:pPr>
            <a:endParaRPr dirty="0"/>
          </a:p>
        </p:txBody>
      </p:sp>
      <p:sp>
        <p:nvSpPr>
          <p:cNvPr id="13" name="TextBox 12"/>
          <p:cNvSpPr txBox="1"/>
          <p:nvPr/>
        </p:nvSpPr>
        <p:spPr>
          <a:xfrm>
            <a:off x="588036" y="3319587"/>
            <a:ext cx="7680960" cy="615553"/>
          </a:xfrm>
          <a:prstGeom prst="rect">
            <a:avLst/>
          </a:prstGeom>
          <a:noFill/>
        </p:spPr>
        <p:txBody>
          <a:bodyPr wrap="square">
            <a:spAutoFit/>
          </a:bodyPr>
          <a:lstStyle/>
          <a:p>
            <a:pPr algn="ctr"/>
            <a:r>
              <a:rPr sz="1700" b="1" dirty="0">
                <a:solidFill>
                  <a:srgbClr val="191919"/>
                </a:solidFill>
                <a:latin typeface="Times New Roman"/>
              </a:rPr>
              <a:t>The prototype is the visual foundation; data + matching + evaluation are the next technical steps</a:t>
            </a:r>
            <a:r>
              <a:rPr sz="1125" b="1" dirty="0">
                <a:solidFill>
                  <a:srgbClr val="191919"/>
                </a:solidFill>
                <a:latin typeface="Times New Roman"/>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09B68-FA60-268A-C354-F4B517CE7543}"/>
              </a:ext>
            </a:extLst>
          </p:cNvPr>
          <p:cNvSpPr>
            <a:spLocks noGrp="1"/>
          </p:cNvSpPr>
          <p:nvPr>
            <p:ph type="title"/>
          </p:nvPr>
        </p:nvSpPr>
        <p:spPr>
          <a:xfrm>
            <a:off x="628650" y="273844"/>
            <a:ext cx="7886700" cy="736420"/>
          </a:xfrm>
        </p:spPr>
        <p:txBody>
          <a:bodyPr>
            <a:normAutofit/>
          </a:bodyPr>
          <a:lstStyle/>
          <a:p>
            <a:r>
              <a:rPr lang="en-IN" b="1" dirty="0">
                <a:latin typeface="Times New Roman" panose="02020603050405020304" pitchFamily="18" charset="0"/>
                <a:cs typeface="Times New Roman" panose="02020603050405020304" pitchFamily="18" charset="0"/>
              </a:rPr>
              <a:t>Implementation Prototype </a:t>
            </a:r>
            <a:r>
              <a:rPr lang="en-IN"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By: Catherine Sherina</a:t>
            </a:r>
          </a:p>
        </p:txBody>
      </p:sp>
      <p:sp>
        <p:nvSpPr>
          <p:cNvPr id="7" name="Content Placeholder 6">
            <a:extLst>
              <a:ext uri="{FF2B5EF4-FFF2-40B4-BE49-F238E27FC236}">
                <a16:creationId xmlns:a16="http://schemas.microsoft.com/office/drawing/2014/main" id="{6DC7A2E1-0CDC-C798-A885-811321D3D839}"/>
              </a:ext>
            </a:extLst>
          </p:cNvPr>
          <p:cNvSpPr>
            <a:spLocks noGrp="1"/>
          </p:cNvSpPr>
          <p:nvPr>
            <p:ph idx="1"/>
          </p:nvPr>
        </p:nvSpPr>
        <p:spPr>
          <a:xfrm>
            <a:off x="4564627" y="1761834"/>
            <a:ext cx="4123095" cy="3674076"/>
          </a:xfrm>
        </p:spPr>
        <p:txBody>
          <a:bodyPr>
            <a:normAutofit/>
          </a:bodyPr>
          <a:lstStyle/>
          <a:p>
            <a:pPr lvl="0"/>
            <a:r>
              <a:rPr lang="en-IN" dirty="0">
                <a:latin typeface="Times New Roman" panose="02020603050405020304" pitchFamily="18" charset="0"/>
                <a:cs typeface="Times New Roman" panose="02020603050405020304" pitchFamily="18" charset="0"/>
              </a:rPr>
              <a:t>Built an initial prototype using 3 Dublin districts (D1-D3)</a:t>
            </a:r>
          </a:p>
          <a:p>
            <a:pPr lvl="0"/>
            <a:r>
              <a:rPr lang="en-IN" dirty="0">
                <a:latin typeface="Times New Roman" panose="02020603050405020304" pitchFamily="18" charset="0"/>
                <a:cs typeface="Times New Roman" panose="02020603050405020304" pitchFamily="18" charset="0"/>
              </a:rPr>
              <a:t>Used the data to test </a:t>
            </a:r>
            <a:r>
              <a:rPr lang="en-IN" b="1" dirty="0">
                <a:latin typeface="Times New Roman" panose="02020603050405020304" pitchFamily="18" charset="0"/>
                <a:cs typeface="Times New Roman" panose="02020603050405020304" pitchFamily="18" charset="0"/>
              </a:rPr>
              <a:t>recommendation, scoring and ranking logic</a:t>
            </a:r>
            <a:endParaRPr lang="en-IN" dirty="0">
              <a:latin typeface="Times New Roman" panose="02020603050405020304" pitchFamily="18" charset="0"/>
              <a:cs typeface="Times New Roman" panose="02020603050405020304" pitchFamily="18" charset="0"/>
            </a:endParaRPr>
          </a:p>
          <a:p>
            <a:pPr>
              <a:spcAft>
                <a:spcPts val="1000"/>
              </a:spcAft>
              <a:buSzPct val="100000"/>
            </a:pPr>
            <a:r>
              <a:rPr lang="en-US" dirty="0">
                <a:solidFill>
                  <a:srgbClr val="1F2A2E"/>
                </a:solidFill>
                <a:latin typeface="Times New Roman" panose="02020603050405020304" pitchFamily="18" charset="0"/>
                <a:ea typeface="Calibri" pitchFamily="34" charset="-122"/>
                <a:cs typeface="Times New Roman" panose="02020603050405020304" pitchFamily="18" charset="0"/>
              </a:rPr>
              <a:t>The aim is to prove that the method works end to end before collecting data for every district.</a:t>
            </a: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A5E19AC-53B1-B617-8EEF-1CEB2F758FE2}"/>
              </a:ext>
            </a:extLst>
          </p:cNvPr>
          <p:cNvPicPr>
            <a:picLocks noChangeAspect="1"/>
          </p:cNvPicPr>
          <p:nvPr/>
        </p:nvPicPr>
        <p:blipFill>
          <a:blip r:embed="rId2"/>
          <a:stretch>
            <a:fillRect/>
          </a:stretch>
        </p:blipFill>
        <p:spPr>
          <a:xfrm>
            <a:off x="456278" y="1454445"/>
            <a:ext cx="3798631" cy="3178276"/>
          </a:xfrm>
          <a:prstGeom prst="rect">
            <a:avLst/>
          </a:prstGeom>
        </p:spPr>
      </p:pic>
    </p:spTree>
    <p:extLst>
      <p:ext uri="{BB962C8B-B14F-4D97-AF65-F5344CB8AC3E}">
        <p14:creationId xmlns:p14="http://schemas.microsoft.com/office/powerpoint/2010/main" val="4205114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E542B-A251-2D68-17B8-E2605B853273}"/>
              </a:ext>
            </a:extLst>
          </p:cNvPr>
          <p:cNvSpPr>
            <a:spLocks noGrp="1"/>
          </p:cNvSpPr>
          <p:nvPr>
            <p:ph type="title"/>
          </p:nvPr>
        </p:nvSpPr>
        <p:spPr>
          <a:xfrm>
            <a:off x="628650" y="87261"/>
            <a:ext cx="7886700" cy="847033"/>
          </a:xfrm>
        </p:spPr>
        <p:txBody>
          <a:bodyPr/>
          <a:lstStyle/>
          <a:p>
            <a:r>
              <a:rPr lang="en-US" b="1" dirty="0"/>
              <a:t>1. </a:t>
            </a:r>
            <a:r>
              <a:rPr lang="en-US" b="1" dirty="0">
                <a:latin typeface="Times New Roman" panose="02020603050405020304" pitchFamily="18" charset="0"/>
                <a:cs typeface="Times New Roman" panose="02020603050405020304" pitchFamily="18" charset="0"/>
              </a:rPr>
              <a:t>Data Loading and Preparation: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737988-A648-A7B9-30AF-5D073D824198}"/>
              </a:ext>
            </a:extLst>
          </p:cNvPr>
          <p:cNvSpPr>
            <a:spLocks noGrp="1"/>
          </p:cNvSpPr>
          <p:nvPr>
            <p:ph idx="1"/>
          </p:nvPr>
        </p:nvSpPr>
        <p:spPr>
          <a:xfrm>
            <a:off x="4948083" y="604683"/>
            <a:ext cx="3567266" cy="4028038"/>
          </a:xfrm>
        </p:spPr>
        <p:txBody>
          <a:bodyPr>
            <a:normAutofit fontScale="92500" lnSpcReduction="20000"/>
          </a:bodyPr>
          <a:lstStyle/>
          <a:p>
            <a:pPr>
              <a:spcAft>
                <a:spcPts val="1000"/>
              </a:spcAft>
              <a:defRPr sz="1425"/>
            </a:pPr>
            <a:endParaRPr lang="en-US" sz="1800" dirty="0"/>
          </a:p>
          <a:p>
            <a:pPr>
              <a:spcAft>
                <a:spcPts val="1000"/>
              </a:spcAft>
              <a:defRPr sz="1425"/>
            </a:pPr>
            <a:r>
              <a:rPr lang="en-US" sz="1800" dirty="0">
                <a:latin typeface="Times New Roman" panose="02020603050405020304" pitchFamily="18" charset="0"/>
                <a:cs typeface="Times New Roman" panose="02020603050405020304" pitchFamily="18" charset="0"/>
              </a:rPr>
              <a:t>Pandas reads the Excel and CSV datasets into </a:t>
            </a:r>
            <a:r>
              <a:rPr lang="en-US" sz="1800" dirty="0" err="1">
                <a:latin typeface="Times New Roman" panose="02020603050405020304" pitchFamily="18" charset="0"/>
                <a:cs typeface="Times New Roman" panose="02020603050405020304" pitchFamily="18" charset="0"/>
              </a:rPr>
              <a:t>DataFrames</a:t>
            </a:r>
            <a:r>
              <a:rPr lang="en-US" sz="1800" dirty="0">
                <a:latin typeface="Times New Roman" panose="02020603050405020304" pitchFamily="18" charset="0"/>
                <a:cs typeface="Times New Roman" panose="02020603050405020304" pitchFamily="18" charset="0"/>
              </a:rPr>
              <a:t>.</a:t>
            </a:r>
          </a:p>
          <a:p>
            <a:pPr>
              <a:spcAft>
                <a:spcPts val="1000"/>
              </a:spcAft>
              <a:defRPr sz="1425"/>
            </a:pPr>
            <a:r>
              <a:rPr lang="en-US" sz="1800" dirty="0" err="1">
                <a:latin typeface="Times New Roman" panose="02020603050405020304" pitchFamily="18" charset="0"/>
                <a:cs typeface="Times New Roman" panose="02020603050405020304" pitchFamily="18" charset="0"/>
              </a:rPr>
              <a:t>pd.concat</a:t>
            </a:r>
            <a:r>
              <a:rPr lang="en-US" sz="1800" dirty="0">
                <a:latin typeface="Times New Roman" panose="02020603050405020304" pitchFamily="18" charset="0"/>
                <a:cs typeface="Times New Roman" panose="02020603050405020304" pitchFamily="18" charset="0"/>
              </a:rPr>
              <a:t>() combines the separate D1, D2 and D3 amenity and room-rent datasets.</a:t>
            </a:r>
          </a:p>
          <a:p>
            <a:pPr>
              <a:spcAft>
                <a:spcPts val="1000"/>
              </a:spcAft>
              <a:defRPr sz="1425"/>
            </a:pPr>
            <a:r>
              <a:rPr lang="en-US" sz="1800" dirty="0">
                <a:latin typeface="Times New Roman" panose="02020603050405020304" pitchFamily="18" charset="0"/>
                <a:cs typeface="Times New Roman" panose="02020603050405020304" pitchFamily="18" charset="0"/>
              </a:rPr>
              <a:t>The three RTB rental files are combined into one rental dataset.</a:t>
            </a:r>
          </a:p>
          <a:p>
            <a:pPr>
              <a:spcAft>
                <a:spcPts val="1000"/>
              </a:spcAft>
              <a:defRPr sz="1425"/>
            </a:pPr>
            <a:r>
              <a:rPr lang="en-US" sz="1800" dirty="0">
                <a:latin typeface="Times New Roman" panose="02020603050405020304" pitchFamily="18" charset="0"/>
                <a:cs typeface="Times New Roman" panose="02020603050405020304" pitchFamily="18" charset="0"/>
              </a:rPr>
              <a:t>Commute values such as '1 </a:t>
            </a:r>
            <a:r>
              <a:rPr lang="en-US" sz="1800" dirty="0" err="1">
                <a:latin typeface="Times New Roman" panose="02020603050405020304" pitchFamily="18" charset="0"/>
                <a:cs typeface="Times New Roman" panose="02020603050405020304" pitchFamily="18" charset="0"/>
              </a:rPr>
              <a:t>hr</a:t>
            </a:r>
            <a:r>
              <a:rPr lang="en-US" sz="1800" dirty="0">
                <a:latin typeface="Times New Roman" panose="02020603050405020304" pitchFamily="18" charset="0"/>
                <a:cs typeface="Times New Roman" panose="02020603050405020304" pitchFamily="18" charset="0"/>
              </a:rPr>
              <a:t> 5 mins' are converted into minutes.</a:t>
            </a:r>
          </a:p>
          <a:p>
            <a:pPr>
              <a:spcAft>
                <a:spcPts val="1000"/>
              </a:spcAft>
              <a:defRPr sz="1425"/>
            </a:pPr>
            <a:r>
              <a:rPr lang="en-US" sz="1800" dirty="0">
                <a:latin typeface="Times New Roman" panose="02020603050405020304" pitchFamily="18" charset="0"/>
                <a:cs typeface="Times New Roman" panose="02020603050405020304" pitchFamily="18" charset="0"/>
              </a:rPr>
              <a:t>Commute, amenities, Census and ethnicity data are merged using Area.</a:t>
            </a:r>
          </a:p>
          <a:p>
            <a:endParaRPr lang="en-IN" dirty="0"/>
          </a:p>
        </p:txBody>
      </p:sp>
      <p:pic>
        <p:nvPicPr>
          <p:cNvPr id="5" name="Picture 4">
            <a:extLst>
              <a:ext uri="{FF2B5EF4-FFF2-40B4-BE49-F238E27FC236}">
                <a16:creationId xmlns:a16="http://schemas.microsoft.com/office/drawing/2014/main" id="{36AD25A5-3ED2-5662-C2AD-D4A35022A052}"/>
              </a:ext>
            </a:extLst>
          </p:cNvPr>
          <p:cNvPicPr>
            <a:picLocks noChangeAspect="1"/>
          </p:cNvPicPr>
          <p:nvPr/>
        </p:nvPicPr>
        <p:blipFill>
          <a:blip r:embed="rId3"/>
          <a:stretch>
            <a:fillRect/>
          </a:stretch>
        </p:blipFill>
        <p:spPr>
          <a:xfrm>
            <a:off x="209736" y="934294"/>
            <a:ext cx="4738344" cy="3698427"/>
          </a:xfrm>
          <a:prstGeom prst="rect">
            <a:avLst/>
          </a:prstGeom>
        </p:spPr>
      </p:pic>
    </p:spTree>
    <p:extLst>
      <p:ext uri="{BB962C8B-B14F-4D97-AF65-F5344CB8AC3E}">
        <p14:creationId xmlns:p14="http://schemas.microsoft.com/office/powerpoint/2010/main" val="85409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4B54C-D314-E133-7B0B-0002C3250D67}"/>
              </a:ext>
            </a:extLst>
          </p:cNvPr>
          <p:cNvSpPr>
            <a:spLocks noGrp="1"/>
          </p:cNvSpPr>
          <p:nvPr>
            <p:ph type="title"/>
          </p:nvPr>
        </p:nvSpPr>
        <p:spPr>
          <a:xfrm>
            <a:off x="628650" y="612160"/>
            <a:ext cx="7886700" cy="213750"/>
          </a:xfrm>
        </p:spPr>
        <p:txBody>
          <a:bodyPr>
            <a:normAutofit fontScale="90000"/>
          </a:bodyPr>
          <a:lstStyle/>
          <a:p>
            <a:r>
              <a:rPr lang="en-US" dirty="0"/>
              <a:t>2. </a:t>
            </a:r>
            <a:r>
              <a:rPr lang="en-US" dirty="0">
                <a:latin typeface="Times New Roman" panose="02020603050405020304" pitchFamily="18" charset="0"/>
                <a:cs typeface="Times New Roman" panose="02020603050405020304" pitchFamily="18" charset="0"/>
              </a:rPr>
              <a:t>Student Inputs and Accommodation</a:t>
            </a:r>
            <a:br>
              <a:rPr lang="en-US" dirty="0"/>
            </a:br>
            <a:endParaRPr lang="en-IN" dirty="0"/>
          </a:p>
        </p:txBody>
      </p:sp>
      <p:sp>
        <p:nvSpPr>
          <p:cNvPr id="3" name="Content Placeholder 2">
            <a:extLst>
              <a:ext uri="{FF2B5EF4-FFF2-40B4-BE49-F238E27FC236}">
                <a16:creationId xmlns:a16="http://schemas.microsoft.com/office/drawing/2014/main" id="{3688CD23-13D0-80D4-1E58-695887F68881}"/>
              </a:ext>
            </a:extLst>
          </p:cNvPr>
          <p:cNvSpPr>
            <a:spLocks noGrp="1"/>
          </p:cNvSpPr>
          <p:nvPr>
            <p:ph idx="1"/>
          </p:nvPr>
        </p:nvSpPr>
        <p:spPr>
          <a:xfrm>
            <a:off x="4999703" y="1333377"/>
            <a:ext cx="3450501" cy="3782960"/>
          </a:xfrm>
        </p:spPr>
        <p:txBody>
          <a:bodyPr>
            <a:normAutofit/>
          </a:bodyPr>
          <a:lstStyle/>
          <a:p>
            <a:pPr marL="0" indent="0">
              <a:spcAft>
                <a:spcPts val="1000"/>
              </a:spcAft>
              <a:buNone/>
              <a:defRPr sz="1425"/>
            </a:pPr>
            <a:r>
              <a:rPr lang="en-IN" sz="1800" dirty="0">
                <a:latin typeface="Times New Roman" panose="02020603050405020304" pitchFamily="18" charset="0"/>
                <a:cs typeface="Times New Roman" panose="02020603050405020304" pitchFamily="18" charset="0"/>
              </a:rPr>
              <a:t>The prototype then takes student inputs. The student provides their university, monthly accommodation budget, preferred accommodation type, and the importance of different factors. These preferences are converted into weights, which are later used in the recommendation scoring.</a:t>
            </a:r>
          </a:p>
          <a:p>
            <a:pPr marL="0" indent="0">
              <a:spcAft>
                <a:spcPts val="1000"/>
              </a:spcAft>
              <a:buNone/>
              <a:defRPr sz="1425"/>
            </a:pPr>
            <a:endParaRPr lang="en-IN" sz="1800" dirty="0"/>
          </a:p>
        </p:txBody>
      </p:sp>
      <p:pic>
        <p:nvPicPr>
          <p:cNvPr id="6" name="Picture 5">
            <a:extLst>
              <a:ext uri="{FF2B5EF4-FFF2-40B4-BE49-F238E27FC236}">
                <a16:creationId xmlns:a16="http://schemas.microsoft.com/office/drawing/2014/main" id="{4C4CA9D9-7BF2-4A9E-221F-FA78491B98C4}"/>
              </a:ext>
            </a:extLst>
          </p:cNvPr>
          <p:cNvPicPr>
            <a:picLocks noChangeAspect="1"/>
          </p:cNvPicPr>
          <p:nvPr/>
        </p:nvPicPr>
        <p:blipFill>
          <a:blip r:embed="rId2"/>
          <a:stretch>
            <a:fillRect/>
          </a:stretch>
        </p:blipFill>
        <p:spPr>
          <a:xfrm>
            <a:off x="251098" y="1029772"/>
            <a:ext cx="4585595" cy="2202833"/>
          </a:xfrm>
          <a:prstGeom prst="rect">
            <a:avLst/>
          </a:prstGeom>
        </p:spPr>
      </p:pic>
      <p:pic>
        <p:nvPicPr>
          <p:cNvPr id="8" name="Picture 7">
            <a:extLst>
              <a:ext uri="{FF2B5EF4-FFF2-40B4-BE49-F238E27FC236}">
                <a16:creationId xmlns:a16="http://schemas.microsoft.com/office/drawing/2014/main" id="{71E8BCF4-1301-79BF-7A68-A19695F44791}"/>
              </a:ext>
            </a:extLst>
          </p:cNvPr>
          <p:cNvPicPr>
            <a:picLocks noChangeAspect="1"/>
          </p:cNvPicPr>
          <p:nvPr/>
        </p:nvPicPr>
        <p:blipFill>
          <a:blip r:embed="rId3"/>
          <a:stretch>
            <a:fillRect/>
          </a:stretch>
        </p:blipFill>
        <p:spPr>
          <a:xfrm>
            <a:off x="251099" y="3436467"/>
            <a:ext cx="4585595" cy="889941"/>
          </a:xfrm>
          <a:prstGeom prst="rect">
            <a:avLst/>
          </a:prstGeom>
        </p:spPr>
      </p:pic>
    </p:spTree>
    <p:extLst>
      <p:ext uri="{BB962C8B-B14F-4D97-AF65-F5344CB8AC3E}">
        <p14:creationId xmlns:p14="http://schemas.microsoft.com/office/powerpoint/2010/main" val="24336840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F1CF3-D365-2296-4835-548DD717B250}"/>
              </a:ext>
            </a:extLst>
          </p:cNvPr>
          <p:cNvSpPr>
            <a:spLocks noGrp="1"/>
          </p:cNvSpPr>
          <p:nvPr>
            <p:ph type="title"/>
          </p:nvPr>
        </p:nvSpPr>
        <p:spPr>
          <a:xfrm>
            <a:off x="628650" y="679621"/>
            <a:ext cx="7886700" cy="588393"/>
          </a:xfrm>
        </p:spPr>
        <p:txBody>
          <a:bodyPr>
            <a:normAutofit fontScale="90000"/>
          </a:bodyPr>
          <a:lstStyle/>
          <a:p>
            <a:r>
              <a:rPr lang="en-US" dirty="0"/>
              <a:t>3. </a:t>
            </a:r>
            <a:r>
              <a:rPr lang="en-US" dirty="0">
                <a:latin typeface="Times New Roman" panose="02020603050405020304" pitchFamily="18" charset="0"/>
                <a:cs typeface="Times New Roman" panose="02020603050405020304" pitchFamily="18" charset="0"/>
              </a:rPr>
              <a:t>Scoring and Ranking Logic</a:t>
            </a:r>
            <a:br>
              <a:rPr lang="en-US" dirty="0"/>
            </a:br>
            <a:br>
              <a:rPr lang="en-US" dirty="0"/>
            </a:br>
            <a:br>
              <a:rPr lang="en-US" dirty="0"/>
            </a:br>
            <a:endParaRPr lang="en-IN" dirty="0"/>
          </a:p>
        </p:txBody>
      </p:sp>
      <p:sp>
        <p:nvSpPr>
          <p:cNvPr id="3" name="Content Placeholder 2">
            <a:extLst>
              <a:ext uri="{FF2B5EF4-FFF2-40B4-BE49-F238E27FC236}">
                <a16:creationId xmlns:a16="http://schemas.microsoft.com/office/drawing/2014/main" id="{BCB5193F-CA83-62C9-737A-2FE0AF87AEE6}"/>
              </a:ext>
            </a:extLst>
          </p:cNvPr>
          <p:cNvSpPr>
            <a:spLocks noGrp="1"/>
          </p:cNvSpPr>
          <p:nvPr>
            <p:ph idx="1"/>
          </p:nvPr>
        </p:nvSpPr>
        <p:spPr>
          <a:xfrm>
            <a:off x="5567516" y="582561"/>
            <a:ext cx="2947833" cy="4050161"/>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Each factor is converted to a 0–1 score, where a higher score means a better match.</a:t>
            </a:r>
          </a:p>
          <a:p>
            <a:r>
              <a:rPr lang="en-US" dirty="0">
                <a:latin typeface="Times New Roman" panose="02020603050405020304" pitchFamily="18" charset="0"/>
                <a:cs typeface="Times New Roman" panose="02020603050405020304" pitchFamily="18" charset="0"/>
              </a:rPr>
              <a:t>Rent: compares the student's budget with the area's average rent.</a:t>
            </a:r>
          </a:p>
          <a:p>
            <a:r>
              <a:rPr lang="en-US" dirty="0">
                <a:latin typeface="Times New Roman" panose="02020603050405020304" pitchFamily="18" charset="0"/>
                <a:cs typeface="Times New Roman" panose="02020603050405020304" pitchFamily="18" charset="0"/>
              </a:rPr>
              <a:t>Commute: shorter travel time receives a higher score.</a:t>
            </a:r>
          </a:p>
          <a:p>
            <a:r>
              <a:rPr lang="en-US" dirty="0">
                <a:latin typeface="Times New Roman" panose="02020603050405020304" pitchFamily="18" charset="0"/>
                <a:cs typeface="Times New Roman" panose="02020603050405020304" pitchFamily="18" charset="0"/>
              </a:rPr>
              <a:t>Amenities: counts are normalized against the highest value among candidate areas.</a:t>
            </a:r>
          </a:p>
          <a:p>
            <a:r>
              <a:rPr lang="en-US" dirty="0">
                <a:latin typeface="Times New Roman" panose="02020603050405020304" pitchFamily="18" charset="0"/>
                <a:cs typeface="Times New Roman" panose="02020603050405020304" pitchFamily="18" charset="0"/>
              </a:rPr>
              <a:t>Weighted contributions are added to produce the final Match Score.</a:t>
            </a:r>
          </a:p>
          <a:p>
            <a:r>
              <a:rPr lang="en-US" dirty="0">
                <a:latin typeface="Times New Roman" panose="02020603050405020304" pitchFamily="18" charset="0"/>
                <a:cs typeface="Times New Roman" panose="02020603050405020304" pitchFamily="18" charset="0"/>
              </a:rPr>
              <a:t>Areas are sorted from highest to lowest Match Score.</a:t>
            </a:r>
          </a:p>
          <a:p>
            <a:pPr marL="0" indent="0">
              <a:buNone/>
            </a:pPr>
            <a:endParaRPr lang="en-IN" dirty="0"/>
          </a:p>
        </p:txBody>
      </p:sp>
      <p:pic>
        <p:nvPicPr>
          <p:cNvPr id="9" name="Picture 8">
            <a:extLst>
              <a:ext uri="{FF2B5EF4-FFF2-40B4-BE49-F238E27FC236}">
                <a16:creationId xmlns:a16="http://schemas.microsoft.com/office/drawing/2014/main" id="{2FDD3A23-59E9-E9AE-B0B6-EA1BF2C342FB}"/>
              </a:ext>
            </a:extLst>
          </p:cNvPr>
          <p:cNvPicPr>
            <a:picLocks noChangeAspect="1"/>
          </p:cNvPicPr>
          <p:nvPr/>
        </p:nvPicPr>
        <p:blipFill>
          <a:blip r:embed="rId2"/>
          <a:stretch>
            <a:fillRect/>
          </a:stretch>
        </p:blipFill>
        <p:spPr>
          <a:xfrm>
            <a:off x="390832" y="582561"/>
            <a:ext cx="5066070" cy="4050161"/>
          </a:xfrm>
          <a:prstGeom prst="rect">
            <a:avLst/>
          </a:prstGeom>
        </p:spPr>
      </p:pic>
    </p:spTree>
    <p:extLst>
      <p:ext uri="{BB962C8B-B14F-4D97-AF65-F5344CB8AC3E}">
        <p14:creationId xmlns:p14="http://schemas.microsoft.com/office/powerpoint/2010/main" val="35188748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ED7BC-6276-4573-4156-815F26707E58}"/>
              </a:ext>
            </a:extLst>
          </p:cNvPr>
          <p:cNvSpPr>
            <a:spLocks noGrp="1"/>
          </p:cNvSpPr>
          <p:nvPr>
            <p:ph type="title"/>
          </p:nvPr>
        </p:nvSpPr>
        <p:spPr>
          <a:xfrm>
            <a:off x="628652" y="409940"/>
            <a:ext cx="7886700" cy="994172"/>
          </a:xfrm>
        </p:spPr>
        <p:txBody>
          <a:bodyPr>
            <a:normAutofit fontScale="90000"/>
          </a:bodyPr>
          <a:lstStyle/>
          <a:p>
            <a:r>
              <a:rPr lang="en-IN" dirty="0"/>
              <a:t>4</a:t>
            </a:r>
            <a:r>
              <a:rPr lang="en-IN" dirty="0">
                <a:latin typeface="Times New Roman" panose="02020603050405020304" pitchFamily="18" charset="0"/>
                <a:cs typeface="Times New Roman" panose="02020603050405020304" pitchFamily="18" charset="0"/>
              </a:rPr>
              <a:t>. Output and Explainability</a:t>
            </a:r>
            <a:br>
              <a:rPr lang="en-IN" dirty="0"/>
            </a:br>
            <a:br>
              <a:rPr lang="en-IN" dirty="0"/>
            </a:br>
            <a:endParaRPr lang="en-IN" dirty="0"/>
          </a:p>
        </p:txBody>
      </p:sp>
      <p:sp>
        <p:nvSpPr>
          <p:cNvPr id="3" name="Content Placeholder 2">
            <a:extLst>
              <a:ext uri="{FF2B5EF4-FFF2-40B4-BE49-F238E27FC236}">
                <a16:creationId xmlns:a16="http://schemas.microsoft.com/office/drawing/2014/main" id="{59C348DC-A559-0166-734E-BFCA86CFCC16}"/>
              </a:ext>
            </a:extLst>
          </p:cNvPr>
          <p:cNvSpPr>
            <a:spLocks noGrp="1"/>
          </p:cNvSpPr>
          <p:nvPr>
            <p:ph idx="1"/>
          </p:nvPr>
        </p:nvSpPr>
        <p:spPr>
          <a:xfrm>
            <a:off x="5626017" y="770929"/>
            <a:ext cx="3331291" cy="3615720"/>
          </a:xfrm>
        </p:spPr>
        <p:txBody>
          <a:bodyPr>
            <a:normAutofit fontScale="85000" lnSpcReduction="20000"/>
          </a:bodyPr>
          <a:lstStyle/>
          <a:p>
            <a:pPr>
              <a:spcAft>
                <a:spcPts val="1000"/>
              </a:spcAft>
              <a:defRPr sz="1425"/>
            </a:pPr>
            <a:r>
              <a:rPr lang="en-US" sz="1800" dirty="0">
                <a:latin typeface="Times New Roman" panose="02020603050405020304" pitchFamily="18" charset="0"/>
                <a:cs typeface="Times New Roman" panose="02020603050405020304" pitchFamily="18" charset="0"/>
              </a:rPr>
              <a:t>The prototype displays the Top 3 recommended areas.</a:t>
            </a:r>
          </a:p>
          <a:p>
            <a:pPr>
              <a:spcAft>
                <a:spcPts val="1000"/>
              </a:spcAft>
              <a:defRPr sz="1425"/>
            </a:pPr>
            <a:r>
              <a:rPr lang="en-US" sz="1800" dirty="0">
                <a:latin typeface="Times New Roman" panose="02020603050405020304" pitchFamily="18" charset="0"/>
                <a:cs typeface="Times New Roman" panose="02020603050405020304" pitchFamily="18" charset="0"/>
              </a:rPr>
              <a:t>For each area: average rent, budget status, commute, distance and Match Score are shown.</a:t>
            </a:r>
          </a:p>
          <a:p>
            <a:pPr>
              <a:spcAft>
                <a:spcPts val="1000"/>
              </a:spcAft>
              <a:defRPr sz="1425"/>
            </a:pPr>
            <a:r>
              <a:rPr lang="en-US" sz="1800" dirty="0">
                <a:latin typeface="Times New Roman" panose="02020603050405020304" pitchFamily="18" charset="0"/>
                <a:cs typeface="Times New Roman" panose="02020603050405020304" pitchFamily="18" charset="0"/>
              </a:rPr>
              <a:t>The explanation is generated from the student's actual preferences.</a:t>
            </a:r>
          </a:p>
          <a:p>
            <a:pPr>
              <a:spcAft>
                <a:spcPts val="1000"/>
              </a:spcAft>
              <a:defRPr sz="1425"/>
            </a:pPr>
            <a:r>
              <a:rPr lang="en-US" sz="1800" dirty="0">
                <a:latin typeface="Times New Roman" panose="02020603050405020304" pitchFamily="18" charset="0"/>
                <a:cs typeface="Times New Roman" panose="02020603050405020304" pitchFamily="18" charset="0"/>
              </a:rPr>
              <a:t>It identifies strengths on important factors, explains budget differences and compares nearby ranked areas.</a:t>
            </a:r>
          </a:p>
          <a:p>
            <a:pPr>
              <a:spcAft>
                <a:spcPts val="1000"/>
              </a:spcAft>
              <a:defRPr sz="1425"/>
            </a:pPr>
            <a:r>
              <a:rPr lang="en-US" sz="1800" dirty="0">
                <a:latin typeface="Times New Roman" panose="02020603050405020304" pitchFamily="18" charset="0"/>
                <a:cs typeface="Times New Roman" panose="02020603050405020304" pitchFamily="18" charset="0"/>
              </a:rPr>
              <a:t>An area profile can also describe population, student/age information, non-Irish population and housing/ethnicity information where available.</a:t>
            </a:r>
          </a:p>
        </p:txBody>
      </p:sp>
      <p:pic>
        <p:nvPicPr>
          <p:cNvPr id="10" name="Picture 9">
            <a:extLst>
              <a:ext uri="{FF2B5EF4-FFF2-40B4-BE49-F238E27FC236}">
                <a16:creationId xmlns:a16="http://schemas.microsoft.com/office/drawing/2014/main" id="{6AE30C53-B713-9B22-BF06-4FE19D711F20}"/>
              </a:ext>
            </a:extLst>
          </p:cNvPr>
          <p:cNvPicPr>
            <a:picLocks noChangeAspect="1"/>
          </p:cNvPicPr>
          <p:nvPr/>
        </p:nvPicPr>
        <p:blipFill>
          <a:blip r:embed="rId2"/>
          <a:stretch>
            <a:fillRect/>
          </a:stretch>
        </p:blipFill>
        <p:spPr>
          <a:xfrm>
            <a:off x="327660" y="2457730"/>
            <a:ext cx="5234940" cy="1928919"/>
          </a:xfrm>
          <a:prstGeom prst="rect">
            <a:avLst/>
          </a:prstGeom>
        </p:spPr>
      </p:pic>
      <p:pic>
        <p:nvPicPr>
          <p:cNvPr id="12" name="Picture 11">
            <a:extLst>
              <a:ext uri="{FF2B5EF4-FFF2-40B4-BE49-F238E27FC236}">
                <a16:creationId xmlns:a16="http://schemas.microsoft.com/office/drawing/2014/main" id="{7068C2B5-A764-836C-D8B0-9C82BE487BF5}"/>
              </a:ext>
            </a:extLst>
          </p:cNvPr>
          <p:cNvPicPr>
            <a:picLocks noChangeAspect="1"/>
          </p:cNvPicPr>
          <p:nvPr/>
        </p:nvPicPr>
        <p:blipFill>
          <a:blip r:embed="rId3"/>
          <a:stretch>
            <a:fillRect/>
          </a:stretch>
        </p:blipFill>
        <p:spPr>
          <a:xfrm>
            <a:off x="327660" y="804166"/>
            <a:ext cx="5234940" cy="1526872"/>
          </a:xfrm>
          <a:prstGeom prst="rect">
            <a:avLst/>
          </a:prstGeom>
        </p:spPr>
      </p:pic>
    </p:spTree>
    <p:extLst>
      <p:ext uri="{BB962C8B-B14F-4D97-AF65-F5344CB8AC3E}">
        <p14:creationId xmlns:p14="http://schemas.microsoft.com/office/powerpoint/2010/main" val="14587732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D50CB4-1843-18E1-D1A7-65851D2316D6}"/>
              </a:ext>
            </a:extLst>
          </p:cNvPr>
          <p:cNvSpPr>
            <a:spLocks noGrp="1"/>
          </p:cNvSpPr>
          <p:nvPr>
            <p:ph idx="1"/>
          </p:nvPr>
        </p:nvSpPr>
        <p:spPr>
          <a:xfrm>
            <a:off x="628650" y="778477"/>
            <a:ext cx="8181718" cy="3805880"/>
          </a:xfrm>
        </p:spPr>
        <p:txBody>
          <a:bodyPr>
            <a:normAutofit lnSpcReduction="10000"/>
          </a:bodyPr>
          <a:lstStyle/>
          <a:p>
            <a:r>
              <a:rPr lang="en-IN" b="1" dirty="0">
                <a:latin typeface="Times New Roman" panose="02020603050405020304" pitchFamily="18" charset="0"/>
                <a:ea typeface="Cambria" panose="02040503050406030204" pitchFamily="18" charset="0"/>
                <a:cs typeface="Times New Roman" panose="02020603050405020304" pitchFamily="18" charset="0"/>
              </a:rPr>
              <a:t>Prototype Today : </a:t>
            </a:r>
          </a:p>
          <a:p>
            <a:pPr>
              <a:spcAft>
                <a:spcPts val="1400"/>
              </a:spcAft>
              <a:buSzPct val="100000"/>
            </a:pPr>
            <a:r>
              <a:rPr lang="en-US" dirty="0">
                <a:latin typeface="Times New Roman" panose="02020603050405020304" pitchFamily="18" charset="0"/>
                <a:ea typeface="Calibri" pitchFamily="34" charset="-122"/>
                <a:cs typeface="Times New Roman" panose="02020603050405020304" pitchFamily="18" charset="0"/>
              </a:rPr>
              <a:t>Room rents and amenities and other data’s for D1, D2 and D3</a:t>
            </a:r>
            <a:endParaRPr lang="en-US" dirty="0">
              <a:latin typeface="Times New Roman" panose="02020603050405020304" pitchFamily="18" charset="0"/>
              <a:cs typeface="Times New Roman" panose="02020603050405020304" pitchFamily="18" charset="0"/>
            </a:endParaRPr>
          </a:p>
          <a:p>
            <a:pPr>
              <a:spcAft>
                <a:spcPts val="1400"/>
              </a:spcAft>
              <a:buSzPct val="100000"/>
            </a:pPr>
            <a:r>
              <a:rPr lang="en-US" dirty="0">
                <a:latin typeface="Times New Roman" panose="02020603050405020304" pitchFamily="18" charset="0"/>
                <a:ea typeface="Calibri" pitchFamily="34" charset="-122"/>
                <a:cs typeface="Times New Roman" panose="02020603050405020304" pitchFamily="18" charset="0"/>
              </a:rPr>
              <a:t>One university: TU Dublin </a:t>
            </a:r>
            <a:r>
              <a:rPr lang="en-US" dirty="0" err="1">
                <a:latin typeface="Times New Roman" panose="02020603050405020304" pitchFamily="18" charset="0"/>
                <a:ea typeface="Calibri" pitchFamily="34" charset="-122"/>
                <a:cs typeface="Times New Roman" panose="02020603050405020304" pitchFamily="18" charset="0"/>
              </a:rPr>
              <a:t>Grangegorman</a:t>
            </a:r>
            <a:endParaRPr lang="en-US" dirty="0">
              <a:latin typeface="Times New Roman" panose="02020603050405020304" pitchFamily="18" charset="0"/>
              <a:cs typeface="Times New Roman" panose="02020603050405020304" pitchFamily="18" charset="0"/>
            </a:endParaRPr>
          </a:p>
          <a:p>
            <a:pPr>
              <a:spcAft>
                <a:spcPts val="1400"/>
              </a:spcAft>
              <a:buSzPct val="100000"/>
            </a:pPr>
            <a:r>
              <a:rPr lang="en-US" b="1" dirty="0">
                <a:latin typeface="Times New Roman" panose="02020603050405020304" pitchFamily="18" charset="0"/>
                <a:ea typeface="Cambria" pitchFamily="34" charset="-122"/>
                <a:cs typeface="Times New Roman" panose="02020603050405020304" pitchFamily="18" charset="0"/>
              </a:rPr>
              <a:t>Next phase:</a:t>
            </a:r>
          </a:p>
          <a:p>
            <a:pPr>
              <a:spcAft>
                <a:spcPts val="1400"/>
              </a:spcAft>
              <a:buSzPct val="100000"/>
            </a:pPr>
            <a:r>
              <a:rPr lang="en-US" dirty="0">
                <a:latin typeface="Times New Roman" panose="02020603050405020304" pitchFamily="18" charset="0"/>
                <a:ea typeface="Calibri" pitchFamily="34" charset="-122"/>
                <a:cs typeface="Times New Roman" panose="02020603050405020304" pitchFamily="18" charset="0"/>
              </a:rPr>
              <a:t>Collect data for D1–D24</a:t>
            </a:r>
            <a:endParaRPr lang="en-US" dirty="0">
              <a:latin typeface="Times New Roman" panose="02020603050405020304" pitchFamily="18" charset="0"/>
              <a:cs typeface="Times New Roman" panose="02020603050405020304" pitchFamily="18" charset="0"/>
            </a:endParaRPr>
          </a:p>
          <a:p>
            <a:pPr>
              <a:spcAft>
                <a:spcPts val="1400"/>
              </a:spcAft>
              <a:buSzPct val="100000"/>
            </a:pPr>
            <a:r>
              <a:rPr lang="en-US" dirty="0">
                <a:latin typeface="Times New Roman" panose="02020603050405020304" pitchFamily="18" charset="0"/>
                <a:ea typeface="Calibri" pitchFamily="34" charset="-122"/>
                <a:cs typeface="Times New Roman" panose="02020603050405020304" pitchFamily="18" charset="0"/>
              </a:rPr>
              <a:t>Add more universities and campuses</a:t>
            </a:r>
            <a:endParaRPr lang="en-US" dirty="0">
              <a:latin typeface="Times New Roman" panose="02020603050405020304" pitchFamily="18" charset="0"/>
              <a:cs typeface="Times New Roman" panose="02020603050405020304" pitchFamily="18" charset="0"/>
            </a:endParaRPr>
          </a:p>
          <a:p>
            <a:pPr>
              <a:spcAft>
                <a:spcPts val="1400"/>
              </a:spcAft>
              <a:buSzPct val="100000"/>
            </a:pPr>
            <a:r>
              <a:rPr lang="en-US" dirty="0">
                <a:latin typeface="Times New Roman" panose="02020603050405020304" pitchFamily="18" charset="0"/>
                <a:ea typeface="Calibri" pitchFamily="34" charset="-122"/>
                <a:cs typeface="Times New Roman" panose="02020603050405020304" pitchFamily="18" charset="0"/>
              </a:rPr>
              <a:t>Build a web interface and test it with students</a:t>
            </a:r>
            <a:endParaRPr lang="en-US" dirty="0">
              <a:latin typeface="Times New Roman" panose="02020603050405020304" pitchFamily="18" charset="0"/>
              <a:cs typeface="Times New Roman" panose="02020603050405020304" pitchFamily="18" charset="0"/>
            </a:endParaRPr>
          </a:p>
          <a:p>
            <a:pPr>
              <a:spcAft>
                <a:spcPts val="1400"/>
              </a:spcAft>
              <a:buSzPct val="100000"/>
            </a:pPr>
            <a:endParaRPr lang="en-US" dirty="0"/>
          </a:p>
          <a:p>
            <a:endParaRPr lang="en-IN" dirty="0"/>
          </a:p>
        </p:txBody>
      </p:sp>
    </p:spTree>
    <p:extLst>
      <p:ext uri="{BB962C8B-B14F-4D97-AF65-F5344CB8AC3E}">
        <p14:creationId xmlns:p14="http://schemas.microsoft.com/office/powerpoint/2010/main" val="5620827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B855C-F8A4-E467-27AB-5AC8FA3979A4}"/>
              </a:ext>
            </a:extLst>
          </p:cNvPr>
          <p:cNvSpPr>
            <a:spLocks noGrp="1"/>
          </p:cNvSpPr>
          <p:nvPr>
            <p:ph type="title"/>
          </p:nvPr>
        </p:nvSpPr>
        <p:spPr>
          <a:xfrm>
            <a:off x="628650" y="1939848"/>
            <a:ext cx="7886700" cy="994172"/>
          </a:xfrm>
        </p:spPr>
        <p:txBody>
          <a:bodyPr>
            <a:normAutofit fontScale="90000"/>
          </a:bodyPr>
          <a:lstStyle/>
          <a:p>
            <a:pPr algn="ct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Thank you!</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32847693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706</TotalTime>
  <Words>1795</Words>
  <Application>Microsoft Office PowerPoint</Application>
  <PresentationFormat>On-screen Show (16:9)</PresentationFormat>
  <Paragraphs>306</Paragraphs>
  <Slides>42</Slides>
  <Notes>10</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42</vt:i4>
      </vt:variant>
    </vt:vector>
  </HeadingPairs>
  <TitlesOfParts>
    <vt:vector size="54" baseType="lpstr">
      <vt:lpstr>Aptos</vt:lpstr>
      <vt:lpstr>Aptos Display</vt:lpstr>
      <vt:lpstr>Arial</vt:lpstr>
      <vt:lpstr>Calibri</vt:lpstr>
      <vt:lpstr>Calibri Light</vt:lpstr>
      <vt:lpstr>Cambria</vt:lpstr>
      <vt:lpstr>Times New Roman</vt:lpstr>
      <vt:lpstr>Office Theme</vt:lpstr>
      <vt:lpstr>Office Theme</vt:lpstr>
      <vt:lpstr>Office Theme</vt:lpstr>
      <vt:lpstr>Office Theme</vt:lpstr>
      <vt:lpstr>Office Theme</vt:lpstr>
      <vt:lpstr>Find Your Dublin</vt:lpstr>
      <vt:lpstr>PowerPoint Presentation</vt:lpstr>
      <vt:lpstr>Requirement Specification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 Researched? – By: Santhosh Sekar Asha</vt:lpstr>
      <vt:lpstr>PowerPoint Presentation</vt:lpstr>
      <vt:lpstr>PowerPoint Presentation</vt:lpstr>
      <vt:lpstr>Data Collection – By: Vikneshwaran Venkatesh</vt:lpstr>
      <vt:lpstr>RENT</vt:lpstr>
      <vt:lpstr>COMMUTE</vt:lpstr>
      <vt:lpstr>AMENITIES</vt:lpstr>
      <vt:lpstr>CSO CENSUS </vt:lpstr>
      <vt:lpstr>FOR NEXT WEEK……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Prototype – By: Catherine Sherina</vt:lpstr>
      <vt:lpstr>1. Data Loading and Preparation:</vt:lpstr>
      <vt:lpstr>2. Student Inputs and Accommodation </vt:lpstr>
      <vt:lpstr>3. Scoring and Ranking Logic   </vt:lpstr>
      <vt:lpstr>4. Output and Explainability  </vt:lpstr>
      <vt:lpstr>PowerPoint Presentation</vt:lpstr>
      <vt:lpstr> Thank you!  Questions?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Sowmi ☽</cp:lastModifiedBy>
  <cp:revision>11</cp:revision>
  <dcterms:created xsi:type="dcterms:W3CDTF">2026-10-01T17:20:08Z</dcterms:created>
  <dcterms:modified xsi:type="dcterms:W3CDTF">2026-10-02T20:14:02Z</dcterms:modified>
</cp:coreProperties>
</file>