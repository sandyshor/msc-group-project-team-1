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9"/>
  </p:notesMasterIdLst>
  <p:sldIdLst>
    <p:sldId id="275" r:id="rId3"/>
    <p:sldId id="256" r:id="rId4"/>
    <p:sldId id="260" r:id="rId5"/>
    <p:sldId id="259" r:id="rId6"/>
    <p:sldId id="261" r:id="rId7"/>
    <p:sldId id="257" r:id="rId8"/>
    <p:sldId id="258" r:id="rId9"/>
    <p:sldId id="265" r:id="rId10"/>
    <p:sldId id="266" r:id="rId11"/>
    <p:sldId id="267" r:id="rId12"/>
    <p:sldId id="268" r:id="rId13"/>
    <p:sldId id="269" r:id="rId14"/>
    <p:sldId id="270" r:id="rId15"/>
    <p:sldId id="262"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baseline="0">
                <a:solidFill>
                  <a:srgbClr val="262626"/>
                </a:solidFill>
                <a:latin typeface="+mn-lt"/>
                <a:ea typeface="+mn-ea"/>
                <a:cs typeface="+mn-cs"/>
              </a:defRPr>
            </a:pPr>
            <a:r>
              <a:rPr lang="en-IE" sz="1200" b="0" i="0" u="none" strike="noStrike">
                <a:solidFill>
                  <a:srgbClr val="262626"/>
                </a:solidFill>
                <a:latin typeface="+mn-lt"/>
              </a:rPr>
              <a:t>One-bed apartment, monthly rent</a:t>
            </a:r>
          </a:p>
        </c:rich>
      </c:tx>
      <c:overlay val="0"/>
      <c:spPr>
        <a:noFill/>
        <a:ln>
          <a:noFill/>
        </a:ln>
        <a:effectLst/>
      </c:spPr>
      <c:txPr>
        <a:bodyPr rot="0" spcFirstLastPara="1" vertOverflow="ellipsis" vert="horz" wrap="square" anchor="ctr" anchorCtr="1"/>
        <a:lstStyle/>
        <a:p>
          <a:pPr>
            <a:defRPr sz="1200" b="0" i="0" u="none" strike="noStrike" kern="1200" baseline="0">
              <a:solidFill>
                <a:srgbClr val="262626"/>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RTB 2025 average</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rgbClr val="26262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D6</c:v>
                </c:pt>
                <c:pt idx="1">
                  <c:v>D7</c:v>
                </c:pt>
                <c:pt idx="2">
                  <c:v>D8</c:v>
                </c:pt>
                <c:pt idx="3">
                  <c:v>D9</c:v>
                </c:pt>
              </c:strCache>
            </c:strRef>
          </c:cat>
          <c:val>
            <c:numRef>
              <c:f>Sheet1!$B$2:$B$5</c:f>
              <c:numCache>
                <c:formatCode>General</c:formatCode>
                <c:ptCount val="4"/>
                <c:pt idx="0">
                  <c:v>1587</c:v>
                </c:pt>
                <c:pt idx="1">
                  <c:v>1474</c:v>
                </c:pt>
                <c:pt idx="2">
                  <c:v>1572</c:v>
                </c:pt>
                <c:pt idx="3">
                  <c:v>1453</c:v>
                </c:pt>
              </c:numCache>
            </c:numRef>
          </c:val>
          <c:extLst>
            <c:ext xmlns:c16="http://schemas.microsoft.com/office/drawing/2014/chart" uri="{C3380CC4-5D6E-409C-BE32-E72D297353CC}">
              <c16:uniqueId val="{00000000-7653-4865-AC13-6AC6FFDB6938}"/>
            </c:ext>
          </c:extLst>
        </c:ser>
        <c:ser>
          <c:idx val="1"/>
          <c:order val="1"/>
          <c:tx>
            <c:strRef>
              <c:f>Sheet1!$C$1</c:f>
              <c:strCache>
                <c:ptCount val="1"/>
                <c:pt idx="0">
                  <c:v>Daft.ie asking (median)</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rgbClr val="26262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D6</c:v>
                </c:pt>
                <c:pt idx="1">
                  <c:v>D7</c:v>
                </c:pt>
                <c:pt idx="2">
                  <c:v>D8</c:v>
                </c:pt>
                <c:pt idx="3">
                  <c:v>D9</c:v>
                </c:pt>
              </c:strCache>
            </c:strRef>
          </c:cat>
          <c:val>
            <c:numRef>
              <c:f>Sheet1!$C$2:$C$5</c:f>
              <c:numCache>
                <c:formatCode>General</c:formatCode>
                <c:ptCount val="4"/>
                <c:pt idx="0">
                  <c:v>1850</c:v>
                </c:pt>
                <c:pt idx="1">
                  <c:v>1925</c:v>
                </c:pt>
                <c:pt idx="2">
                  <c:v>2200</c:v>
                </c:pt>
                <c:pt idx="3">
                  <c:v>2213</c:v>
                </c:pt>
              </c:numCache>
            </c:numRef>
          </c:val>
          <c:extLst>
            <c:ext xmlns:c16="http://schemas.microsoft.com/office/drawing/2014/chart" uri="{C3380CC4-5D6E-409C-BE32-E72D297353CC}">
              <c16:uniqueId val="{00000001-7653-4865-AC13-6AC6FFDB693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100" b="0" i="0" u="none" strike="noStrike" kern="1200" baseline="0">
                <a:solidFill>
                  <a:srgbClr val="595959"/>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rgbClr val="262626"/>
              </a:solidFill>
              <a:latin typeface="+mn-lt"/>
              <a:ea typeface="+mn-ea"/>
              <a:cs typeface="+mn-lt"/>
            </a:defRPr>
          </a:pPr>
          <a:endParaRPr lang="en-US"/>
        </a:p>
      </c:txPr>
    </c:legend>
    <c:plotVisOnly val="1"/>
    <c:dispBlanksAs val="span"/>
    <c:showDLblsOverMax val="1"/>
  </c:chart>
  <c:spPr>
    <a:noFill/>
    <a:ln w="1270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5DE2A5-36F8-4EC1-ABB0-E5023086B0AB}" type="datetimeFigureOut">
              <a:rPr lang="en-IE" smtClean="0"/>
              <a:t>09/10/2026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0C378-477B-4CB1-B442-C62951EE51D0}" type="slidenum">
              <a:rPr lang="en-IE" smtClean="0"/>
              <a:t>‹#›</a:t>
            </a:fld>
            <a:endParaRPr lang="en-IE"/>
          </a:p>
        </p:txBody>
      </p:sp>
    </p:spTree>
    <p:extLst>
      <p:ext uri="{BB962C8B-B14F-4D97-AF65-F5344CB8AC3E}">
        <p14:creationId xmlns:p14="http://schemas.microsoft.com/office/powerpoint/2010/main" val="2692920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my job was getting rent data for Dublin 6 to Dublin 10, so the recommender could cover more areas than just D1 to D3.
I used two sources. The first is the RTB average rent table, which comes from the CSO. It covers all of Ireland from 2008 to 2025, so it's over 337,000 rows. I filtered it down to just 2025 and "all property types", and then pulled the area code out of the location name, so "Rathmines, Dublin 6" becomes D6. That left 137 rows for our five areas, and I saved it in the same format as the RTB files we already had, so the code could read it straight away.
The second source is Daft.ie. I collected 142 listings by hand: 40 in D6, 38 in D7, 29 in D8, 24 in D9 and 11 in D10. Some listings were priced per week, so I converted those to monthly by multiplying by 4.33. I also tidied up the room types so they match the labels in our D1 to D3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both datasets were clean, I compared them, and this was the most interesting result.
The light bars are the RTB average for a one-bed in 2025, and the dark bars are the median asking rent on Daft right now. In every area the Daft price is higher. In D7 it's about €450 a month more, and in D9 it's about €760 more.
The reason is that RTB records rents on leases that already exist, and many of those started years ago at lower prices. Daft shows what you'd actually pay if you started looking today, which is the situation our users are in.
So for our project this matters: if we only use RTB, the recommender will make areas look cheaper than they really are for a new student. D10 isn't on the chart because I didn't find any one-bed listings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added all of this into our recommender code.
Before this week, the recommender could only compare three areas, D1 to D3. Now it compares eight. To do that I added the new rent files and the new RTB file to the lists the code loads, and added the amenity counts and commute times for the new areas. I also changed how the notebook loads the data. Downloading the shared folder with gdown kept failing on permissions, so now it reads the files directly from Google Drive, which is more reliable.
The result is that D7 now appears in the recommendations. It's close to Grangegorman, and rooms there are some of the cheapest in our data, so it makes sense for a student on a budget.
There are still a couple of gaps. I didn't find any single or double room listings in D9, so D9 drops out when someone searches for a room, and D10 only has 11 listings. Next week I'd like to collect more listings for those two areas.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72E9D-53B9-2DA0-C302-DBC02DD04D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277734-33F3-4BC4-AD10-CA7CC310BF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EF0F3-FAC5-9957-1CCB-8CC8100D7713}"/>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C4795EB3-99DA-DA77-DAE2-C6BDA7B44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22AFC3-D821-285C-CD22-FDA33871C51A}"/>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355802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E8BF-992C-FE25-5B24-E7F72D6DFF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EDD7F9-C047-DCBB-5341-4502E014B5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A7495F-2CCE-4C87-A800-E2D25C0C7B79}"/>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F860BE85-864B-6258-2BD8-A37142021A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7176DB-46EA-F121-37CE-43B1066E8819}"/>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28879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1DE6-2C93-513C-41AE-FE56062008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6FB1BD-8232-5A5E-61AE-9B2D906E71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D53B1C-0DF3-DF0F-EBD9-199E8AF264D6}"/>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E9CF392D-3483-3C95-39E2-355C2DF51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342B39-118F-3066-898E-8D254B9755C4}"/>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2472944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AAE0B-D822-DA2E-5A00-87F8BFC09B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99C0D4-0222-9C9D-2A70-1C4C6C9173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323BFC-BAFD-3690-E8A4-B04412C003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6C84FF-F5EC-C46A-9A52-99A818DF599D}"/>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6" name="Footer Placeholder 5">
            <a:extLst>
              <a:ext uri="{FF2B5EF4-FFF2-40B4-BE49-F238E27FC236}">
                <a16:creationId xmlns:a16="http://schemas.microsoft.com/office/drawing/2014/main" id="{2748A462-0361-F8C9-4B5D-53641BA16C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9764B5-EC9E-9B75-83C8-AD41DB010C71}"/>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2486974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2988F-0159-5A4A-DF2B-6DF60A6592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097D3D-2126-70C5-6407-6B4AEFC0AE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547C10-9DCC-DF71-0FCD-4BA6F237D0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E3C35F-F08E-4811-0253-EA796BF5FB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C53723-CF87-266C-E80C-CCDF5F2C02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3F44D8-3E4E-7D13-CF08-FE795C973B15}"/>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8" name="Footer Placeholder 7">
            <a:extLst>
              <a:ext uri="{FF2B5EF4-FFF2-40B4-BE49-F238E27FC236}">
                <a16:creationId xmlns:a16="http://schemas.microsoft.com/office/drawing/2014/main" id="{5F6CFA35-0AE7-77F1-6451-D0A6D341DA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F14826-291F-D5DC-C3ED-28B39BFF7854}"/>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61263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9A1A-75A9-41A6-718C-141C50FBB9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AE1816-5D53-F51E-876C-106DB3DEEB25}"/>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4" name="Footer Placeholder 3">
            <a:extLst>
              <a:ext uri="{FF2B5EF4-FFF2-40B4-BE49-F238E27FC236}">
                <a16:creationId xmlns:a16="http://schemas.microsoft.com/office/drawing/2014/main" id="{A38DB0E0-8FDA-7FFE-D3B0-C2BE752FB3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F8A8AB-1EA5-B96B-1CF7-AF9D4D113C08}"/>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550602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BFA516-71B8-E771-116E-3EBABD63E06E}"/>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3" name="Footer Placeholder 2">
            <a:extLst>
              <a:ext uri="{FF2B5EF4-FFF2-40B4-BE49-F238E27FC236}">
                <a16:creationId xmlns:a16="http://schemas.microsoft.com/office/drawing/2014/main" id="{FD79729C-E969-46C1-C8F4-09C6AC98AA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738040-DF2A-F491-C1DC-0CDDE2FAA349}"/>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986163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6EABD-6CDF-55A4-ECB2-607231DF6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8B76C2-13E0-B109-DDD6-EEBAF4105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EBD34C-4370-8259-5A80-4C4F96E8F5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AEF5DB-C00B-B48E-D292-923A59FA8E26}"/>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6" name="Footer Placeholder 5">
            <a:extLst>
              <a:ext uri="{FF2B5EF4-FFF2-40B4-BE49-F238E27FC236}">
                <a16:creationId xmlns:a16="http://schemas.microsoft.com/office/drawing/2014/main" id="{43B0D3B4-0063-5296-87F2-B7C1DECB13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AFDB0F-90C0-5F02-8E3C-2DE2CA309D43}"/>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2477905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389D9-2333-2585-DA37-D17325735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11E2D8-7548-4B9B-28E0-9EE7C3F761C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09A792-8D4F-C670-8F05-3F98943C7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D69D15-34E2-9735-FCCC-30B68A79150A}"/>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6" name="Footer Placeholder 5">
            <a:extLst>
              <a:ext uri="{FF2B5EF4-FFF2-40B4-BE49-F238E27FC236}">
                <a16:creationId xmlns:a16="http://schemas.microsoft.com/office/drawing/2014/main" id="{E3903726-0B08-270F-DD22-67ECF7164D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DFF536-64EC-F235-C252-D6C86D8CDDAC}"/>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3343006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2AA1-F7F4-56C9-2B6A-3E72275BD5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D55DB9-A541-56D0-E3A5-55DEC47A1C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3D42AB-6182-7A3E-977A-8ECC72D40140}"/>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2864522B-1830-9784-2567-0296E47ABF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242621-2EB6-3C11-A22C-0EA71982A0C2}"/>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74285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BDB33F-89B0-9B21-8D6A-BACE28D7F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384E27-7CCC-BFFD-794A-AD2439895B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DA062B-F0C8-6BFD-BB7C-93BEB097A3F3}"/>
              </a:ext>
            </a:extLst>
          </p:cNvPr>
          <p:cNvSpPr>
            <a:spLocks noGrp="1"/>
          </p:cNvSpPr>
          <p:nvPr>
            <p:ph type="dt" sz="half" idx="10"/>
          </p:nvPr>
        </p:nvSpPr>
        <p:spPr/>
        <p:txBody>
          <a:body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2D829551-7D97-E4B3-7D5E-1F271177D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23598-57D6-9262-8CD3-C2E51D8850AD}"/>
              </a:ext>
            </a:extLst>
          </p:cNvPr>
          <p:cNvSpPr>
            <a:spLocks noGrp="1"/>
          </p:cNvSpPr>
          <p:nvPr>
            <p:ph type="sldNum" sz="quarter" idx="12"/>
          </p:nvPr>
        </p:nvSpPr>
        <p:spPr/>
        <p:txBody>
          <a:bodyPr/>
          <a:lstStyle/>
          <a:p>
            <a:fld id="{FC7C1156-FE5D-4094-B639-1A7B0590D3A6}" type="slidenum">
              <a:rPr lang="en-IN" smtClean="0"/>
              <a:t>‹#›</a:t>
            </a:fld>
            <a:endParaRPr lang="en-IN"/>
          </a:p>
        </p:txBody>
      </p:sp>
    </p:spTree>
    <p:extLst>
      <p:ext uri="{BB962C8B-B14F-4D97-AF65-F5344CB8AC3E}">
        <p14:creationId xmlns:p14="http://schemas.microsoft.com/office/powerpoint/2010/main" val="1161272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3" name="Text 0"/>
          <p:cNvSpPr/>
          <p:nvPr/>
        </p:nvSpPr>
        <p:spPr>
          <a:xfrm>
            <a:off x="609600" y="6339840"/>
            <a:ext cx="7315200" cy="365760"/>
          </a:xfrm>
          <a:prstGeom prst="rect">
            <a:avLst/>
          </a:prstGeom>
          <a:noFill/>
          <a:ln/>
        </p:spPr>
        <p:txBody>
          <a:bodyPr wrap="square" lIns="0" tIns="0" rIns="0" bIns="0" rtlCol="0" anchor="ctr"/>
          <a:lstStyle/>
          <a:p>
            <a:pPr marL="0" indent="0">
              <a:buNone/>
            </a:pPr>
            <a:endParaRPr lang="en-US" sz="1333" dirty="0"/>
          </a:p>
        </p:txBody>
      </p:sp>
      <p:sp>
        <p:nvSpPr>
          <p:cNvPr id="25" name="Slide Number Placeholder 0"/>
          <p:cNvSpPr>
            <a:spLocks noGrp="1"/>
          </p:cNvSpPr>
          <p:nvPr>
            <p:ph type="sldNum" sz="quarter" idx="4294967295"/>
          </p:nvPr>
        </p:nvSpPr>
        <p:spPr>
          <a:xfrm>
            <a:off x="10652869" y="6242997"/>
            <a:ext cx="929532" cy="462603"/>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endParaRPr lang="en-US" dirty="0"/>
          </a:p>
        </p:txBody>
      </p:sp>
    </p:spTree>
    <p:extLst>
      <p:ext uri="{BB962C8B-B14F-4D97-AF65-F5344CB8AC3E}">
        <p14:creationId xmlns:p14="http://schemas.microsoft.com/office/powerpoint/2010/main" val="3098352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9B6093-2670-4192-81BA-2ECEADC9ADCA}" type="datetime1">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0388553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3EDF25-4A79-43CC-8379-7A50F793B1B0}" type="datetime1">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936900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4"/>
            <a:ext cx="7772400" cy="1470024"/>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EC8EA6A-FC20-4FF9-8CC7-33D989FE24DB}" type="datetime1">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354801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7ABCD0-F494-A9B6-7AB3-433EC2B44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4A25FA-880F-6464-9AB9-F819CC7A3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05E63-0980-52A9-456B-AFF843BDE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88DCC0-839C-4087-8711-63102F1BC52E}" type="datetimeFigureOut">
              <a:rPr lang="en-IN" smtClean="0"/>
              <a:t>09-10-2026</a:t>
            </a:fld>
            <a:endParaRPr lang="en-IN"/>
          </a:p>
        </p:txBody>
      </p:sp>
      <p:sp>
        <p:nvSpPr>
          <p:cNvPr id="5" name="Footer Placeholder 4">
            <a:extLst>
              <a:ext uri="{FF2B5EF4-FFF2-40B4-BE49-F238E27FC236}">
                <a16:creationId xmlns:a16="http://schemas.microsoft.com/office/drawing/2014/main" id="{0624642C-8BFB-C6C0-A0F8-AE2BC9BB1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235D9D3-DE04-6B31-CB6C-CAA895F523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7C1156-FE5D-4094-B639-1A7B0590D3A6}" type="slidenum">
              <a:rPr lang="en-IN" smtClean="0"/>
              <a:t>‹#›</a:t>
            </a:fld>
            <a:endParaRPr lang="en-IN"/>
          </a:p>
        </p:txBody>
      </p:sp>
    </p:spTree>
    <p:extLst>
      <p:ext uri="{BB962C8B-B14F-4D97-AF65-F5344CB8AC3E}">
        <p14:creationId xmlns:p14="http://schemas.microsoft.com/office/powerpoint/2010/main" val="4117336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4"/>
          </a:xfrm>
          <a:prstGeom prst="rect">
            <a:avLst/>
          </a:prstGeom>
        </p:spPr>
        <p:txBody>
          <a:bodyPr vert="horz" lIns="91440" tIns="45720" rIns="91440" bIns="45720" rtlCol="0" anchor="ctr"/>
          <a:lstStyle>
            <a:lvl1pPr algn="l">
              <a:defRPr sz="1200">
                <a:solidFill>
                  <a:schemeClr val="tx1">
                    <a:tint val="75000"/>
                  </a:schemeClr>
                </a:solidFill>
              </a:defRPr>
            </a:lvl1pPr>
          </a:lstStyle>
          <a:p>
            <a:fld id="{DBEB8FFE-9494-4CD7-8EF2-D0F3C6CA0F5F}" type="datetime1">
              <a:rPr lang="en-US" smtClean="0"/>
              <a:t>10/9/2026</a:t>
            </a:fld>
            <a:endParaRPr lang="en-US"/>
          </a:p>
        </p:txBody>
      </p:sp>
      <p:sp>
        <p:nvSpPr>
          <p:cNvPr id="5" name="Footer Placeholder 4"/>
          <p:cNvSpPr>
            <a:spLocks noGrp="1"/>
          </p:cNvSpPr>
          <p:nvPr>
            <p:ph type="ftr" sz="quarter" idx="3"/>
          </p:nvPr>
        </p:nvSpPr>
        <p:spPr>
          <a:xfrm>
            <a:off x="3124200" y="6356350"/>
            <a:ext cx="2895600"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4"/>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8072664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hf hdr="0" ftr="0" dt="0"/>
  <p:txStyles>
    <p:titleStyle>
      <a:lvl1pPr algn="ctr" defTabSz="609585" rtl="0" eaLnBrk="1" latinLnBrk="0" hangingPunct="1">
        <a:spcBef>
          <a:spcPct val="0"/>
        </a:spcBef>
        <a:buNone/>
        <a:defRPr sz="4400"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28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4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000"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0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0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0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609585" rtl="0" eaLnBrk="1" latinLnBrk="0" hangingPunct="1">
        <a:defRPr sz="1800" kern="1200">
          <a:solidFill>
            <a:schemeClr val="tx1"/>
          </a:solidFill>
          <a:latin typeface="+mn-lt"/>
          <a:ea typeface="+mn-ea"/>
          <a:cs typeface="+mn-cs"/>
        </a:defRPr>
      </a:lvl1pPr>
      <a:lvl2pPr marL="609585" algn="l" defTabSz="609585" rtl="0" eaLnBrk="1" latinLnBrk="0" hangingPunct="1">
        <a:defRPr sz="1800" kern="1200">
          <a:solidFill>
            <a:schemeClr val="tx1"/>
          </a:solidFill>
          <a:latin typeface="+mn-lt"/>
          <a:ea typeface="+mn-ea"/>
          <a:cs typeface="+mn-cs"/>
        </a:defRPr>
      </a:lvl2pPr>
      <a:lvl3pPr marL="1219170" algn="l" defTabSz="609585" rtl="0" eaLnBrk="1" latinLnBrk="0" hangingPunct="1">
        <a:defRPr sz="1800" kern="1200">
          <a:solidFill>
            <a:schemeClr val="tx1"/>
          </a:solidFill>
          <a:latin typeface="+mn-lt"/>
          <a:ea typeface="+mn-ea"/>
          <a:cs typeface="+mn-cs"/>
        </a:defRPr>
      </a:lvl3pPr>
      <a:lvl4pPr marL="1828754" algn="l" defTabSz="609585" rtl="0" eaLnBrk="1" latinLnBrk="0" hangingPunct="1">
        <a:defRPr sz="1800" kern="1200">
          <a:solidFill>
            <a:schemeClr val="tx1"/>
          </a:solidFill>
          <a:latin typeface="+mn-lt"/>
          <a:ea typeface="+mn-ea"/>
          <a:cs typeface="+mn-cs"/>
        </a:defRPr>
      </a:lvl4pPr>
      <a:lvl5pPr marL="2438339" algn="l" defTabSz="609585" rtl="0" eaLnBrk="1" latinLnBrk="0" hangingPunct="1">
        <a:defRPr sz="1800" kern="1200">
          <a:solidFill>
            <a:schemeClr val="tx1"/>
          </a:solidFill>
          <a:latin typeface="+mn-lt"/>
          <a:ea typeface="+mn-ea"/>
          <a:cs typeface="+mn-cs"/>
        </a:defRPr>
      </a:lvl5pPr>
      <a:lvl6pPr marL="3047924" algn="l" defTabSz="609585" rtl="0" eaLnBrk="1" latinLnBrk="0" hangingPunct="1">
        <a:defRPr sz="1800" kern="1200">
          <a:solidFill>
            <a:schemeClr val="tx1"/>
          </a:solidFill>
          <a:latin typeface="+mn-lt"/>
          <a:ea typeface="+mn-ea"/>
          <a:cs typeface="+mn-cs"/>
        </a:defRPr>
      </a:lvl6pPr>
      <a:lvl7pPr marL="3657509" algn="l" defTabSz="609585" rtl="0" eaLnBrk="1" latinLnBrk="0" hangingPunct="1">
        <a:defRPr sz="1800" kern="1200">
          <a:solidFill>
            <a:schemeClr val="tx1"/>
          </a:solidFill>
          <a:latin typeface="+mn-lt"/>
          <a:ea typeface="+mn-ea"/>
          <a:cs typeface="+mn-cs"/>
        </a:defRPr>
      </a:lvl7pPr>
      <a:lvl8pPr marL="4267093" algn="l" defTabSz="609585" rtl="0" eaLnBrk="1" latinLnBrk="0" hangingPunct="1">
        <a:defRPr sz="1800" kern="1200">
          <a:solidFill>
            <a:schemeClr val="tx1"/>
          </a:solidFill>
          <a:latin typeface="+mn-lt"/>
          <a:ea typeface="+mn-ea"/>
          <a:cs typeface="+mn-cs"/>
        </a:defRPr>
      </a:lvl8pPr>
      <a:lvl9pPr marL="4876678" algn="l" defTabSz="60958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colab.research.google.com/github/Sandyshor/Msc-Group-Project-Team-1/blob/main/Recommendation_system.ipynb"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white"/>
              </a:solidFill>
              <a:latin typeface="Calibri"/>
            </a:endParaRPr>
          </a:p>
        </p:txBody>
      </p:sp>
      <p:pic>
        <p:nvPicPr>
          <p:cNvPr id="6" name="Picture 5">
            <a:extLst>
              <a:ext uri="{FF2B5EF4-FFF2-40B4-BE49-F238E27FC236}">
                <a16:creationId xmlns:a16="http://schemas.microsoft.com/office/drawing/2014/main" id="{5AC252A8-ABF4-56DF-4427-ABAC67049E39}"/>
              </a:ext>
            </a:extLst>
          </p:cNvPr>
          <p:cNvPicPr>
            <a:picLocks noChangeAspect="1"/>
          </p:cNvPicPr>
          <p:nvPr/>
        </p:nvPicPr>
        <p:blipFill>
          <a:blip r:embed="rId2"/>
          <a:srcRect l="3001" r="3001"/>
          <a:stretch/>
        </p:blipFill>
        <p:spPr>
          <a:xfrm>
            <a:off x="1" y="10"/>
            <a:ext cx="9240740" cy="6857989"/>
          </a:xfrm>
          <a:prstGeom prst="rect">
            <a:avLst/>
          </a:prstGeom>
        </p:spPr>
      </p:pic>
      <p:sp>
        <p:nvSpPr>
          <p:cNvPr id="13" name="Rectangle 1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20" y="0"/>
            <a:ext cx="706697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dirty="0">
              <a:solidFill>
                <a:prstClr val="white"/>
              </a:solidFill>
              <a:latin typeface="Calibri"/>
            </a:endParaRPr>
          </a:p>
        </p:txBody>
      </p:sp>
      <p:sp>
        <p:nvSpPr>
          <p:cNvPr id="2" name="Title 1">
            <a:extLst>
              <a:ext uri="{FF2B5EF4-FFF2-40B4-BE49-F238E27FC236}">
                <a16:creationId xmlns:a16="http://schemas.microsoft.com/office/drawing/2014/main" id="{041884C6-5951-3834-AFA7-549A4ED5BB0B}"/>
              </a:ext>
            </a:extLst>
          </p:cNvPr>
          <p:cNvSpPr>
            <a:spLocks noGrp="1"/>
          </p:cNvSpPr>
          <p:nvPr>
            <p:ph type="ctrTitle"/>
          </p:nvPr>
        </p:nvSpPr>
        <p:spPr>
          <a:xfrm>
            <a:off x="8634917" y="593021"/>
            <a:ext cx="3445764" cy="3692028"/>
          </a:xfrm>
          <a:noFill/>
        </p:spPr>
        <p:txBody>
          <a:bodyPr>
            <a:normAutofit/>
          </a:bodyPr>
          <a:lstStyle/>
          <a:p>
            <a:pPr algn="l"/>
            <a:r>
              <a:rPr lang="en-IN" sz="5200" b="1" dirty="0">
                <a:latin typeface="Times New Roman" panose="02020603050405020304" pitchFamily="18" charset="0"/>
                <a:cs typeface="Times New Roman" panose="02020603050405020304" pitchFamily="18" charset="0"/>
              </a:rPr>
              <a:t>Find Your Dublin</a:t>
            </a:r>
          </a:p>
        </p:txBody>
      </p:sp>
      <p:sp>
        <p:nvSpPr>
          <p:cNvPr id="3" name="Subtitle 2">
            <a:extLst>
              <a:ext uri="{FF2B5EF4-FFF2-40B4-BE49-F238E27FC236}">
                <a16:creationId xmlns:a16="http://schemas.microsoft.com/office/drawing/2014/main" id="{202B0856-748F-F30D-6E88-DA9AD6E65529}"/>
              </a:ext>
            </a:extLst>
          </p:cNvPr>
          <p:cNvSpPr>
            <a:spLocks noGrp="1"/>
          </p:cNvSpPr>
          <p:nvPr>
            <p:ph type="subTitle" idx="1"/>
          </p:nvPr>
        </p:nvSpPr>
        <p:spPr>
          <a:xfrm>
            <a:off x="8689050" y="3724253"/>
            <a:ext cx="3445765" cy="1485319"/>
          </a:xfrm>
          <a:noFill/>
        </p:spPr>
        <p:txBody>
          <a:bodyPr>
            <a:normAutofit/>
          </a:bodyPr>
          <a:lstStyle/>
          <a:p>
            <a:pPr algn="l"/>
            <a:r>
              <a:rPr lang="en-IN" b="1" dirty="0">
                <a:latin typeface="Times New Roman" panose="02020603050405020304" pitchFamily="18" charset="0"/>
                <a:cs typeface="Times New Roman" panose="02020603050405020304" pitchFamily="18" charset="0"/>
              </a:rPr>
              <a:t>Group 1 MSc Team Project</a:t>
            </a:r>
          </a:p>
        </p:txBody>
      </p:sp>
      <p:sp>
        <p:nvSpPr>
          <p:cNvPr id="4" name="Subtitle 2">
            <a:extLst>
              <a:ext uri="{FF2B5EF4-FFF2-40B4-BE49-F238E27FC236}">
                <a16:creationId xmlns:a16="http://schemas.microsoft.com/office/drawing/2014/main" id="{105DC519-DEFB-1968-5695-CBC21940EC8D}"/>
              </a:ext>
            </a:extLst>
          </p:cNvPr>
          <p:cNvSpPr txBox="1">
            <a:spLocks/>
          </p:cNvSpPr>
          <p:nvPr/>
        </p:nvSpPr>
        <p:spPr>
          <a:xfrm>
            <a:off x="2839940" y="4085645"/>
            <a:ext cx="6400800" cy="900484"/>
          </a:xfrm>
          <a:prstGeom prst="rect">
            <a:avLst/>
          </a:prstGeom>
        </p:spPr>
        <p:txBody>
          <a:bodyPr vert="horz" lIns="121920" tIns="60960" rIns="121920" bIns="6096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defTabSz="609585"/>
            <a:endParaRPr lang="en-IN" sz="3200" b="1" dirty="0">
              <a:solidFill>
                <a:prstClr val="black">
                  <a:tint val="75000"/>
                </a:prstClr>
              </a:solidFill>
              <a:latin typeface="Calibri"/>
            </a:endParaRPr>
          </a:p>
        </p:txBody>
      </p:sp>
    </p:spTree>
    <p:extLst>
      <p:ext uri="{BB962C8B-B14F-4D97-AF65-F5344CB8AC3E}">
        <p14:creationId xmlns:p14="http://schemas.microsoft.com/office/powerpoint/2010/main" val="156997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70BB-AD89-492C-F930-BAD4C3BB4708}"/>
              </a:ext>
            </a:extLst>
          </p:cNvPr>
          <p:cNvSpPr>
            <a:spLocks noGrp="1"/>
          </p:cNvSpPr>
          <p:nvPr>
            <p:ph type="title"/>
          </p:nvPr>
        </p:nvSpPr>
        <p:spPr>
          <a:xfrm>
            <a:off x="838200" y="681037"/>
            <a:ext cx="10515600" cy="1009651"/>
          </a:xfrm>
        </p:spPr>
        <p:txBody>
          <a:bodyPr>
            <a:normAutofit/>
          </a:bodyPr>
          <a:lstStyle/>
          <a:p>
            <a:r>
              <a:rPr lang="en-US" sz="4400" dirty="0">
                <a:solidFill>
                  <a:schemeClr val="accent1"/>
                </a:solidFill>
              </a:rPr>
              <a:t>User Persona </a:t>
            </a:r>
            <a:r>
              <a:rPr lang="en-IN" dirty="0">
                <a:solidFill>
                  <a:schemeClr val="accent1"/>
                </a:solidFill>
              </a:rPr>
              <a:t>– International Student in Dublin</a:t>
            </a:r>
            <a:endParaRPr lang="en-IN" sz="4400" dirty="0"/>
          </a:p>
        </p:txBody>
      </p:sp>
      <p:sp>
        <p:nvSpPr>
          <p:cNvPr id="3" name="Subtitle 2">
            <a:extLst>
              <a:ext uri="{FF2B5EF4-FFF2-40B4-BE49-F238E27FC236}">
                <a16:creationId xmlns:a16="http://schemas.microsoft.com/office/drawing/2014/main" id="{F1AD2228-F6A0-0F36-E5DD-1C898612393C}"/>
              </a:ext>
            </a:extLst>
          </p:cNvPr>
          <p:cNvSpPr>
            <a:spLocks noGrp="1"/>
          </p:cNvSpPr>
          <p:nvPr>
            <p:ph sz="half" idx="1"/>
          </p:nvPr>
        </p:nvSpPr>
        <p:spPr/>
        <p:txBody>
          <a:bodyPr/>
          <a:lstStyle/>
          <a:p>
            <a:pPr marL="0" indent="0">
              <a:buNone/>
            </a:pPr>
            <a:r>
              <a:rPr lang="en-US" dirty="0">
                <a:solidFill>
                  <a:schemeClr val="accent1"/>
                </a:solidFill>
              </a:rPr>
              <a:t>What this student needs</a:t>
            </a:r>
          </a:p>
          <a:p>
            <a:pPr marL="0" indent="0">
              <a:buNone/>
            </a:pPr>
            <a:endParaRPr lang="en-US" dirty="0"/>
          </a:p>
        </p:txBody>
      </p:sp>
      <p:sp>
        <p:nvSpPr>
          <p:cNvPr id="10" name="Content Placeholder 9">
            <a:extLst>
              <a:ext uri="{FF2B5EF4-FFF2-40B4-BE49-F238E27FC236}">
                <a16:creationId xmlns:a16="http://schemas.microsoft.com/office/drawing/2014/main" id="{3EED40ED-C096-97F2-5437-0EE5751F31EA}"/>
              </a:ext>
            </a:extLst>
          </p:cNvPr>
          <p:cNvSpPr>
            <a:spLocks noGrp="1"/>
          </p:cNvSpPr>
          <p:nvPr>
            <p:ph sz="half" idx="2"/>
          </p:nvPr>
        </p:nvSpPr>
        <p:spPr/>
        <p:txBody>
          <a:bodyPr/>
          <a:lstStyle/>
          <a:p>
            <a:pPr marL="0" indent="0">
              <a:buNone/>
            </a:pPr>
            <a:r>
              <a:rPr lang="en-US" dirty="0">
                <a:solidFill>
                  <a:schemeClr val="accent1"/>
                </a:solidFill>
              </a:rPr>
              <a:t>Persona statement</a:t>
            </a:r>
          </a:p>
        </p:txBody>
      </p:sp>
      <p:sp>
        <p:nvSpPr>
          <p:cNvPr id="7" name="TextBox 6">
            <a:extLst>
              <a:ext uri="{FF2B5EF4-FFF2-40B4-BE49-F238E27FC236}">
                <a16:creationId xmlns:a16="http://schemas.microsoft.com/office/drawing/2014/main" id="{A0927A2E-9755-5878-5317-E471F743CE91}"/>
              </a:ext>
            </a:extLst>
          </p:cNvPr>
          <p:cNvSpPr txBox="1"/>
          <p:nvPr/>
        </p:nvSpPr>
        <p:spPr>
          <a:xfrm>
            <a:off x="973394" y="2452985"/>
            <a:ext cx="3854245" cy="3221395"/>
          </a:xfrm>
          <a:prstGeom prst="rect">
            <a:avLst/>
          </a:prstGeom>
          <a:noFill/>
        </p:spPr>
        <p:txBody>
          <a:bodyPr wrap="square">
            <a:spAutoFit/>
          </a:bodyPr>
          <a:lstStyle/>
          <a:p>
            <a:pPr marL="342900" indent="-342900">
              <a:spcBef>
                <a:spcPts val="700"/>
              </a:spcBef>
              <a:buFont typeface="Arial" panose="020B0604020202020204" pitchFamily="34" charset="0"/>
              <a:buChar char="•"/>
              <a:defRPr sz="1500">
                <a:solidFill>
                  <a:srgbClr val="232A34"/>
                </a:solidFill>
              </a:defRPr>
            </a:pPr>
            <a:r>
              <a:rPr lang="en-US" sz="2000" dirty="0"/>
              <a:t>Convenient public transport</a:t>
            </a:r>
          </a:p>
          <a:p>
            <a:pPr marL="342900" indent="-342900">
              <a:spcBef>
                <a:spcPts val="700"/>
              </a:spcBef>
              <a:buFont typeface="Arial" panose="020B0604020202020204" pitchFamily="34" charset="0"/>
              <a:buChar char="•"/>
              <a:defRPr sz="1500">
                <a:solidFill>
                  <a:srgbClr val="232A34"/>
                </a:solidFill>
              </a:defRPr>
            </a:pPr>
            <a:r>
              <a:rPr lang="en-US" sz="2000" dirty="0"/>
              <a:t>A manageable commute to university</a:t>
            </a:r>
          </a:p>
          <a:p>
            <a:pPr marL="342900" indent="-342900">
              <a:spcBef>
                <a:spcPts val="700"/>
              </a:spcBef>
              <a:buFont typeface="Arial" panose="020B0604020202020204" pitchFamily="34" charset="0"/>
              <a:buChar char="•"/>
              <a:defRPr sz="1500">
                <a:solidFill>
                  <a:srgbClr val="232A34"/>
                </a:solidFill>
              </a:defRPr>
            </a:pPr>
            <a:r>
              <a:rPr lang="en-US" sz="2000" dirty="0"/>
              <a:t>Nearby supermarkets and grocery options</a:t>
            </a:r>
          </a:p>
          <a:p>
            <a:pPr marL="342900" indent="-342900">
              <a:spcBef>
                <a:spcPts val="700"/>
              </a:spcBef>
              <a:buFont typeface="Arial" panose="020B0604020202020204" pitchFamily="34" charset="0"/>
              <a:buChar char="•"/>
              <a:defRPr sz="1500">
                <a:solidFill>
                  <a:srgbClr val="232A34"/>
                </a:solidFill>
              </a:defRPr>
            </a:pPr>
            <a:r>
              <a:rPr lang="en-US" sz="2000" dirty="0"/>
              <a:t>Everyday and lifestyle amenities</a:t>
            </a:r>
          </a:p>
          <a:p>
            <a:pPr marL="342900" indent="-342900">
              <a:spcBef>
                <a:spcPts val="700"/>
              </a:spcBef>
              <a:buFont typeface="Arial" panose="020B0604020202020204" pitchFamily="34" charset="0"/>
              <a:buChar char="•"/>
              <a:defRPr sz="1500">
                <a:solidFill>
                  <a:srgbClr val="232A34"/>
                </a:solidFill>
              </a:defRPr>
            </a:pPr>
            <a:r>
              <a:rPr lang="en-US" sz="2000" dirty="0"/>
              <a:t>A safe and comfortable </a:t>
            </a:r>
            <a:r>
              <a:rPr lang="en-US" sz="2000" dirty="0" err="1"/>
              <a:t>neighbourhood</a:t>
            </a:r>
            <a:endParaRPr lang="en-IN" sz="2000" dirty="0"/>
          </a:p>
        </p:txBody>
      </p:sp>
      <p:sp>
        <p:nvSpPr>
          <p:cNvPr id="9" name="TextBox 8">
            <a:extLst>
              <a:ext uri="{FF2B5EF4-FFF2-40B4-BE49-F238E27FC236}">
                <a16:creationId xmlns:a16="http://schemas.microsoft.com/office/drawing/2014/main" id="{D4C96212-67CA-14B7-254D-B7133C557CBE}"/>
              </a:ext>
            </a:extLst>
          </p:cNvPr>
          <p:cNvSpPr txBox="1"/>
          <p:nvPr/>
        </p:nvSpPr>
        <p:spPr>
          <a:xfrm>
            <a:off x="6096000" y="2623545"/>
            <a:ext cx="5486400" cy="1446550"/>
          </a:xfrm>
          <a:prstGeom prst="rect">
            <a:avLst/>
          </a:prstGeom>
          <a:noFill/>
        </p:spPr>
        <p:txBody>
          <a:bodyPr wrap="square">
            <a:spAutoFit/>
          </a:bodyPr>
          <a:lstStyle/>
          <a:p>
            <a:pPr>
              <a:spcBef>
                <a:spcPts val="1800"/>
              </a:spcBef>
              <a:defRPr sz="2200">
                <a:solidFill>
                  <a:srgbClr val="232A34"/>
                </a:solidFill>
              </a:defRPr>
            </a:pPr>
            <a:r>
              <a:rPr lang="en-US" sz="2200" dirty="0"/>
              <a:t>“I want to live in a Dublin area where I can easily use public transport, access my everyday needs nearby, and feel safe and comfortable.”</a:t>
            </a:r>
          </a:p>
        </p:txBody>
      </p:sp>
    </p:spTree>
    <p:extLst>
      <p:ext uri="{BB962C8B-B14F-4D97-AF65-F5344CB8AC3E}">
        <p14:creationId xmlns:p14="http://schemas.microsoft.com/office/powerpoint/2010/main" val="4060066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5B53-9A02-0435-E8C4-329291E3144C}"/>
              </a:ext>
            </a:extLst>
          </p:cNvPr>
          <p:cNvSpPr>
            <a:spLocks noGrp="1"/>
          </p:cNvSpPr>
          <p:nvPr>
            <p:ph type="title"/>
          </p:nvPr>
        </p:nvSpPr>
        <p:spPr>
          <a:xfrm>
            <a:off x="838200" y="281941"/>
            <a:ext cx="10515600" cy="1249679"/>
          </a:xfrm>
        </p:spPr>
        <p:txBody>
          <a:bodyPr>
            <a:normAutofit fontScale="90000"/>
          </a:bodyPr>
          <a:lstStyle/>
          <a:p>
            <a:pPr>
              <a:lnSpc>
                <a:spcPct val="100000"/>
              </a:lnSpc>
            </a:pPr>
            <a:br>
              <a:rPr lang="en-US" sz="2700" dirty="0"/>
            </a:br>
            <a:r>
              <a:rPr lang="en-US" sz="3100" dirty="0">
                <a:solidFill>
                  <a:schemeClr val="accent1"/>
                </a:solidFill>
              </a:rPr>
              <a:t>What Did Students Tell Us?</a:t>
            </a:r>
            <a:br>
              <a:rPr lang="en-US" sz="3100" dirty="0"/>
            </a:br>
            <a:r>
              <a:rPr lang="en-US" sz="2700" dirty="0"/>
              <a:t>Key patterns identified from 59 survey responses</a:t>
            </a:r>
            <a:br>
              <a:rPr lang="en-US" dirty="0"/>
            </a:br>
            <a:endParaRPr lang="en-IN" dirty="0"/>
          </a:p>
        </p:txBody>
      </p:sp>
      <p:pic>
        <p:nvPicPr>
          <p:cNvPr id="6" name="Content Placeholder 5">
            <a:extLst>
              <a:ext uri="{FF2B5EF4-FFF2-40B4-BE49-F238E27FC236}">
                <a16:creationId xmlns:a16="http://schemas.microsoft.com/office/drawing/2014/main" id="{60FE0704-D40A-14EE-D456-8EDEFA8AEEA5}"/>
              </a:ext>
            </a:extLst>
          </p:cNvPr>
          <p:cNvPicPr>
            <a:picLocks noGrp="1" noChangeAspect="1"/>
          </p:cNvPicPr>
          <p:nvPr>
            <p:ph idx="1"/>
          </p:nvPr>
        </p:nvPicPr>
        <p:blipFill>
          <a:blip r:embed="rId2"/>
          <a:stretch>
            <a:fillRect/>
          </a:stretch>
        </p:blipFill>
        <p:spPr>
          <a:xfrm>
            <a:off x="1066908" y="1531620"/>
            <a:ext cx="10058183" cy="4645343"/>
          </a:xfrm>
          <a:prstGeom prst="rect">
            <a:avLst/>
          </a:prstGeom>
        </p:spPr>
      </p:pic>
    </p:spTree>
    <p:extLst>
      <p:ext uri="{BB962C8B-B14F-4D97-AF65-F5344CB8AC3E}">
        <p14:creationId xmlns:p14="http://schemas.microsoft.com/office/powerpoint/2010/main" val="163669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8022-5181-D881-AF32-93313A6C27EA}"/>
              </a:ext>
            </a:extLst>
          </p:cNvPr>
          <p:cNvSpPr>
            <a:spLocks noGrp="1"/>
          </p:cNvSpPr>
          <p:nvPr>
            <p:ph type="ctrTitle"/>
          </p:nvPr>
        </p:nvSpPr>
        <p:spPr>
          <a:xfrm>
            <a:off x="1524000" y="525781"/>
            <a:ext cx="9144000" cy="830579"/>
          </a:xfrm>
        </p:spPr>
        <p:txBody>
          <a:bodyPr>
            <a:normAutofit fontScale="90000"/>
          </a:bodyPr>
          <a:lstStyle/>
          <a:p>
            <a:r>
              <a:rPr lang="en-US" sz="4000" dirty="0">
                <a:solidFill>
                  <a:schemeClr val="accent1"/>
                </a:solidFill>
              </a:rPr>
              <a:t>How the Persona Informs Our System</a:t>
            </a:r>
            <a:br>
              <a:rPr lang="en-US" sz="4000" dirty="0"/>
            </a:br>
            <a:endParaRPr lang="en-IN" sz="4000" dirty="0"/>
          </a:p>
        </p:txBody>
      </p:sp>
      <p:sp>
        <p:nvSpPr>
          <p:cNvPr id="4" name="Subtitle 3">
            <a:extLst>
              <a:ext uri="{FF2B5EF4-FFF2-40B4-BE49-F238E27FC236}">
                <a16:creationId xmlns:a16="http://schemas.microsoft.com/office/drawing/2014/main" id="{0CB08E1F-1E1E-2DAF-FBA2-81F0C4FB3EFF}"/>
              </a:ext>
            </a:extLst>
          </p:cNvPr>
          <p:cNvSpPr>
            <a:spLocks noGrp="1"/>
          </p:cNvSpPr>
          <p:nvPr>
            <p:ph type="subTitle" idx="1"/>
          </p:nvPr>
        </p:nvSpPr>
        <p:spPr>
          <a:xfrm>
            <a:off x="1524000" y="1013460"/>
            <a:ext cx="9144000" cy="4244340"/>
          </a:xfrm>
        </p:spPr>
        <p:txBody>
          <a:bodyPr/>
          <a:lstStyle/>
          <a:p>
            <a:pPr algn="l"/>
            <a:r>
              <a:rPr lang="en-IN" dirty="0">
                <a:ln w="0"/>
                <a:solidFill>
                  <a:schemeClr val="accent1"/>
                </a:solidFill>
                <a:effectLst>
                  <a:outerShdw blurRad="38100" dist="25400" dir="5400000" algn="ctr" rotWithShape="0">
                    <a:srgbClr val="6E747A">
                      <a:alpha val="43000"/>
                    </a:srgbClr>
                  </a:outerShdw>
                </a:effectLst>
              </a:rPr>
              <a:t>Survey findings</a:t>
            </a:r>
          </a:p>
          <a:p>
            <a:pPr algn="l"/>
            <a:r>
              <a:rPr lang="en-IN" sz="2000" dirty="0"/>
              <a:t>Identify common student needs</a:t>
            </a:r>
          </a:p>
          <a:p>
            <a:pPr algn="l"/>
            <a:r>
              <a:rPr lang="en-IN" dirty="0">
                <a:ln w="0"/>
                <a:solidFill>
                  <a:schemeClr val="accent1"/>
                </a:solidFill>
                <a:effectLst>
                  <a:outerShdw blurRad="38100" dist="25400" dir="5400000" algn="ctr" rotWithShape="0">
                    <a:srgbClr val="6E747A">
                      <a:alpha val="43000"/>
                    </a:srgbClr>
                  </a:outerShdw>
                </a:effectLst>
              </a:rPr>
              <a:t>Recommendation factors</a:t>
            </a:r>
          </a:p>
          <a:p>
            <a:pPr algn="l"/>
            <a:r>
              <a:rPr lang="en-IN" sz="2000" dirty="0"/>
              <a:t>Rent • Commute • Groceries • Amenities</a:t>
            </a:r>
          </a:p>
          <a:p>
            <a:pPr algn="l"/>
            <a:r>
              <a:rPr lang="en-IN" dirty="0">
                <a:ln w="0"/>
                <a:solidFill>
                  <a:schemeClr val="accent1"/>
                </a:solidFill>
                <a:effectLst>
                  <a:outerShdw blurRad="38100" dist="25400" dir="5400000" algn="ctr" rotWithShape="0">
                    <a:srgbClr val="6E747A">
                      <a:alpha val="43000"/>
                    </a:srgbClr>
                  </a:outerShdw>
                </a:effectLst>
              </a:rPr>
              <a:t>Student preferences</a:t>
            </a:r>
          </a:p>
          <a:p>
            <a:pPr algn="l"/>
            <a:r>
              <a:rPr lang="en-US" sz="2000" dirty="0"/>
              <a:t>Students can give different importance to factors</a:t>
            </a:r>
          </a:p>
          <a:p>
            <a:pPr algn="l"/>
            <a:r>
              <a:rPr lang="en-IN" dirty="0">
                <a:ln w="0"/>
                <a:solidFill>
                  <a:schemeClr val="accent1"/>
                </a:solidFill>
                <a:effectLst>
                  <a:outerShdw blurRad="38100" dist="25400" dir="5400000" algn="ctr" rotWithShape="0">
                    <a:srgbClr val="6E747A">
                      <a:alpha val="43000"/>
                    </a:srgbClr>
                  </a:outerShdw>
                </a:effectLst>
              </a:rPr>
              <a:t>Personalised ranking</a:t>
            </a:r>
          </a:p>
          <a:p>
            <a:pPr algn="l"/>
            <a:r>
              <a:rPr lang="en-US" sz="2000" dirty="0"/>
              <a:t>Recommend the Dublin areas that best match</a:t>
            </a:r>
          </a:p>
          <a:p>
            <a:pPr algn="l"/>
            <a:endParaRPr lang="en-IN" dirty="0"/>
          </a:p>
          <a:p>
            <a:pPr algn="l"/>
            <a:endParaRPr lang="en-US" sz="2000" dirty="0"/>
          </a:p>
          <a:p>
            <a:pPr algn="l"/>
            <a:endParaRPr lang="en-IN" dirty="0"/>
          </a:p>
          <a:p>
            <a:pPr algn="l"/>
            <a:endParaRPr lang="en-IN" sz="2000" dirty="0"/>
          </a:p>
          <a:p>
            <a:pPr algn="l"/>
            <a:endParaRPr lang="en-IN" dirty="0"/>
          </a:p>
          <a:p>
            <a:pPr algn="l"/>
            <a:endParaRPr lang="en-IN" dirty="0"/>
          </a:p>
          <a:p>
            <a:pPr algn="l"/>
            <a:endParaRPr lang="en-IN" sz="2000" dirty="0"/>
          </a:p>
          <a:p>
            <a:pPr algn="l"/>
            <a:endParaRPr lang="en-IN" dirty="0"/>
          </a:p>
          <a:p>
            <a:endParaRPr lang="en-IN" dirty="0"/>
          </a:p>
        </p:txBody>
      </p:sp>
      <p:sp>
        <p:nvSpPr>
          <p:cNvPr id="5" name="Rectangle: Rounded Corners 4">
            <a:extLst>
              <a:ext uri="{FF2B5EF4-FFF2-40B4-BE49-F238E27FC236}">
                <a16:creationId xmlns:a16="http://schemas.microsoft.com/office/drawing/2014/main" id="{23F7ADC8-5219-90AC-0773-948C1C2959CF}"/>
              </a:ext>
            </a:extLst>
          </p:cNvPr>
          <p:cNvSpPr/>
          <p:nvPr/>
        </p:nvSpPr>
        <p:spPr>
          <a:xfrm>
            <a:off x="1524000" y="4655820"/>
            <a:ext cx="9806940" cy="716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Different students can have different priorities, so the system should not recommend the same area to everyone.</a:t>
            </a:r>
            <a:endParaRPr lang="en-IN"/>
          </a:p>
        </p:txBody>
      </p:sp>
    </p:spTree>
    <p:extLst>
      <p:ext uri="{BB962C8B-B14F-4D97-AF65-F5344CB8AC3E}">
        <p14:creationId xmlns:p14="http://schemas.microsoft.com/office/powerpoint/2010/main" val="97413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Data Collected</a:t>
            </a:r>
            <a:br>
              <a:rPr lang="en-US" dirty="0"/>
            </a:br>
            <a:endParaRPr lang="en-US" dirty="0"/>
          </a:p>
        </p:txBody>
      </p:sp>
      <p:sp>
        <p:nvSpPr>
          <p:cNvPr id="3" name="Text 1"/>
          <p:cNvSpPr txBox="1"/>
          <p:nvPr/>
        </p:nvSpPr>
        <p:spPr>
          <a:xfrm>
            <a:off x="609600" y="1402080"/>
            <a:ext cx="5242560" cy="426720"/>
          </a:xfrm>
          <a:prstGeom prst="rect">
            <a:avLst/>
          </a:prstGeom>
          <a:noFill/>
          <a:ln/>
        </p:spPr>
        <p:txBody>
          <a:bodyPr wrap="square" lIns="0" tIns="0" rIns="0" bIns="0" rtlCol="0" anchor="ctr"/>
          <a:lstStyle/>
          <a:p>
            <a:r>
              <a:rPr lang="en-US" sz="2133" b="1" dirty="0">
                <a:solidFill>
                  <a:schemeClr val="tx2"/>
                </a:solidFill>
              </a:rPr>
              <a:t>RTB average rent (CSO table RIA02)</a:t>
            </a:r>
            <a:endParaRPr lang="en-US" sz="2133" dirty="0"/>
          </a:p>
        </p:txBody>
      </p:sp>
      <p:sp>
        <p:nvSpPr>
          <p:cNvPr id="4" name="rtb-steps"/>
          <p:cNvSpPr txBox="1"/>
          <p:nvPr/>
        </p:nvSpPr>
        <p:spPr>
          <a:xfrm>
            <a:off x="609600" y="1950720"/>
            <a:ext cx="5242560" cy="2926080"/>
          </a:xfrm>
          <a:prstGeom prst="rect">
            <a:avLst/>
          </a:prstGeom>
          <a:noFill/>
          <a:ln/>
        </p:spPr>
        <p:txBody>
          <a:bodyPr wrap="square" lIns="0" tIns="0" rIns="0" bIns="0" rtlCol="0" anchor="t"/>
          <a:lstStyle/>
          <a:p>
            <a:pPr marL="457189" indent="-457189">
              <a:spcAft>
                <a:spcPts val="800"/>
              </a:spcAft>
              <a:buSzPct val="100000"/>
              <a:buChar char="•"/>
            </a:pPr>
            <a:r>
              <a:rPr lang="en-US" sz="1867" dirty="0"/>
              <a:t>Data all over Ireland, 2008–2025: 337,176 rows</a:t>
            </a:r>
          </a:p>
          <a:p>
            <a:pPr marL="457189" indent="-457189">
              <a:spcAft>
                <a:spcPts val="800"/>
              </a:spcAft>
              <a:buSzPct val="100000"/>
              <a:buChar char="•"/>
            </a:pPr>
            <a:r>
              <a:rPr lang="en-US" sz="1867" dirty="0"/>
              <a:t>Kept limited data for 2025 only</a:t>
            </a:r>
          </a:p>
          <a:p>
            <a:pPr marL="457189" indent="-457189">
              <a:spcAft>
                <a:spcPts val="800"/>
              </a:spcAft>
              <a:buSzPct val="100000"/>
              <a:buChar char="•"/>
            </a:pPr>
            <a:r>
              <a:rPr lang="en-US" sz="1867" dirty="0"/>
              <a:t>Removed the area code out of the location (e.g. "Rathmines, Dublin 6" → D6)</a:t>
            </a:r>
          </a:p>
          <a:p>
            <a:pPr marL="457189" indent="-457189">
              <a:spcAft>
                <a:spcPts val="800"/>
              </a:spcAft>
              <a:buSzPct val="100000"/>
              <a:buChar char="•"/>
            </a:pPr>
            <a:r>
              <a:rPr lang="en-US" sz="1867" dirty="0"/>
              <a:t>Result: 137 rows for D6–D10, saved in the same format as our other RTB files</a:t>
            </a:r>
          </a:p>
        </p:txBody>
      </p:sp>
      <p:sp>
        <p:nvSpPr>
          <p:cNvPr id="5" name="Text 3"/>
          <p:cNvSpPr txBox="1"/>
          <p:nvPr/>
        </p:nvSpPr>
        <p:spPr>
          <a:xfrm>
            <a:off x="6339840" y="1402080"/>
            <a:ext cx="5242560" cy="426720"/>
          </a:xfrm>
          <a:prstGeom prst="rect">
            <a:avLst/>
          </a:prstGeom>
          <a:noFill/>
          <a:ln/>
        </p:spPr>
        <p:txBody>
          <a:bodyPr wrap="square" lIns="0" tIns="0" rIns="0" bIns="0" rtlCol="0" anchor="ctr"/>
          <a:lstStyle/>
          <a:p>
            <a:r>
              <a:rPr lang="en-US" sz="2133" b="1" dirty="0">
                <a:solidFill>
                  <a:schemeClr val="tx2"/>
                </a:solidFill>
              </a:rPr>
              <a:t>Daft.ie listings, D6–D10</a:t>
            </a:r>
            <a:endParaRPr lang="en-US" sz="2133" dirty="0"/>
          </a:p>
        </p:txBody>
      </p:sp>
      <p:sp>
        <p:nvSpPr>
          <p:cNvPr id="6" name="daft-steps"/>
          <p:cNvSpPr txBox="1"/>
          <p:nvPr/>
        </p:nvSpPr>
        <p:spPr>
          <a:xfrm>
            <a:off x="6339840" y="1950720"/>
            <a:ext cx="5242560" cy="1828800"/>
          </a:xfrm>
          <a:prstGeom prst="rect">
            <a:avLst/>
          </a:prstGeom>
          <a:noFill/>
          <a:ln/>
        </p:spPr>
        <p:txBody>
          <a:bodyPr wrap="square" lIns="0" tIns="0" rIns="0" bIns="0" rtlCol="0" anchor="t"/>
          <a:lstStyle/>
          <a:p>
            <a:pPr marL="457189" indent="-457189">
              <a:spcAft>
                <a:spcPts val="800"/>
              </a:spcAft>
              <a:buSzPct val="100000"/>
              <a:buChar char="•"/>
            </a:pPr>
            <a:r>
              <a:rPr lang="en-US" sz="1867" dirty="0"/>
              <a:t>142 listings collected</a:t>
            </a:r>
          </a:p>
          <a:p>
            <a:pPr marL="457189" indent="-457189">
              <a:spcAft>
                <a:spcPts val="800"/>
              </a:spcAft>
              <a:buSzPct val="100000"/>
              <a:buChar char="•"/>
            </a:pPr>
            <a:r>
              <a:rPr lang="en-US" sz="1867" dirty="0"/>
              <a:t>Converted weekly rent to monthly</a:t>
            </a:r>
          </a:p>
          <a:p>
            <a:pPr marL="457189" indent="-457189">
              <a:spcAft>
                <a:spcPts val="800"/>
              </a:spcAft>
              <a:buSzPct val="100000"/>
              <a:buChar char="•"/>
            </a:pPr>
            <a:r>
              <a:rPr lang="en-US" sz="1867" dirty="0"/>
              <a:t>Room types renamed to match D1–D3 (single, double, </a:t>
            </a:r>
            <a:r>
              <a:rPr lang="en-US" sz="1867" dirty="0" err="1"/>
              <a:t>etc</a:t>
            </a:r>
            <a:r>
              <a:rPr lang="en-US" sz="1867" dirty="0"/>
              <a:t>)</a:t>
            </a:r>
          </a:p>
        </p:txBody>
      </p:sp>
      <p:graphicFrame>
        <p:nvGraphicFramePr>
          <p:cNvPr id="7" name="listing-counts"/>
          <p:cNvGraphicFramePr>
            <a:graphicFrameLocks noGrp="1"/>
          </p:cNvGraphicFramePr>
          <p:nvPr/>
        </p:nvGraphicFramePr>
        <p:xfrm>
          <a:off x="6339840" y="4084320"/>
          <a:ext cx="5242560" cy="877824"/>
        </p:xfrm>
        <a:graphic>
          <a:graphicData uri="http://schemas.openxmlformats.org/drawingml/2006/table">
            <a:tbl>
              <a:tblPr/>
              <a:tblGrid>
                <a:gridCol w="1048512">
                  <a:extLst>
                    <a:ext uri="{9D8B030D-6E8A-4147-A177-3AD203B41FA5}">
                      <a16:colId xmlns:a16="http://schemas.microsoft.com/office/drawing/2014/main" val="20000"/>
                    </a:ext>
                  </a:extLst>
                </a:gridCol>
                <a:gridCol w="1048512">
                  <a:extLst>
                    <a:ext uri="{9D8B030D-6E8A-4147-A177-3AD203B41FA5}">
                      <a16:colId xmlns:a16="http://schemas.microsoft.com/office/drawing/2014/main" val="20001"/>
                    </a:ext>
                  </a:extLst>
                </a:gridCol>
                <a:gridCol w="1048512">
                  <a:extLst>
                    <a:ext uri="{9D8B030D-6E8A-4147-A177-3AD203B41FA5}">
                      <a16:colId xmlns:a16="http://schemas.microsoft.com/office/drawing/2014/main" val="20002"/>
                    </a:ext>
                  </a:extLst>
                </a:gridCol>
                <a:gridCol w="1048512">
                  <a:extLst>
                    <a:ext uri="{9D8B030D-6E8A-4147-A177-3AD203B41FA5}">
                      <a16:colId xmlns:a16="http://schemas.microsoft.com/office/drawing/2014/main" val="20003"/>
                    </a:ext>
                  </a:extLst>
                </a:gridCol>
                <a:gridCol w="1048512">
                  <a:extLst>
                    <a:ext uri="{9D8B030D-6E8A-4147-A177-3AD203B41FA5}">
                      <a16:colId xmlns:a16="http://schemas.microsoft.com/office/drawing/2014/main" val="20004"/>
                    </a:ext>
                  </a:extLst>
                </a:gridCol>
              </a:tblGrid>
              <a:tr h="438912">
                <a:tc>
                  <a:txBody>
                    <a:bodyPr/>
                    <a:lstStyle/>
                    <a:p>
                      <a:pPr marL="0" indent="0" algn="ctr">
                        <a:buNone/>
                      </a:pPr>
                      <a:r>
                        <a:rPr lang="en-US" sz="1700" b="1" dirty="0">
                          <a:solidFill>
                            <a:schemeClr val="bg1"/>
                          </a:solidFill>
                        </a:rPr>
                        <a:t>D6</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D7</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D8</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D9</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D10</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8912">
                <a:tc>
                  <a:txBody>
                    <a:bodyPr/>
                    <a:lstStyle/>
                    <a:p>
                      <a:pPr marL="0" indent="0" algn="ctr">
                        <a:buNone/>
                      </a:pPr>
                      <a:r>
                        <a:rPr lang="en-US" sz="1700" dirty="0">
                          <a:solidFill>
                            <a:schemeClr val="tx1"/>
                          </a:solidFill>
                        </a:rPr>
                        <a:t>40</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38</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29</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24</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11</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Text 5"/>
          <p:cNvSpPr txBox="1"/>
          <p:nvPr/>
        </p:nvSpPr>
        <p:spPr>
          <a:xfrm>
            <a:off x="6339840" y="5059680"/>
            <a:ext cx="5242560" cy="365760"/>
          </a:xfrm>
          <a:prstGeom prst="rect">
            <a:avLst/>
          </a:prstGeom>
          <a:noFill/>
          <a:ln/>
        </p:spPr>
        <p:txBody>
          <a:bodyPr wrap="square" lIns="0" tIns="0" rIns="0" bIns="0" rtlCol="0" anchor="ctr"/>
          <a:lstStyle/>
          <a:p>
            <a:endParaRPr lang="en-US" sz="14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RTB records compared to asking rents</a:t>
            </a:r>
            <a:br>
              <a:rPr lang="en-US" dirty="0"/>
            </a:br>
            <a:endParaRPr lang="en-US" dirty="0"/>
          </a:p>
        </p:txBody>
      </p:sp>
      <p:graphicFrame>
        <p:nvGraphicFramePr>
          <p:cNvPr id="3" name="rent-chart"/>
          <p:cNvGraphicFramePr/>
          <p:nvPr>
            <p:extLst>
              <p:ext uri="{D42A27DB-BD31-4B8C-83A1-F6EECF244321}">
                <p14:modId xmlns:p14="http://schemas.microsoft.com/office/powerpoint/2010/main" val="3684520894"/>
              </p:ext>
            </p:extLst>
          </p:nvPr>
        </p:nvGraphicFramePr>
        <p:xfrm>
          <a:off x="487680" y="1341120"/>
          <a:ext cx="68275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802880" y="1584960"/>
            <a:ext cx="3779520" cy="853440"/>
          </a:xfrm>
          <a:prstGeom prst="rect">
            <a:avLst/>
          </a:prstGeom>
          <a:noFill/>
          <a:ln/>
        </p:spPr>
        <p:txBody>
          <a:bodyPr wrap="square" lIns="0" tIns="0" rIns="0" bIns="0" rtlCol="0" anchor="ctr"/>
          <a:lstStyle/>
          <a:p>
            <a:r>
              <a:rPr lang="en-US" sz="4800" b="1" dirty="0">
                <a:solidFill>
                  <a:schemeClr val="accent1"/>
                </a:solidFill>
              </a:rPr>
              <a:t>€450–760</a:t>
            </a:r>
            <a:endParaRPr lang="en-US" sz="4800" dirty="0">
              <a:solidFill>
                <a:schemeClr val="accent1"/>
              </a:solidFill>
            </a:endParaRPr>
          </a:p>
        </p:txBody>
      </p:sp>
      <p:sp>
        <p:nvSpPr>
          <p:cNvPr id="5" name="Text 2"/>
          <p:cNvSpPr txBox="1"/>
          <p:nvPr/>
        </p:nvSpPr>
        <p:spPr>
          <a:xfrm>
            <a:off x="7802880" y="2438400"/>
            <a:ext cx="3779520" cy="914400"/>
          </a:xfrm>
          <a:prstGeom prst="rect">
            <a:avLst/>
          </a:prstGeom>
          <a:noFill/>
          <a:ln/>
        </p:spPr>
        <p:txBody>
          <a:bodyPr wrap="square" lIns="0" tIns="0" rIns="0" bIns="0" rtlCol="0" anchor="t"/>
          <a:lstStyle/>
          <a:p>
            <a:r>
              <a:rPr lang="en-US" sz="1867" dirty="0"/>
              <a:t>more per month asked on Daft than the RTB average, for a one-bed in D7–D9</a:t>
            </a:r>
          </a:p>
        </p:txBody>
      </p:sp>
      <p:sp>
        <p:nvSpPr>
          <p:cNvPr id="6" name="Text 3"/>
          <p:cNvSpPr txBox="1"/>
          <p:nvPr/>
        </p:nvSpPr>
        <p:spPr>
          <a:xfrm>
            <a:off x="7802880" y="3718560"/>
            <a:ext cx="3779520" cy="1463040"/>
          </a:xfrm>
          <a:prstGeom prst="rect">
            <a:avLst/>
          </a:prstGeom>
          <a:noFill/>
          <a:ln/>
        </p:spPr>
        <p:txBody>
          <a:bodyPr wrap="square" lIns="0" tIns="0" rIns="0" bIns="0" rtlCol="0" anchor="t"/>
          <a:lstStyle/>
          <a:p>
            <a:r>
              <a:rPr lang="en-US" sz="1867" dirty="0"/>
              <a:t>Why: RTB counts rents people already pay on existing leases. Daft shows what a student would pay if they signed today.</a:t>
            </a:r>
          </a:p>
        </p:txBody>
      </p:sp>
      <p:sp>
        <p:nvSpPr>
          <p:cNvPr id="7" name="Text 4"/>
          <p:cNvSpPr txBox="1"/>
          <p:nvPr/>
        </p:nvSpPr>
        <p:spPr>
          <a:xfrm>
            <a:off x="7802880" y="5425440"/>
            <a:ext cx="3779520" cy="487680"/>
          </a:xfrm>
          <a:prstGeom prst="rect">
            <a:avLst/>
          </a:prstGeom>
          <a:noFill/>
          <a:ln/>
        </p:spPr>
        <p:txBody>
          <a:bodyPr wrap="square" lIns="0" tIns="0" rIns="0" bIns="0" rtlCol="0" anchor="ctr"/>
          <a:lstStyle/>
          <a:p>
            <a:endParaRPr lang="en-US" sz="14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Changes to code</a:t>
            </a:r>
            <a:br>
              <a:rPr lang="en-US" dirty="0"/>
            </a:br>
            <a:endParaRPr lang="en-US" dirty="0"/>
          </a:p>
        </p:txBody>
      </p:sp>
      <p:sp>
        <p:nvSpPr>
          <p:cNvPr id="3" name="Before-box"/>
          <p:cNvSpPr/>
          <p:nvPr/>
        </p:nvSpPr>
        <p:spPr>
          <a:xfrm>
            <a:off x="609600" y="1463040"/>
            <a:ext cx="2438400" cy="2072640"/>
          </a:xfrm>
          <a:prstGeom prst="roundRect">
            <a:avLst>
              <a:gd name="adj" fmla="val 4706"/>
            </a:avLst>
          </a:prstGeom>
          <a:solidFill>
            <a:schemeClr val="bg2"/>
          </a:solidFill>
          <a:ln w="12700">
            <a:solidFill>
              <a:schemeClr val="bg2"/>
            </a:solidFill>
            <a:prstDash val="solid"/>
          </a:ln>
        </p:spPr>
      </p:sp>
      <p:sp>
        <p:nvSpPr>
          <p:cNvPr id="4" name="Text 2"/>
          <p:cNvSpPr txBox="1"/>
          <p:nvPr/>
        </p:nvSpPr>
        <p:spPr>
          <a:xfrm>
            <a:off x="853440" y="1645920"/>
            <a:ext cx="1950720" cy="365760"/>
          </a:xfrm>
          <a:prstGeom prst="rect">
            <a:avLst/>
          </a:prstGeom>
          <a:noFill/>
          <a:ln/>
        </p:spPr>
        <p:txBody>
          <a:bodyPr wrap="square" lIns="0" tIns="0" rIns="0" bIns="0" rtlCol="0" anchor="ctr"/>
          <a:lstStyle/>
          <a:p>
            <a:r>
              <a:rPr lang="en-US" sz="1600" dirty="0"/>
              <a:t>Before</a:t>
            </a:r>
          </a:p>
        </p:txBody>
      </p:sp>
      <p:sp>
        <p:nvSpPr>
          <p:cNvPr id="5" name="Text 3"/>
          <p:cNvSpPr txBox="1"/>
          <p:nvPr/>
        </p:nvSpPr>
        <p:spPr>
          <a:xfrm>
            <a:off x="853440" y="2072640"/>
            <a:ext cx="1950720" cy="853440"/>
          </a:xfrm>
          <a:prstGeom prst="rect">
            <a:avLst/>
          </a:prstGeom>
          <a:noFill/>
          <a:ln/>
        </p:spPr>
        <p:txBody>
          <a:bodyPr wrap="square" lIns="0" tIns="0" rIns="0" bIns="0" rtlCol="0" anchor="ctr"/>
          <a:lstStyle/>
          <a:p>
            <a:r>
              <a:rPr lang="en-US" sz="5333" b="1" dirty="0"/>
              <a:t>3</a:t>
            </a:r>
            <a:endParaRPr lang="en-US" sz="5333" dirty="0"/>
          </a:p>
        </p:txBody>
      </p:sp>
      <p:sp>
        <p:nvSpPr>
          <p:cNvPr id="6" name="Text 4"/>
          <p:cNvSpPr txBox="1"/>
          <p:nvPr/>
        </p:nvSpPr>
        <p:spPr>
          <a:xfrm>
            <a:off x="853440" y="2926080"/>
            <a:ext cx="1950720" cy="426720"/>
          </a:xfrm>
          <a:prstGeom prst="rect">
            <a:avLst/>
          </a:prstGeom>
          <a:noFill/>
          <a:ln/>
        </p:spPr>
        <p:txBody>
          <a:bodyPr wrap="square" lIns="0" tIns="0" rIns="0" bIns="0" rtlCol="0" anchor="ctr"/>
          <a:lstStyle/>
          <a:p>
            <a:r>
              <a:rPr lang="en-US" sz="1600" dirty="0"/>
              <a:t>areas: D1–D3</a:t>
            </a:r>
          </a:p>
        </p:txBody>
      </p:sp>
      <p:sp>
        <p:nvSpPr>
          <p:cNvPr id="7" name="Text 5"/>
          <p:cNvSpPr txBox="1"/>
          <p:nvPr/>
        </p:nvSpPr>
        <p:spPr>
          <a:xfrm>
            <a:off x="3108960" y="2133600"/>
            <a:ext cx="487680" cy="609600"/>
          </a:xfrm>
          <a:prstGeom prst="rect">
            <a:avLst/>
          </a:prstGeom>
          <a:noFill/>
          <a:ln/>
        </p:spPr>
        <p:txBody>
          <a:bodyPr wrap="square" lIns="0" tIns="0" rIns="0" bIns="0" rtlCol="0" anchor="ctr"/>
          <a:lstStyle/>
          <a:p>
            <a:pPr algn="ctr"/>
            <a:r>
              <a:rPr lang="en-US" sz="3200" dirty="0">
                <a:solidFill>
                  <a:schemeClr val="accent4"/>
                </a:solidFill>
              </a:rPr>
              <a:t>→</a:t>
            </a:r>
            <a:endParaRPr lang="en-US" sz="3200" dirty="0"/>
          </a:p>
        </p:txBody>
      </p:sp>
      <p:sp>
        <p:nvSpPr>
          <p:cNvPr id="8" name="After-box"/>
          <p:cNvSpPr/>
          <p:nvPr/>
        </p:nvSpPr>
        <p:spPr>
          <a:xfrm>
            <a:off x="3657600" y="1463040"/>
            <a:ext cx="2438400" cy="2072640"/>
          </a:xfrm>
          <a:prstGeom prst="roundRect">
            <a:avLst>
              <a:gd name="adj" fmla="val 4706"/>
            </a:avLst>
          </a:prstGeom>
          <a:solidFill>
            <a:schemeClr val="accent1"/>
          </a:solidFill>
          <a:ln w="12700">
            <a:solidFill>
              <a:schemeClr val="accent1"/>
            </a:solidFill>
            <a:prstDash val="solid"/>
          </a:ln>
        </p:spPr>
      </p:sp>
      <p:sp>
        <p:nvSpPr>
          <p:cNvPr id="9" name="Text 7"/>
          <p:cNvSpPr txBox="1"/>
          <p:nvPr/>
        </p:nvSpPr>
        <p:spPr>
          <a:xfrm>
            <a:off x="3901440" y="1645920"/>
            <a:ext cx="1950720" cy="365760"/>
          </a:xfrm>
          <a:prstGeom prst="rect">
            <a:avLst/>
          </a:prstGeom>
          <a:noFill/>
          <a:ln/>
        </p:spPr>
        <p:txBody>
          <a:bodyPr wrap="square" lIns="0" tIns="0" rIns="0" bIns="0" rtlCol="0" anchor="ctr"/>
          <a:lstStyle/>
          <a:p>
            <a:r>
              <a:rPr lang="en-US" sz="1600" dirty="0">
                <a:solidFill>
                  <a:schemeClr val="bg1"/>
                </a:solidFill>
              </a:rPr>
              <a:t>After</a:t>
            </a:r>
            <a:endParaRPr lang="en-US" sz="1600" dirty="0"/>
          </a:p>
        </p:txBody>
      </p:sp>
      <p:sp>
        <p:nvSpPr>
          <p:cNvPr id="10" name="Text 8"/>
          <p:cNvSpPr txBox="1"/>
          <p:nvPr/>
        </p:nvSpPr>
        <p:spPr>
          <a:xfrm>
            <a:off x="3901440" y="2072640"/>
            <a:ext cx="1950720" cy="853440"/>
          </a:xfrm>
          <a:prstGeom prst="rect">
            <a:avLst/>
          </a:prstGeom>
          <a:noFill/>
          <a:ln/>
        </p:spPr>
        <p:txBody>
          <a:bodyPr wrap="square" lIns="0" tIns="0" rIns="0" bIns="0" rtlCol="0" anchor="ctr"/>
          <a:lstStyle/>
          <a:p>
            <a:r>
              <a:rPr lang="en-US" sz="5333" b="1" dirty="0">
                <a:solidFill>
                  <a:schemeClr val="bg1"/>
                </a:solidFill>
              </a:rPr>
              <a:t>8</a:t>
            </a:r>
            <a:endParaRPr lang="en-US" sz="5333" dirty="0"/>
          </a:p>
        </p:txBody>
      </p:sp>
      <p:sp>
        <p:nvSpPr>
          <p:cNvPr id="11" name="Text 9"/>
          <p:cNvSpPr txBox="1"/>
          <p:nvPr/>
        </p:nvSpPr>
        <p:spPr>
          <a:xfrm>
            <a:off x="3901440" y="2926080"/>
            <a:ext cx="1950720" cy="426720"/>
          </a:xfrm>
          <a:prstGeom prst="rect">
            <a:avLst/>
          </a:prstGeom>
          <a:noFill/>
          <a:ln/>
        </p:spPr>
        <p:txBody>
          <a:bodyPr wrap="square" lIns="0" tIns="0" rIns="0" bIns="0" rtlCol="0" anchor="ctr"/>
          <a:lstStyle/>
          <a:p>
            <a:r>
              <a:rPr lang="en-US" sz="1600" dirty="0">
                <a:solidFill>
                  <a:schemeClr val="bg1"/>
                </a:solidFill>
              </a:rPr>
              <a:t>areas: D1-D3, D6–D10</a:t>
            </a:r>
            <a:endParaRPr lang="en-US" sz="1600" dirty="0"/>
          </a:p>
        </p:txBody>
      </p:sp>
      <p:sp>
        <p:nvSpPr>
          <p:cNvPr id="12" name="Text 10"/>
          <p:cNvSpPr txBox="1"/>
          <p:nvPr/>
        </p:nvSpPr>
        <p:spPr>
          <a:xfrm>
            <a:off x="6827520" y="1463040"/>
            <a:ext cx="4754880" cy="426720"/>
          </a:xfrm>
          <a:prstGeom prst="rect">
            <a:avLst/>
          </a:prstGeom>
          <a:noFill/>
          <a:ln/>
        </p:spPr>
        <p:txBody>
          <a:bodyPr wrap="square" lIns="0" tIns="0" rIns="0" bIns="0" rtlCol="0" anchor="ctr"/>
          <a:lstStyle/>
          <a:p>
            <a:r>
              <a:rPr lang="en-US" sz="2133" b="1" dirty="0">
                <a:solidFill>
                  <a:schemeClr val="tx2"/>
                </a:solidFill>
              </a:rPr>
              <a:t>What I changed</a:t>
            </a:r>
            <a:endParaRPr lang="en-US" sz="2133" dirty="0"/>
          </a:p>
        </p:txBody>
      </p:sp>
      <p:sp>
        <p:nvSpPr>
          <p:cNvPr id="13" name="changes"/>
          <p:cNvSpPr txBox="1"/>
          <p:nvPr/>
        </p:nvSpPr>
        <p:spPr>
          <a:xfrm>
            <a:off x="6827520" y="2011680"/>
            <a:ext cx="4754880" cy="2316480"/>
          </a:xfrm>
          <a:prstGeom prst="rect">
            <a:avLst/>
          </a:prstGeom>
          <a:noFill/>
          <a:ln/>
        </p:spPr>
        <p:txBody>
          <a:bodyPr wrap="square" lIns="0" tIns="0" rIns="0" bIns="0" rtlCol="0" anchor="t"/>
          <a:lstStyle/>
          <a:p>
            <a:pPr marL="457189" indent="-457189">
              <a:spcAft>
                <a:spcPts val="800"/>
              </a:spcAft>
              <a:buSzPct val="100000"/>
              <a:buChar char="•"/>
            </a:pPr>
            <a:r>
              <a:rPr lang="en-US" sz="1867" dirty="0"/>
              <a:t>Added the D6–D10 rent files to the room data list</a:t>
            </a:r>
          </a:p>
          <a:p>
            <a:pPr marL="457189" indent="-457189">
              <a:spcAft>
                <a:spcPts val="800"/>
              </a:spcAft>
              <a:buSzPct val="100000"/>
              <a:buChar char="•"/>
            </a:pPr>
            <a:r>
              <a:rPr lang="en-US" sz="1867" dirty="0"/>
              <a:t>Added the new RTB file to the RTB list</a:t>
            </a:r>
          </a:p>
          <a:p>
            <a:pPr marL="457189" indent="-457189">
              <a:spcAft>
                <a:spcPts val="800"/>
              </a:spcAft>
              <a:buSzPct val="100000"/>
              <a:buChar char="•"/>
            </a:pPr>
            <a:r>
              <a:rPr lang="en-US" sz="1867" dirty="0"/>
              <a:t>Added amenity counts and commute times for the new areas</a:t>
            </a:r>
          </a:p>
        </p:txBody>
      </p:sp>
      <p:sp>
        <p:nvSpPr>
          <p:cNvPr id="14" name="Text 12"/>
          <p:cNvSpPr txBox="1"/>
          <p:nvPr/>
        </p:nvSpPr>
        <p:spPr>
          <a:xfrm>
            <a:off x="609600" y="3962400"/>
            <a:ext cx="5486400" cy="975360"/>
          </a:xfrm>
          <a:prstGeom prst="rect">
            <a:avLst/>
          </a:prstGeom>
          <a:noFill/>
          <a:ln/>
        </p:spPr>
        <p:txBody>
          <a:bodyPr wrap="square" lIns="0" tIns="0" rIns="0" bIns="0" rtlCol="0" anchor="t"/>
          <a:lstStyle/>
          <a:p>
            <a:r>
              <a:rPr lang="en-US" sz="1867" b="1" dirty="0">
                <a:solidFill>
                  <a:schemeClr val="tx2"/>
                </a:solidFill>
              </a:rPr>
              <a:t>Result: D7 now shows up in the recommendations, close to Grangegorman and one of the cheapest areas for rooms.</a:t>
            </a:r>
            <a:endParaRPr lang="en-US" sz="1867" dirty="0"/>
          </a:p>
        </p:txBody>
      </p:sp>
      <p:sp>
        <p:nvSpPr>
          <p:cNvPr id="15" name="Text 13"/>
          <p:cNvSpPr txBox="1"/>
          <p:nvPr/>
        </p:nvSpPr>
        <p:spPr>
          <a:xfrm>
            <a:off x="6827520" y="4572000"/>
            <a:ext cx="4754880" cy="365760"/>
          </a:xfrm>
          <a:prstGeom prst="rect">
            <a:avLst/>
          </a:prstGeom>
          <a:noFill/>
          <a:ln/>
        </p:spPr>
        <p:txBody>
          <a:bodyPr wrap="square" lIns="0" tIns="0" rIns="0" bIns="0" rtlCol="0" anchor="ctr"/>
          <a:lstStyle/>
          <a:p>
            <a:r>
              <a:rPr kumimoji="0" lang="en-US" sz="2133" b="1" i="0" u="none" strike="noStrike" kern="1200" cap="none" spc="0" normalizeH="0" baseline="0" noProof="0" dirty="0">
                <a:ln>
                  <a:noFill/>
                </a:ln>
                <a:solidFill>
                  <a:srgbClr val="0E2841"/>
                </a:solidFill>
                <a:effectLst/>
                <a:uLnTx/>
                <a:uFillTx/>
                <a:latin typeface="Aptos" panose="02110004020202020204"/>
                <a:ea typeface="+mn-ea"/>
                <a:cs typeface="+mn-cs"/>
              </a:rPr>
              <a:t>Live Code</a:t>
            </a:r>
            <a:endParaRPr lang="en-US" sz="18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ma14="http://schemas.microsoft.com/office/mac/drawingml/2011/main" xmlns="" val="0"/>
            </a:ext>
          </a:extLst>
        </p:spPr>
        <p:txBody>
          <a:bodyPr/>
          <a:lstStyle>
            <a:lvl1pPr>
              <a:defRPr sz="1333">
                <a:solidFill>
                  <a:schemeClr val="accent4"/>
                </a:solidFill>
              </a:defRPr>
            </a:lvl1pPr>
          </a:lstStyle>
          <a:p>
            <a:pPr algn="r"/>
            <a:fld id="{F7021451-1387-4CA6-816F-3879F97B5CBC}" type="slidenum">
              <a:rPr lang="en-US" b="0"/>
              <a:t>7</a:t>
            </a:fld>
            <a:endParaRPr lang="en-US"/>
          </a:p>
        </p:txBody>
      </p:sp>
      <p:sp>
        <p:nvSpPr>
          <p:cNvPr id="17" name="TextBox 16">
            <a:extLst>
              <a:ext uri="{FF2B5EF4-FFF2-40B4-BE49-F238E27FC236}">
                <a16:creationId xmlns:a16="http://schemas.microsoft.com/office/drawing/2014/main" id="{FB197636-8CE3-ACEF-603C-B921D8068107}"/>
              </a:ext>
            </a:extLst>
          </p:cNvPr>
          <p:cNvSpPr txBox="1"/>
          <p:nvPr/>
        </p:nvSpPr>
        <p:spPr>
          <a:xfrm>
            <a:off x="6827520" y="5181600"/>
            <a:ext cx="1938608" cy="646331"/>
          </a:xfrm>
          <a:prstGeom prst="rect">
            <a:avLst/>
          </a:prstGeom>
          <a:noFill/>
        </p:spPr>
        <p:txBody>
          <a:bodyPr wrap="none" rtlCol="0">
            <a:spAutoFit/>
          </a:bodyPr>
          <a:lstStyle/>
          <a:p>
            <a:pPr marL="285750" indent="-285750">
              <a:buFont typeface="Arial" panose="020B0604020202020204" pitchFamily="34" charset="0"/>
              <a:buChar char="•"/>
            </a:pPr>
            <a:r>
              <a:rPr lang="en-GB" dirty="0">
                <a:hlinkClick r:id="rId3"/>
              </a:rPr>
              <a:t>Run it in collab</a:t>
            </a:r>
            <a:endParaRPr lang="en-IE" dirty="0"/>
          </a:p>
          <a:p>
            <a:endParaRPr lang="en-I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D8BC6C-08C9-94C5-D583-AA24F21244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Commute distance calculation </a:t>
            </a:r>
          </a:p>
        </p:txBody>
      </p:sp>
      <p:sp>
        <p:nvSpPr>
          <p:cNvPr id="5" name="Content Placeholder 4">
            <a:extLst>
              <a:ext uri="{FF2B5EF4-FFF2-40B4-BE49-F238E27FC236}">
                <a16:creationId xmlns:a16="http://schemas.microsoft.com/office/drawing/2014/main" id="{3B65B240-FBE3-CAAE-9069-C1F7B04DBBFE}"/>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Data &amp; Point Selection</a:t>
            </a:r>
          </a:p>
          <a:p>
            <a:pPr lvl="1"/>
            <a:r>
              <a:rPr lang="en-IN" dirty="0">
                <a:latin typeface="Times New Roman" panose="02020603050405020304" pitchFamily="18" charset="0"/>
                <a:cs typeface="Times New Roman" panose="02020603050405020304" pitchFamily="18" charset="0"/>
              </a:rPr>
              <a:t>Dublin Postal District </a:t>
            </a:r>
            <a:r>
              <a:rPr lang="en-IN" dirty="0" err="1">
                <a:latin typeface="Times New Roman" panose="02020603050405020304" pitchFamily="18" charset="0"/>
                <a:cs typeface="Times New Roman" panose="02020603050405020304" pitchFamily="18" charset="0"/>
              </a:rPr>
              <a:t>GeoJSON</a:t>
            </a:r>
            <a:endParaRPr lang="en-IN"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5 landmarks per district - North, South, Centre, East, West were selected manually. </a:t>
            </a:r>
          </a:p>
          <a:p>
            <a:pPr lvl="1"/>
            <a:r>
              <a:rPr lang="en-US" dirty="0">
                <a:latin typeface="Times New Roman" panose="02020603050405020304" pitchFamily="18" charset="0"/>
                <a:cs typeface="Times New Roman" panose="02020603050405020304" pitchFamily="18" charset="0"/>
              </a:rPr>
              <a:t>Selected landmark coordinates were validated against the postal boundaries to ensure they lie within the district.</a:t>
            </a:r>
          </a:p>
          <a:p>
            <a:pPr marL="457200" lvl="1"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23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9AEF6C-2732-F303-7FE4-58A34C97FFF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Open Trip Planner (OTP) routing process</a:t>
            </a:r>
          </a:p>
        </p:txBody>
      </p:sp>
      <p:sp>
        <p:nvSpPr>
          <p:cNvPr id="5" name="Content Placeholder 4">
            <a:extLst>
              <a:ext uri="{FF2B5EF4-FFF2-40B4-BE49-F238E27FC236}">
                <a16:creationId xmlns:a16="http://schemas.microsoft.com/office/drawing/2014/main" id="{2ABC824A-5223-47E7-F767-B92C93265F60}"/>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OTP- Routing engine which combines OSM and TFI GTFS data together for route calculation</a:t>
            </a:r>
          </a:p>
          <a:p>
            <a:r>
              <a:rPr lang="en-US" dirty="0">
                <a:latin typeface="Times New Roman" panose="02020603050405020304" pitchFamily="18" charset="0"/>
                <a:cs typeface="Times New Roman" panose="02020603050405020304" pitchFamily="18" charset="0"/>
              </a:rPr>
              <a:t>TFI GTFS- </a:t>
            </a:r>
            <a:r>
              <a:rPr lang="en-IN" dirty="0">
                <a:latin typeface="Times New Roman" panose="02020603050405020304" pitchFamily="18" charset="0"/>
                <a:cs typeface="Times New Roman" panose="02020603050405020304" pitchFamily="18" charset="0"/>
              </a:rPr>
              <a:t>public transport routes, stops &amp; schedules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OpenStreetMap- Walking distance</a:t>
            </a:r>
          </a:p>
          <a:p>
            <a:r>
              <a:rPr lang="en-US" dirty="0">
                <a:latin typeface="Times New Roman" panose="02020603050405020304" pitchFamily="18" charset="0"/>
                <a:cs typeface="Times New Roman" panose="02020603050405020304" pitchFamily="18" charset="0"/>
              </a:rPr>
              <a:t>OTP calculates routes using walking + public transport + transfers</a:t>
            </a:r>
          </a:p>
          <a:p>
            <a:endParaRPr lang="en-US" dirty="0">
              <a:latin typeface="Times New Roman" panose="02020603050405020304" pitchFamily="18" charset="0"/>
              <a:cs typeface="Times New Roman" panose="02020603050405020304" pitchFamily="18" charset="0"/>
            </a:endParaRPr>
          </a:p>
        </p:txBody>
      </p:sp>
      <p:pic>
        <p:nvPicPr>
          <p:cNvPr id="7" name="Content Placeholder 7">
            <a:extLst>
              <a:ext uri="{FF2B5EF4-FFF2-40B4-BE49-F238E27FC236}">
                <a16:creationId xmlns:a16="http://schemas.microsoft.com/office/drawing/2014/main" id="{A5463DE9-934C-46CA-1DC2-30F3E5AAFF45}"/>
              </a:ext>
            </a:extLst>
          </p:cNvPr>
          <p:cNvPicPr>
            <a:picLocks noGrp="1" noChangeAspect="1"/>
          </p:cNvPicPr>
          <p:nvPr>
            <p:ph sz="half" idx="2"/>
          </p:nvPr>
        </p:nvPicPr>
        <p:blipFill>
          <a:blip r:embed="rId2"/>
          <a:stretch>
            <a:fillRect/>
          </a:stretch>
        </p:blipFill>
        <p:spPr>
          <a:xfrm>
            <a:off x="5573486" y="1459480"/>
            <a:ext cx="2692400" cy="2413000"/>
          </a:xfrm>
        </p:spPr>
      </p:pic>
      <p:pic>
        <p:nvPicPr>
          <p:cNvPr id="8" name="Content Placeholder 9">
            <a:extLst>
              <a:ext uri="{FF2B5EF4-FFF2-40B4-BE49-F238E27FC236}">
                <a16:creationId xmlns:a16="http://schemas.microsoft.com/office/drawing/2014/main" id="{D50532DC-D2E0-A0D4-DD94-520B119761E6}"/>
              </a:ext>
            </a:extLst>
          </p:cNvPr>
          <p:cNvPicPr>
            <a:picLocks noChangeAspect="1"/>
          </p:cNvPicPr>
          <p:nvPr/>
        </p:nvPicPr>
        <p:blipFill>
          <a:blip r:embed="rId3"/>
          <a:stretch>
            <a:fillRect/>
          </a:stretch>
        </p:blipFill>
        <p:spPr>
          <a:xfrm>
            <a:off x="8450843" y="1562314"/>
            <a:ext cx="3406376" cy="2207331"/>
          </a:xfrm>
          <a:prstGeom prst="rect">
            <a:avLst/>
          </a:prstGeom>
        </p:spPr>
      </p:pic>
      <p:pic>
        <p:nvPicPr>
          <p:cNvPr id="9" name="Picture 8">
            <a:extLst>
              <a:ext uri="{FF2B5EF4-FFF2-40B4-BE49-F238E27FC236}">
                <a16:creationId xmlns:a16="http://schemas.microsoft.com/office/drawing/2014/main" id="{8B7A2BBD-C7B5-3609-8E05-F51424C9C463}"/>
              </a:ext>
            </a:extLst>
          </p:cNvPr>
          <p:cNvPicPr>
            <a:picLocks noChangeAspect="1"/>
          </p:cNvPicPr>
          <p:nvPr/>
        </p:nvPicPr>
        <p:blipFill>
          <a:blip r:embed="rId4"/>
          <a:stretch>
            <a:fillRect/>
          </a:stretch>
        </p:blipFill>
        <p:spPr>
          <a:xfrm>
            <a:off x="6706482" y="4296349"/>
            <a:ext cx="3932881" cy="1546639"/>
          </a:xfrm>
          <a:prstGeom prst="rect">
            <a:avLst/>
          </a:prstGeom>
        </p:spPr>
      </p:pic>
    </p:spTree>
    <p:extLst>
      <p:ext uri="{BB962C8B-B14F-4D97-AF65-F5344CB8AC3E}">
        <p14:creationId xmlns:p14="http://schemas.microsoft.com/office/powerpoint/2010/main" val="68484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D349-0E26-0C83-0604-71FF30EE33B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Commute Output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118C12-E35C-F6E3-933F-FD15E01009CD}"/>
              </a:ext>
            </a:extLst>
          </p:cNvPr>
          <p:cNvSpPr>
            <a:spLocks noGrp="1"/>
          </p:cNvSpPr>
          <p:nvPr>
            <p:ph sz="half" idx="1"/>
          </p:nvPr>
        </p:nvSpPr>
        <p:spPr>
          <a:xfrm>
            <a:off x="185348" y="1690688"/>
            <a:ext cx="4445000" cy="4351338"/>
          </a:xfrm>
        </p:spPr>
        <p:txBody>
          <a:bodyPr/>
          <a:lstStyle/>
          <a:p>
            <a:r>
              <a:rPr lang="en-US" dirty="0">
                <a:latin typeface="Times New Roman" panose="02020603050405020304" pitchFamily="18" charset="0"/>
                <a:cs typeface="Times New Roman" panose="02020603050405020304" pitchFamily="18" charset="0"/>
              </a:rPr>
              <a:t>Python code automated 105 origin points to TU Dublin </a:t>
            </a:r>
            <a:r>
              <a:rPr lang="en-US" dirty="0" err="1">
                <a:latin typeface="Times New Roman" panose="02020603050405020304" pitchFamily="18" charset="0"/>
                <a:cs typeface="Times New Roman" panose="02020603050405020304" pitchFamily="18" charset="0"/>
              </a:rPr>
              <a:t>Grangegorman</a:t>
            </a:r>
            <a:r>
              <a:rPr lang="en-US" dirty="0">
                <a:latin typeface="Times New Roman" panose="02020603050405020304" pitchFamily="18" charset="0"/>
                <a:cs typeface="Times New Roman" panose="02020603050405020304" pitchFamily="18" charset="0"/>
              </a:rPr>
              <a:t> route queries</a:t>
            </a:r>
          </a:p>
          <a:p>
            <a:r>
              <a:rPr lang="en-US" dirty="0">
                <a:latin typeface="Times New Roman" panose="02020603050405020304" pitchFamily="18" charset="0"/>
                <a:cs typeface="Times New Roman" panose="02020603050405020304" pitchFamily="18" charset="0"/>
              </a:rPr>
              <a:t>Selected the fastest valid public-transport journey</a:t>
            </a:r>
          </a:p>
          <a:p>
            <a:r>
              <a:rPr lang="en-IN" dirty="0">
                <a:latin typeface="Times New Roman" panose="02020603050405020304" pitchFamily="18" charset="0"/>
                <a:cs typeface="Times New Roman" panose="02020603050405020304" pitchFamily="18" charset="0"/>
              </a:rPr>
              <a:t>Results are later stored in a structured CSV dataset</a:t>
            </a:r>
            <a:endParaRPr lang="en-US" dirty="0">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50AAF52E-3CC0-A03E-8F43-3C1E9F777BC3}"/>
              </a:ext>
            </a:extLst>
          </p:cNvPr>
          <p:cNvPicPr>
            <a:picLocks noGrp="1" noChangeAspect="1"/>
          </p:cNvPicPr>
          <p:nvPr>
            <p:ph sz="half" idx="2"/>
          </p:nvPr>
        </p:nvPicPr>
        <p:blipFill>
          <a:blip r:embed="rId2"/>
          <a:stretch>
            <a:fillRect/>
          </a:stretch>
        </p:blipFill>
        <p:spPr>
          <a:xfrm>
            <a:off x="4470401" y="1690688"/>
            <a:ext cx="7536252" cy="3853769"/>
          </a:xfrm>
        </p:spPr>
      </p:pic>
    </p:spTree>
    <p:extLst>
      <p:ext uri="{BB962C8B-B14F-4D97-AF65-F5344CB8AC3E}">
        <p14:creationId xmlns:p14="http://schemas.microsoft.com/office/powerpoint/2010/main" val="12993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B5E40-9C44-1DED-B4BB-5B00B482FB94}"/>
              </a:ext>
            </a:extLst>
          </p:cNvPr>
          <p:cNvSpPr txBox="1"/>
          <p:nvPr/>
        </p:nvSpPr>
        <p:spPr>
          <a:xfrm>
            <a:off x="448886" y="370047"/>
            <a:ext cx="5062451" cy="646331"/>
          </a:xfrm>
          <a:prstGeom prst="rect">
            <a:avLst/>
          </a:prstGeom>
          <a:noFill/>
        </p:spPr>
        <p:txBody>
          <a:bodyPr wrap="square" rtlCol="0">
            <a:spAutoFit/>
          </a:bodyPr>
          <a:lstStyle/>
          <a:p>
            <a:r>
              <a:rPr lang="en-US" sz="3600" dirty="0"/>
              <a:t>UPDATE ON TECH STACK</a:t>
            </a:r>
            <a:endParaRPr lang="en-IN" sz="3600" dirty="0"/>
          </a:p>
        </p:txBody>
      </p:sp>
      <p:pic>
        <p:nvPicPr>
          <p:cNvPr id="4" name="Picture 3">
            <a:extLst>
              <a:ext uri="{FF2B5EF4-FFF2-40B4-BE49-F238E27FC236}">
                <a16:creationId xmlns:a16="http://schemas.microsoft.com/office/drawing/2014/main" id="{6100041B-4477-667B-46F3-E100D60423B3}"/>
              </a:ext>
            </a:extLst>
          </p:cNvPr>
          <p:cNvPicPr>
            <a:picLocks noChangeAspect="1"/>
          </p:cNvPicPr>
          <p:nvPr/>
        </p:nvPicPr>
        <p:blipFill>
          <a:blip r:embed="rId2"/>
          <a:stretch>
            <a:fillRect/>
          </a:stretch>
        </p:blipFill>
        <p:spPr>
          <a:xfrm>
            <a:off x="961026" y="1542306"/>
            <a:ext cx="1930310" cy="752007"/>
          </a:xfrm>
          <a:prstGeom prst="rect">
            <a:avLst/>
          </a:prstGeom>
        </p:spPr>
      </p:pic>
      <p:pic>
        <p:nvPicPr>
          <p:cNvPr id="6" name="Picture 5">
            <a:extLst>
              <a:ext uri="{FF2B5EF4-FFF2-40B4-BE49-F238E27FC236}">
                <a16:creationId xmlns:a16="http://schemas.microsoft.com/office/drawing/2014/main" id="{CB6CFD2C-D985-D38B-D971-180F0E6CD205}"/>
              </a:ext>
            </a:extLst>
          </p:cNvPr>
          <p:cNvPicPr>
            <a:picLocks noChangeAspect="1"/>
          </p:cNvPicPr>
          <p:nvPr/>
        </p:nvPicPr>
        <p:blipFill>
          <a:blip r:embed="rId3"/>
          <a:stretch>
            <a:fillRect/>
          </a:stretch>
        </p:blipFill>
        <p:spPr>
          <a:xfrm>
            <a:off x="684013" y="2175184"/>
            <a:ext cx="2484336" cy="971634"/>
          </a:xfrm>
          <a:prstGeom prst="rect">
            <a:avLst/>
          </a:prstGeom>
        </p:spPr>
      </p:pic>
      <p:cxnSp>
        <p:nvCxnSpPr>
          <p:cNvPr id="8" name="Straight Arrow Connector 7">
            <a:extLst>
              <a:ext uri="{FF2B5EF4-FFF2-40B4-BE49-F238E27FC236}">
                <a16:creationId xmlns:a16="http://schemas.microsoft.com/office/drawing/2014/main" id="{56961501-8CD1-DB93-3A20-676BC9B64155}"/>
              </a:ext>
            </a:extLst>
          </p:cNvPr>
          <p:cNvCxnSpPr/>
          <p:nvPr/>
        </p:nvCxnSpPr>
        <p:spPr>
          <a:xfrm>
            <a:off x="3724102" y="2502131"/>
            <a:ext cx="3225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1499254-CC9F-72E5-9E2A-3C996055979C}"/>
              </a:ext>
            </a:extLst>
          </p:cNvPr>
          <p:cNvPicPr>
            <a:picLocks noChangeAspect="1"/>
          </p:cNvPicPr>
          <p:nvPr/>
        </p:nvPicPr>
        <p:blipFill>
          <a:blip r:embed="rId4"/>
          <a:stretch>
            <a:fillRect/>
          </a:stretch>
        </p:blipFill>
        <p:spPr>
          <a:xfrm>
            <a:off x="7487581" y="1590622"/>
            <a:ext cx="3225338" cy="1823017"/>
          </a:xfrm>
          <a:prstGeom prst="rect">
            <a:avLst/>
          </a:prstGeom>
        </p:spPr>
      </p:pic>
      <p:pic>
        <p:nvPicPr>
          <p:cNvPr id="12" name="Picture 11">
            <a:extLst>
              <a:ext uri="{FF2B5EF4-FFF2-40B4-BE49-F238E27FC236}">
                <a16:creationId xmlns:a16="http://schemas.microsoft.com/office/drawing/2014/main" id="{9BEE8547-99B3-3F4F-305B-7DAF4A0EBD71}"/>
              </a:ext>
            </a:extLst>
          </p:cNvPr>
          <p:cNvPicPr>
            <a:picLocks noChangeAspect="1"/>
          </p:cNvPicPr>
          <p:nvPr/>
        </p:nvPicPr>
        <p:blipFill>
          <a:blip r:embed="rId5"/>
          <a:stretch>
            <a:fillRect/>
          </a:stretch>
        </p:blipFill>
        <p:spPr>
          <a:xfrm>
            <a:off x="1005764" y="3068061"/>
            <a:ext cx="2162585" cy="632878"/>
          </a:xfrm>
          <a:prstGeom prst="rect">
            <a:avLst/>
          </a:prstGeom>
        </p:spPr>
      </p:pic>
      <p:sp>
        <p:nvSpPr>
          <p:cNvPr id="13" name="TextBox 12">
            <a:extLst>
              <a:ext uri="{FF2B5EF4-FFF2-40B4-BE49-F238E27FC236}">
                <a16:creationId xmlns:a16="http://schemas.microsoft.com/office/drawing/2014/main" id="{8E6A2671-6193-9ADF-2BCC-A00311D0568D}"/>
              </a:ext>
            </a:extLst>
          </p:cNvPr>
          <p:cNvSpPr txBox="1"/>
          <p:nvPr/>
        </p:nvSpPr>
        <p:spPr>
          <a:xfrm>
            <a:off x="2980110" y="4355868"/>
            <a:ext cx="7261169" cy="1569660"/>
          </a:xfrm>
          <a:prstGeom prst="rect">
            <a:avLst/>
          </a:prstGeom>
          <a:noFill/>
        </p:spPr>
        <p:txBody>
          <a:bodyPr wrap="square" rtlCol="0">
            <a:spAutoFit/>
          </a:bodyPr>
          <a:lstStyle/>
          <a:p>
            <a:r>
              <a:rPr lang="en-US" sz="2400" dirty="0"/>
              <a:t>Azure for Students – 100$ Free credit for 12 months.</a:t>
            </a:r>
          </a:p>
          <a:p>
            <a:endParaRPr lang="en-US" sz="2400" dirty="0"/>
          </a:p>
          <a:p>
            <a:r>
              <a:rPr lang="en-US" sz="2400" dirty="0"/>
              <a:t>One platform for hosting Frontend, Backend and Database.</a:t>
            </a:r>
          </a:p>
        </p:txBody>
      </p:sp>
    </p:spTree>
    <p:extLst>
      <p:ext uri="{BB962C8B-B14F-4D97-AF65-F5344CB8AC3E}">
        <p14:creationId xmlns:p14="http://schemas.microsoft.com/office/powerpoint/2010/main" val="1015744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9C1B2A-FF2B-2281-C6F0-D92AA42BA4A6}"/>
              </a:ext>
            </a:extLst>
          </p:cNvPr>
          <p:cNvSpPr txBox="1"/>
          <p:nvPr/>
        </p:nvSpPr>
        <p:spPr>
          <a:xfrm>
            <a:off x="440575" y="714894"/>
            <a:ext cx="4422370" cy="523220"/>
          </a:xfrm>
          <a:prstGeom prst="rect">
            <a:avLst/>
          </a:prstGeom>
          <a:noFill/>
        </p:spPr>
        <p:txBody>
          <a:bodyPr wrap="square" rtlCol="0">
            <a:spAutoFit/>
          </a:bodyPr>
          <a:lstStyle/>
          <a:p>
            <a:r>
              <a:rPr lang="en-US" sz="2800" dirty="0"/>
              <a:t>Azure services we use:</a:t>
            </a:r>
            <a:endParaRPr lang="en-IN" sz="2800" dirty="0"/>
          </a:p>
        </p:txBody>
      </p:sp>
      <p:pic>
        <p:nvPicPr>
          <p:cNvPr id="5" name="Picture 4">
            <a:extLst>
              <a:ext uri="{FF2B5EF4-FFF2-40B4-BE49-F238E27FC236}">
                <a16:creationId xmlns:a16="http://schemas.microsoft.com/office/drawing/2014/main" id="{D740E42F-1217-8166-85BF-E8F3B18248E0}"/>
              </a:ext>
            </a:extLst>
          </p:cNvPr>
          <p:cNvPicPr>
            <a:picLocks noChangeAspect="1"/>
          </p:cNvPicPr>
          <p:nvPr/>
        </p:nvPicPr>
        <p:blipFill>
          <a:blip r:embed="rId2"/>
          <a:stretch>
            <a:fillRect/>
          </a:stretch>
        </p:blipFill>
        <p:spPr>
          <a:xfrm>
            <a:off x="540623" y="2000169"/>
            <a:ext cx="3109183" cy="1428832"/>
          </a:xfrm>
          <a:prstGeom prst="rect">
            <a:avLst/>
          </a:prstGeom>
        </p:spPr>
      </p:pic>
      <p:pic>
        <p:nvPicPr>
          <p:cNvPr id="7" name="Picture 6">
            <a:extLst>
              <a:ext uri="{FF2B5EF4-FFF2-40B4-BE49-F238E27FC236}">
                <a16:creationId xmlns:a16="http://schemas.microsoft.com/office/drawing/2014/main" id="{AC3314ED-3D11-9467-9D2F-9881A21E9055}"/>
              </a:ext>
            </a:extLst>
          </p:cNvPr>
          <p:cNvPicPr>
            <a:picLocks noChangeAspect="1"/>
          </p:cNvPicPr>
          <p:nvPr/>
        </p:nvPicPr>
        <p:blipFill>
          <a:blip r:embed="rId3"/>
          <a:stretch>
            <a:fillRect/>
          </a:stretch>
        </p:blipFill>
        <p:spPr>
          <a:xfrm>
            <a:off x="4640756" y="2000168"/>
            <a:ext cx="3166854" cy="1627219"/>
          </a:xfrm>
          <a:prstGeom prst="rect">
            <a:avLst/>
          </a:prstGeom>
        </p:spPr>
      </p:pic>
      <p:pic>
        <p:nvPicPr>
          <p:cNvPr id="9" name="Picture 8">
            <a:extLst>
              <a:ext uri="{FF2B5EF4-FFF2-40B4-BE49-F238E27FC236}">
                <a16:creationId xmlns:a16="http://schemas.microsoft.com/office/drawing/2014/main" id="{EF17777A-0008-5733-EBAB-142ADE00BEC5}"/>
              </a:ext>
            </a:extLst>
          </p:cNvPr>
          <p:cNvPicPr>
            <a:picLocks noChangeAspect="1"/>
          </p:cNvPicPr>
          <p:nvPr/>
        </p:nvPicPr>
        <p:blipFill>
          <a:blip r:embed="rId4"/>
          <a:stretch>
            <a:fillRect/>
          </a:stretch>
        </p:blipFill>
        <p:spPr>
          <a:xfrm>
            <a:off x="8593836" y="2000168"/>
            <a:ext cx="3200677" cy="1600339"/>
          </a:xfrm>
          <a:prstGeom prst="rect">
            <a:avLst/>
          </a:prstGeom>
        </p:spPr>
      </p:pic>
      <p:pic>
        <p:nvPicPr>
          <p:cNvPr id="11" name="Picture 10">
            <a:extLst>
              <a:ext uri="{FF2B5EF4-FFF2-40B4-BE49-F238E27FC236}">
                <a16:creationId xmlns:a16="http://schemas.microsoft.com/office/drawing/2014/main" id="{692A349D-BA2E-AD53-1300-A5E348AA34A4}"/>
              </a:ext>
            </a:extLst>
          </p:cNvPr>
          <p:cNvPicPr>
            <a:picLocks noChangeAspect="1"/>
          </p:cNvPicPr>
          <p:nvPr/>
        </p:nvPicPr>
        <p:blipFill>
          <a:blip r:embed="rId5"/>
          <a:stretch>
            <a:fillRect/>
          </a:stretch>
        </p:blipFill>
        <p:spPr>
          <a:xfrm>
            <a:off x="1067039" y="4352251"/>
            <a:ext cx="2476715" cy="1790855"/>
          </a:xfrm>
          <a:prstGeom prst="rect">
            <a:avLst/>
          </a:prstGeom>
        </p:spPr>
      </p:pic>
      <p:pic>
        <p:nvPicPr>
          <p:cNvPr id="13" name="Picture 12">
            <a:extLst>
              <a:ext uri="{FF2B5EF4-FFF2-40B4-BE49-F238E27FC236}">
                <a16:creationId xmlns:a16="http://schemas.microsoft.com/office/drawing/2014/main" id="{2F8071FE-49AD-74A6-5CD0-C7C084FE09CE}"/>
              </a:ext>
            </a:extLst>
          </p:cNvPr>
          <p:cNvPicPr>
            <a:picLocks noChangeAspect="1"/>
          </p:cNvPicPr>
          <p:nvPr/>
        </p:nvPicPr>
        <p:blipFill>
          <a:blip r:embed="rId6"/>
          <a:stretch>
            <a:fillRect/>
          </a:stretch>
        </p:blipFill>
        <p:spPr>
          <a:xfrm>
            <a:off x="4926712" y="4389441"/>
            <a:ext cx="2880898" cy="1966719"/>
          </a:xfrm>
          <a:prstGeom prst="rect">
            <a:avLst/>
          </a:prstGeom>
        </p:spPr>
      </p:pic>
    </p:spTree>
    <p:extLst>
      <p:ext uri="{BB962C8B-B14F-4D97-AF65-F5344CB8AC3E}">
        <p14:creationId xmlns:p14="http://schemas.microsoft.com/office/powerpoint/2010/main" val="36319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727D-A8EC-6E1F-4BA5-967ADC51F1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C5914C-D102-5761-B49C-70CEB3C09DD6}"/>
              </a:ext>
            </a:extLst>
          </p:cNvPr>
          <p:cNvPicPr>
            <a:picLocks noChangeAspect="1"/>
          </p:cNvPicPr>
          <p:nvPr/>
        </p:nvPicPr>
        <p:blipFill>
          <a:blip r:embed="rId2"/>
          <a:stretch>
            <a:fillRect/>
          </a:stretch>
        </p:blipFill>
        <p:spPr>
          <a:xfrm>
            <a:off x="634020" y="1397675"/>
            <a:ext cx="5190935" cy="2667249"/>
          </a:xfrm>
          <a:prstGeom prst="rect">
            <a:avLst/>
          </a:prstGeom>
        </p:spPr>
      </p:pic>
      <p:sp>
        <p:nvSpPr>
          <p:cNvPr id="8" name="TextBox 7">
            <a:extLst>
              <a:ext uri="{FF2B5EF4-FFF2-40B4-BE49-F238E27FC236}">
                <a16:creationId xmlns:a16="http://schemas.microsoft.com/office/drawing/2014/main" id="{0377BEBC-26FF-818C-B01B-E898DC29AB39}"/>
              </a:ext>
            </a:extLst>
          </p:cNvPr>
          <p:cNvSpPr txBox="1"/>
          <p:nvPr/>
        </p:nvSpPr>
        <p:spPr>
          <a:xfrm>
            <a:off x="6181600" y="1859339"/>
            <a:ext cx="6097384" cy="3139321"/>
          </a:xfrm>
          <a:prstGeom prst="rect">
            <a:avLst/>
          </a:prstGeom>
          <a:noFill/>
        </p:spPr>
        <p:txBody>
          <a:bodyPr wrap="square">
            <a:spAutoFit/>
          </a:bodyPr>
          <a:lstStyle/>
          <a:p>
            <a:pPr rtl="0">
              <a:buNone/>
            </a:pPr>
            <a:r>
              <a:rPr lang="en-IN" b="1" dirty="0"/>
              <a:t>F1 – Free</a:t>
            </a:r>
          </a:p>
          <a:p>
            <a:pPr rtl="0">
              <a:buNone/>
            </a:pPr>
            <a:endParaRPr lang="en-IN" dirty="0"/>
          </a:p>
          <a:p>
            <a:pPr marL="342900" lvl="0" indent="-342900" rtl="0">
              <a:buFont typeface="Arial" panose="020B0604020202020204" pitchFamily="34" charset="0"/>
              <a:buChar char="•"/>
            </a:pPr>
            <a:r>
              <a:rPr lang="en-IN" dirty="0"/>
              <a:t>Shared machine, 60 CPU min/day</a:t>
            </a:r>
          </a:p>
          <a:p>
            <a:pPr marL="342900" lvl="0" indent="-342900" rtl="0">
              <a:buFont typeface="Arial" panose="020B0604020202020204" pitchFamily="34" charset="0"/>
              <a:buChar char="•"/>
            </a:pPr>
            <a:r>
              <a:rPr lang="en-IN" dirty="0"/>
              <a:t>Sleeps when idle, 20–30 s first load</a:t>
            </a:r>
          </a:p>
          <a:p>
            <a:pPr marL="342900" lvl="0" indent="-342900" rtl="0">
              <a:buFont typeface="Arial" panose="020B0604020202020204" pitchFamily="34" charset="0"/>
              <a:buChar char="•"/>
            </a:pPr>
            <a:endParaRPr lang="en-IN" dirty="0"/>
          </a:p>
          <a:p>
            <a:pPr lvl="0" rtl="0"/>
            <a:endParaRPr lang="en-IN" dirty="0"/>
          </a:p>
          <a:p>
            <a:pPr rtl="0">
              <a:buNone/>
            </a:pPr>
            <a:r>
              <a:rPr lang="en-IN" b="1" dirty="0"/>
              <a:t>B1 – Basic</a:t>
            </a:r>
            <a:r>
              <a:rPr lang="en-IN" dirty="0"/>
              <a:t> </a:t>
            </a:r>
          </a:p>
          <a:p>
            <a:pPr rtl="0">
              <a:buNone/>
            </a:pPr>
            <a:endParaRPr lang="en-IN" dirty="0"/>
          </a:p>
          <a:p>
            <a:pPr marL="342900" lvl="0" indent="-342900" rtl="0">
              <a:buFont typeface="Arial" panose="020B0604020202020204" pitchFamily="34" charset="0"/>
              <a:buChar char="•"/>
            </a:pPr>
            <a:r>
              <a:rPr lang="en-IN" dirty="0"/>
              <a:t>Dedicated: 1 CPU core, 1.75 GB RAM, 10 GB storage</a:t>
            </a:r>
          </a:p>
          <a:p>
            <a:pPr marL="342900" lvl="0" indent="-342900" rtl="0">
              <a:buFont typeface="Arial" panose="020B0604020202020204" pitchFamily="34" charset="0"/>
              <a:buChar char="•"/>
            </a:pPr>
            <a:r>
              <a:rPr lang="en-IN" dirty="0"/>
              <a:t>Always On, no sleep delay</a:t>
            </a:r>
          </a:p>
          <a:p>
            <a:pPr marL="342900" lvl="0" indent="-342900" rtl="0">
              <a:buFont typeface="Arial" panose="020B0604020202020204" pitchFamily="34" charset="0"/>
              <a:buChar char="•"/>
            </a:pPr>
            <a:r>
              <a:rPr lang="en-IN" dirty="0"/>
              <a:t>About $13/month on Linux, from student credit</a:t>
            </a:r>
          </a:p>
        </p:txBody>
      </p:sp>
    </p:spTree>
    <p:extLst>
      <p:ext uri="{BB962C8B-B14F-4D97-AF65-F5344CB8AC3E}">
        <p14:creationId xmlns:p14="http://schemas.microsoft.com/office/powerpoint/2010/main" val="4088036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51533" y="347463"/>
            <a:ext cx="10423899" cy="502907"/>
          </a:xfrm>
          <a:prstGeom prst="rect">
            <a:avLst/>
          </a:prstGeom>
          <a:noFill/>
        </p:spPr>
        <p:txBody>
          <a:bodyPr wrap="none" anchor="t">
            <a:spAutoFit/>
          </a:bodyPr>
          <a:lstStyle/>
          <a:p>
            <a:pPr algn="l"/>
            <a:r>
              <a:rPr sz="2799" b="1">
                <a:solidFill>
                  <a:srgbClr val="000000"/>
                </a:solidFill>
                <a:latin typeface="Arial"/>
              </a:rPr>
              <a:t>Figma Prototype — UI Improvements</a:t>
            </a:r>
          </a:p>
        </p:txBody>
      </p:sp>
      <p:sp>
        <p:nvSpPr>
          <p:cNvPr id="6" name="TextBox 5"/>
          <p:cNvSpPr txBox="1"/>
          <p:nvPr/>
        </p:nvSpPr>
        <p:spPr>
          <a:xfrm>
            <a:off x="640063" y="1252696"/>
            <a:ext cx="914377" cy="228594"/>
          </a:xfrm>
          <a:prstGeom prst="rect">
            <a:avLst/>
          </a:prstGeom>
          <a:noFill/>
        </p:spPr>
        <p:txBody>
          <a:bodyPr wrap="none" anchor="t">
            <a:spAutoFit/>
          </a:bodyPr>
          <a:lstStyle/>
          <a:p>
            <a:pPr algn="l"/>
            <a:r>
              <a:rPr sz="999" b="1" dirty="0">
                <a:solidFill>
                  <a:srgbClr val="646464"/>
                </a:solidFill>
                <a:latin typeface="Arial"/>
              </a:rPr>
              <a:t>BEFORE</a:t>
            </a:r>
          </a:p>
        </p:txBody>
      </p:sp>
      <p:sp>
        <p:nvSpPr>
          <p:cNvPr id="7" name="TextBox 6"/>
          <p:cNvSpPr txBox="1"/>
          <p:nvPr/>
        </p:nvSpPr>
        <p:spPr>
          <a:xfrm>
            <a:off x="6355319" y="1287681"/>
            <a:ext cx="914377" cy="228594"/>
          </a:xfrm>
          <a:prstGeom prst="rect">
            <a:avLst/>
          </a:prstGeom>
          <a:noFill/>
        </p:spPr>
        <p:txBody>
          <a:bodyPr wrap="none" anchor="t">
            <a:spAutoFit/>
          </a:bodyPr>
          <a:lstStyle/>
          <a:p>
            <a:pPr algn="l"/>
            <a:r>
              <a:rPr sz="999" b="1">
                <a:solidFill>
                  <a:srgbClr val="646464"/>
                </a:solidFill>
                <a:latin typeface="Arial"/>
              </a:rPr>
              <a:t>AFTER</a:t>
            </a:r>
          </a:p>
        </p:txBody>
      </p:sp>
      <p:pic>
        <p:nvPicPr>
          <p:cNvPr id="9" name="Picture 8" descr="image(20261008-204247).png"/>
          <p:cNvPicPr>
            <a:picLocks noChangeAspect="1"/>
          </p:cNvPicPr>
          <p:nvPr/>
        </p:nvPicPr>
        <p:blipFill>
          <a:blip r:embed="rId2"/>
          <a:stretch>
            <a:fillRect/>
          </a:stretch>
        </p:blipFill>
        <p:spPr>
          <a:xfrm>
            <a:off x="600101" y="1550068"/>
            <a:ext cx="5635950" cy="4055063"/>
          </a:xfrm>
          <a:prstGeom prst="rect">
            <a:avLst/>
          </a:prstGeom>
        </p:spPr>
      </p:pic>
      <p:pic>
        <p:nvPicPr>
          <p:cNvPr id="12" name="Picture 11" descr="image(20261008-204258).png"/>
          <p:cNvPicPr>
            <a:picLocks noChangeAspect="1"/>
          </p:cNvPicPr>
          <p:nvPr/>
        </p:nvPicPr>
        <p:blipFill>
          <a:blip r:embed="rId3"/>
          <a:stretch>
            <a:fillRect/>
          </a:stretch>
        </p:blipFill>
        <p:spPr>
          <a:xfrm>
            <a:off x="6440729" y="1550067"/>
            <a:ext cx="5251410" cy="40550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6773" y="393192"/>
            <a:ext cx="10058400" cy="411480"/>
          </a:xfrm>
          <a:prstGeom prst="rect">
            <a:avLst/>
          </a:prstGeom>
          <a:noFill/>
        </p:spPr>
        <p:txBody>
          <a:bodyPr wrap="square">
            <a:spAutoFit/>
          </a:bodyPr>
          <a:lstStyle/>
          <a:p>
            <a:pPr algn="l"/>
            <a:r>
              <a:rPr sz="2600" b="1" dirty="0">
                <a:solidFill>
                  <a:srgbClr val="000000"/>
                </a:solidFill>
                <a:latin typeface="Arial"/>
              </a:rPr>
              <a:t>Requirement Specification</a:t>
            </a:r>
          </a:p>
        </p:txBody>
      </p:sp>
      <p:sp>
        <p:nvSpPr>
          <p:cNvPr id="4" name="TextBox 3"/>
          <p:cNvSpPr txBox="1"/>
          <p:nvPr/>
        </p:nvSpPr>
        <p:spPr>
          <a:xfrm>
            <a:off x="526773" y="873252"/>
            <a:ext cx="5486400" cy="228600"/>
          </a:xfrm>
          <a:prstGeom prst="rect">
            <a:avLst/>
          </a:prstGeom>
          <a:noFill/>
        </p:spPr>
        <p:txBody>
          <a:bodyPr wrap="square">
            <a:spAutoFit/>
          </a:bodyPr>
          <a:lstStyle/>
          <a:p>
            <a:pPr algn="l"/>
            <a:r>
              <a:rPr sz="1100" b="0" dirty="0">
                <a:solidFill>
                  <a:srgbClr val="5A5A5A"/>
                </a:solidFill>
                <a:latin typeface="Arial"/>
              </a:rPr>
              <a:t>Requirements grouped by priority</a:t>
            </a:r>
          </a:p>
        </p:txBody>
      </p:sp>
      <p:sp>
        <p:nvSpPr>
          <p:cNvPr id="5" name="TextBox 4"/>
          <p:cNvSpPr txBox="1"/>
          <p:nvPr/>
        </p:nvSpPr>
        <p:spPr>
          <a:xfrm>
            <a:off x="731520" y="1508760"/>
            <a:ext cx="3154680" cy="320040"/>
          </a:xfrm>
          <a:prstGeom prst="rect">
            <a:avLst/>
          </a:prstGeom>
          <a:noFill/>
        </p:spPr>
        <p:txBody>
          <a:bodyPr wrap="square">
            <a:spAutoFit/>
          </a:bodyPr>
          <a:lstStyle/>
          <a:p>
            <a:pPr algn="l"/>
            <a:r>
              <a:rPr sz="1500" b="1">
                <a:solidFill>
                  <a:srgbClr val="000000"/>
                </a:solidFill>
                <a:latin typeface="Arial"/>
              </a:rPr>
              <a:t>A — Core requirements</a:t>
            </a:r>
          </a:p>
        </p:txBody>
      </p:sp>
      <p:sp>
        <p:nvSpPr>
          <p:cNvPr id="6" name="TextBox 5"/>
          <p:cNvSpPr txBox="1"/>
          <p:nvPr/>
        </p:nvSpPr>
        <p:spPr>
          <a:xfrm>
            <a:off x="731520" y="2011680"/>
            <a:ext cx="3246120" cy="365760"/>
          </a:xfrm>
          <a:prstGeom prst="rect">
            <a:avLst/>
          </a:prstGeom>
          <a:noFill/>
        </p:spPr>
        <p:txBody>
          <a:bodyPr wrap="square">
            <a:spAutoFit/>
          </a:bodyPr>
          <a:lstStyle/>
          <a:p>
            <a:pPr algn="l"/>
            <a:r>
              <a:rPr sz="1100" b="0" dirty="0">
                <a:solidFill>
                  <a:srgbClr val="000000"/>
                </a:solidFill>
                <a:latin typeface="Arial"/>
              </a:rPr>
              <a:t>• Recommend top 3 areas</a:t>
            </a:r>
          </a:p>
        </p:txBody>
      </p:sp>
      <p:sp>
        <p:nvSpPr>
          <p:cNvPr id="7" name="TextBox 6"/>
          <p:cNvSpPr txBox="1"/>
          <p:nvPr/>
        </p:nvSpPr>
        <p:spPr>
          <a:xfrm>
            <a:off x="731520" y="2487168"/>
            <a:ext cx="3246120" cy="365760"/>
          </a:xfrm>
          <a:prstGeom prst="rect">
            <a:avLst/>
          </a:prstGeom>
          <a:noFill/>
        </p:spPr>
        <p:txBody>
          <a:bodyPr wrap="square">
            <a:spAutoFit/>
          </a:bodyPr>
          <a:lstStyle/>
          <a:p>
            <a:pPr algn="l"/>
            <a:r>
              <a:rPr sz="1100" b="0">
                <a:solidFill>
                  <a:srgbClr val="000000"/>
                </a:solidFill>
                <a:latin typeface="Arial"/>
              </a:rPr>
              <a:t>• Calculate commute distance</a:t>
            </a:r>
          </a:p>
        </p:txBody>
      </p:sp>
      <p:sp>
        <p:nvSpPr>
          <p:cNvPr id="8" name="TextBox 7"/>
          <p:cNvSpPr txBox="1"/>
          <p:nvPr/>
        </p:nvSpPr>
        <p:spPr>
          <a:xfrm>
            <a:off x="731520" y="2962656"/>
            <a:ext cx="3246120" cy="365760"/>
          </a:xfrm>
          <a:prstGeom prst="rect">
            <a:avLst/>
          </a:prstGeom>
          <a:noFill/>
        </p:spPr>
        <p:txBody>
          <a:bodyPr wrap="square">
            <a:spAutoFit/>
          </a:bodyPr>
          <a:lstStyle/>
          <a:p>
            <a:pPr algn="l"/>
            <a:r>
              <a:rPr sz="1100" b="0">
                <a:solidFill>
                  <a:srgbClr val="000000"/>
                </a:solidFill>
                <a:latin typeface="Arial"/>
              </a:rPr>
              <a:t>• Find supermarkets</a:t>
            </a:r>
          </a:p>
        </p:txBody>
      </p:sp>
      <p:sp>
        <p:nvSpPr>
          <p:cNvPr id="9" name="TextBox 8"/>
          <p:cNvSpPr txBox="1"/>
          <p:nvPr/>
        </p:nvSpPr>
        <p:spPr>
          <a:xfrm>
            <a:off x="731520" y="3438144"/>
            <a:ext cx="3246120" cy="365760"/>
          </a:xfrm>
          <a:prstGeom prst="rect">
            <a:avLst/>
          </a:prstGeom>
          <a:noFill/>
        </p:spPr>
        <p:txBody>
          <a:bodyPr wrap="square">
            <a:spAutoFit/>
          </a:bodyPr>
          <a:lstStyle/>
          <a:p>
            <a:pPr algn="l"/>
            <a:r>
              <a:rPr sz="1100" b="0">
                <a:solidFill>
                  <a:srgbClr val="000000"/>
                </a:solidFill>
                <a:latin typeface="Arial"/>
              </a:rPr>
              <a:t>• Find parks and gyms</a:t>
            </a:r>
          </a:p>
        </p:txBody>
      </p:sp>
      <p:sp>
        <p:nvSpPr>
          <p:cNvPr id="10" name="TextBox 9"/>
          <p:cNvSpPr txBox="1"/>
          <p:nvPr/>
        </p:nvSpPr>
        <p:spPr>
          <a:xfrm>
            <a:off x="731520" y="3913632"/>
            <a:ext cx="3246120" cy="365760"/>
          </a:xfrm>
          <a:prstGeom prst="rect">
            <a:avLst/>
          </a:prstGeom>
          <a:noFill/>
        </p:spPr>
        <p:txBody>
          <a:bodyPr wrap="square">
            <a:spAutoFit/>
          </a:bodyPr>
          <a:lstStyle/>
          <a:p>
            <a:pPr algn="l"/>
            <a:r>
              <a:rPr sz="1100" b="0">
                <a:solidFill>
                  <a:srgbClr val="000000"/>
                </a:solidFill>
                <a:latin typeface="Arial"/>
              </a:rPr>
              <a:t>• Find cafés and restaurants</a:t>
            </a:r>
          </a:p>
        </p:txBody>
      </p:sp>
      <p:sp>
        <p:nvSpPr>
          <p:cNvPr id="11" name="TextBox 10"/>
          <p:cNvSpPr txBox="1"/>
          <p:nvPr/>
        </p:nvSpPr>
        <p:spPr>
          <a:xfrm>
            <a:off x="731520" y="4389120"/>
            <a:ext cx="3246120" cy="365760"/>
          </a:xfrm>
          <a:prstGeom prst="rect">
            <a:avLst/>
          </a:prstGeom>
          <a:noFill/>
        </p:spPr>
        <p:txBody>
          <a:bodyPr wrap="square">
            <a:spAutoFit/>
          </a:bodyPr>
          <a:lstStyle/>
          <a:p>
            <a:pPr algn="l"/>
            <a:r>
              <a:rPr sz="1100" b="0">
                <a:solidFill>
                  <a:srgbClr val="000000"/>
                </a:solidFill>
                <a:latin typeface="Arial"/>
              </a:rPr>
              <a:t>• Find pharmacies and hospitals</a:t>
            </a:r>
          </a:p>
        </p:txBody>
      </p:sp>
      <p:sp>
        <p:nvSpPr>
          <p:cNvPr id="12" name="TextBox 11"/>
          <p:cNvSpPr txBox="1"/>
          <p:nvPr/>
        </p:nvSpPr>
        <p:spPr>
          <a:xfrm>
            <a:off x="731520" y="4864608"/>
            <a:ext cx="3246120" cy="365760"/>
          </a:xfrm>
          <a:prstGeom prst="rect">
            <a:avLst/>
          </a:prstGeom>
          <a:noFill/>
        </p:spPr>
        <p:txBody>
          <a:bodyPr wrap="square">
            <a:spAutoFit/>
          </a:bodyPr>
          <a:lstStyle/>
          <a:p>
            <a:pPr algn="l"/>
            <a:r>
              <a:rPr sz="1100" b="0">
                <a:solidFill>
                  <a:srgbClr val="000000"/>
                </a:solidFill>
                <a:latin typeface="Arial"/>
              </a:rPr>
              <a:t>• Mobile responsive UI</a:t>
            </a:r>
          </a:p>
        </p:txBody>
      </p:sp>
      <p:sp>
        <p:nvSpPr>
          <p:cNvPr id="13" name="TextBox 12"/>
          <p:cNvSpPr txBox="1"/>
          <p:nvPr/>
        </p:nvSpPr>
        <p:spPr>
          <a:xfrm>
            <a:off x="4251960" y="1508760"/>
            <a:ext cx="3154680" cy="320040"/>
          </a:xfrm>
          <a:prstGeom prst="rect">
            <a:avLst/>
          </a:prstGeom>
          <a:noFill/>
        </p:spPr>
        <p:txBody>
          <a:bodyPr wrap="square">
            <a:spAutoFit/>
          </a:bodyPr>
          <a:lstStyle/>
          <a:p>
            <a:pPr algn="l"/>
            <a:r>
              <a:rPr sz="1500" b="1">
                <a:solidFill>
                  <a:srgbClr val="000000"/>
                </a:solidFill>
                <a:latin typeface="Arial"/>
              </a:rPr>
              <a:t>B — Supporting requirements</a:t>
            </a:r>
          </a:p>
        </p:txBody>
      </p:sp>
      <p:sp>
        <p:nvSpPr>
          <p:cNvPr id="14" name="TextBox 13"/>
          <p:cNvSpPr txBox="1"/>
          <p:nvPr/>
        </p:nvSpPr>
        <p:spPr>
          <a:xfrm>
            <a:off x="4251960" y="2011680"/>
            <a:ext cx="3246120" cy="365760"/>
          </a:xfrm>
          <a:prstGeom prst="rect">
            <a:avLst/>
          </a:prstGeom>
          <a:noFill/>
        </p:spPr>
        <p:txBody>
          <a:bodyPr wrap="square">
            <a:spAutoFit/>
          </a:bodyPr>
          <a:lstStyle/>
          <a:p>
            <a:pPr algn="l"/>
            <a:r>
              <a:rPr sz="1100" b="0">
                <a:solidFill>
                  <a:srgbClr val="000000"/>
                </a:solidFill>
                <a:latin typeface="Arial"/>
              </a:rPr>
              <a:t>• Explain the recommendation</a:t>
            </a:r>
          </a:p>
        </p:txBody>
      </p:sp>
      <p:sp>
        <p:nvSpPr>
          <p:cNvPr id="15" name="TextBox 14"/>
          <p:cNvSpPr txBox="1"/>
          <p:nvPr/>
        </p:nvSpPr>
        <p:spPr>
          <a:xfrm>
            <a:off x="4251960" y="2487168"/>
            <a:ext cx="3246120" cy="365760"/>
          </a:xfrm>
          <a:prstGeom prst="rect">
            <a:avLst/>
          </a:prstGeom>
          <a:noFill/>
        </p:spPr>
        <p:txBody>
          <a:bodyPr wrap="square">
            <a:spAutoFit/>
          </a:bodyPr>
          <a:lstStyle/>
          <a:p>
            <a:pPr algn="l"/>
            <a:r>
              <a:rPr sz="1100" b="0">
                <a:solidFill>
                  <a:srgbClr val="000000"/>
                </a:solidFill>
                <a:latin typeface="Arial"/>
              </a:rPr>
              <a:t>• Area demographics</a:t>
            </a:r>
          </a:p>
        </p:txBody>
      </p:sp>
      <p:sp>
        <p:nvSpPr>
          <p:cNvPr id="16" name="TextBox 15"/>
          <p:cNvSpPr txBox="1"/>
          <p:nvPr/>
        </p:nvSpPr>
        <p:spPr>
          <a:xfrm>
            <a:off x="4251960" y="2962656"/>
            <a:ext cx="3246120" cy="365760"/>
          </a:xfrm>
          <a:prstGeom prst="rect">
            <a:avLst/>
          </a:prstGeom>
          <a:noFill/>
        </p:spPr>
        <p:txBody>
          <a:bodyPr wrap="square">
            <a:spAutoFit/>
          </a:bodyPr>
          <a:lstStyle/>
          <a:p>
            <a:pPr algn="l"/>
            <a:r>
              <a:rPr sz="1100" b="0">
                <a:solidFill>
                  <a:srgbClr val="000000"/>
                </a:solidFill>
                <a:latin typeface="Arial"/>
              </a:rPr>
              <a:t>• International community</a:t>
            </a:r>
          </a:p>
        </p:txBody>
      </p:sp>
      <p:sp>
        <p:nvSpPr>
          <p:cNvPr id="17" name="TextBox 16"/>
          <p:cNvSpPr txBox="1"/>
          <p:nvPr/>
        </p:nvSpPr>
        <p:spPr>
          <a:xfrm>
            <a:off x="4251960" y="3438144"/>
            <a:ext cx="3246120" cy="365760"/>
          </a:xfrm>
          <a:prstGeom prst="rect">
            <a:avLst/>
          </a:prstGeom>
          <a:noFill/>
        </p:spPr>
        <p:txBody>
          <a:bodyPr wrap="square">
            <a:spAutoFit/>
          </a:bodyPr>
          <a:lstStyle/>
          <a:p>
            <a:pPr algn="l"/>
            <a:r>
              <a:rPr sz="1100" b="0">
                <a:solidFill>
                  <a:srgbClr val="000000"/>
                </a:solidFill>
                <a:latin typeface="Arial"/>
              </a:rPr>
              <a:t>• Student feedback</a:t>
            </a:r>
          </a:p>
        </p:txBody>
      </p:sp>
      <p:sp>
        <p:nvSpPr>
          <p:cNvPr id="18" name="TextBox 17"/>
          <p:cNvSpPr txBox="1"/>
          <p:nvPr/>
        </p:nvSpPr>
        <p:spPr>
          <a:xfrm>
            <a:off x="7772400" y="1508760"/>
            <a:ext cx="3154680" cy="320040"/>
          </a:xfrm>
          <a:prstGeom prst="rect">
            <a:avLst/>
          </a:prstGeom>
          <a:noFill/>
        </p:spPr>
        <p:txBody>
          <a:bodyPr wrap="square">
            <a:spAutoFit/>
          </a:bodyPr>
          <a:lstStyle/>
          <a:p>
            <a:pPr algn="l"/>
            <a:r>
              <a:rPr sz="1500" b="1">
                <a:solidFill>
                  <a:srgbClr val="000000"/>
                </a:solidFill>
                <a:latin typeface="Arial"/>
              </a:rPr>
              <a:t>C — Additional requirements</a:t>
            </a:r>
          </a:p>
        </p:txBody>
      </p:sp>
      <p:sp>
        <p:nvSpPr>
          <p:cNvPr id="19" name="TextBox 18"/>
          <p:cNvSpPr txBox="1"/>
          <p:nvPr/>
        </p:nvSpPr>
        <p:spPr>
          <a:xfrm>
            <a:off x="7772400" y="2011680"/>
            <a:ext cx="3246120" cy="365760"/>
          </a:xfrm>
          <a:prstGeom prst="rect">
            <a:avLst/>
          </a:prstGeom>
          <a:noFill/>
        </p:spPr>
        <p:txBody>
          <a:bodyPr wrap="square">
            <a:spAutoFit/>
          </a:bodyPr>
          <a:lstStyle/>
          <a:p>
            <a:pPr algn="l"/>
            <a:r>
              <a:rPr sz="1100" b="0">
                <a:solidFill>
                  <a:srgbClr val="000000"/>
                </a:solidFill>
                <a:latin typeface="Arial"/>
              </a:rPr>
              <a:t>• Map view for district information</a:t>
            </a:r>
          </a:p>
        </p:txBody>
      </p:sp>
      <p:sp>
        <p:nvSpPr>
          <p:cNvPr id="20" name="TextBox 19"/>
          <p:cNvSpPr txBox="1"/>
          <p:nvPr/>
        </p:nvSpPr>
        <p:spPr>
          <a:xfrm>
            <a:off x="7772400" y="2487168"/>
            <a:ext cx="3246120" cy="365760"/>
          </a:xfrm>
          <a:prstGeom prst="rect">
            <a:avLst/>
          </a:prstGeom>
          <a:noFill/>
        </p:spPr>
        <p:txBody>
          <a:bodyPr wrap="square">
            <a:spAutoFit/>
          </a:bodyPr>
          <a:lstStyle/>
          <a:p>
            <a:pPr algn="l"/>
            <a:r>
              <a:rPr sz="1100" b="0">
                <a:solidFill>
                  <a:srgbClr val="000000"/>
                </a:solidFill>
                <a:latin typeface="Arial"/>
              </a:rPr>
              <a:t>• Make website more attractive</a:t>
            </a:r>
          </a:p>
        </p:txBody>
      </p:sp>
      <p:sp>
        <p:nvSpPr>
          <p:cNvPr id="21" name="TextBox 20"/>
          <p:cNvSpPr txBox="1"/>
          <p:nvPr/>
        </p:nvSpPr>
        <p:spPr>
          <a:xfrm>
            <a:off x="731520" y="5897880"/>
            <a:ext cx="6400800" cy="228600"/>
          </a:xfrm>
          <a:prstGeom prst="rect">
            <a:avLst/>
          </a:prstGeom>
          <a:noFill/>
        </p:spPr>
        <p:txBody>
          <a:bodyPr wrap="square">
            <a:spAutoFit/>
          </a:bodyPr>
          <a:lstStyle/>
          <a:p>
            <a:pPr algn="l"/>
            <a:r>
              <a:rPr sz="900" b="0" dirty="0">
                <a:solidFill>
                  <a:srgbClr val="5A5A5A"/>
                </a:solidFill>
                <a:latin typeface="Arial"/>
              </a:rPr>
              <a:t>A = essential    B = supporting    C = additional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4238" y="448056"/>
            <a:ext cx="10058400" cy="411480"/>
          </a:xfrm>
          <a:prstGeom prst="rect">
            <a:avLst/>
          </a:prstGeom>
          <a:noFill/>
        </p:spPr>
        <p:txBody>
          <a:bodyPr wrap="square">
            <a:spAutoFit/>
          </a:bodyPr>
          <a:lstStyle/>
          <a:p>
            <a:pPr algn="l"/>
            <a:r>
              <a:rPr sz="2600" b="1" dirty="0">
                <a:solidFill>
                  <a:srgbClr val="000000"/>
                </a:solidFill>
                <a:latin typeface="Arial"/>
              </a:rPr>
              <a:t>Data Collection &amp; Next Steps</a:t>
            </a:r>
          </a:p>
        </p:txBody>
      </p:sp>
      <p:sp>
        <p:nvSpPr>
          <p:cNvPr id="5" name="TextBox 4"/>
          <p:cNvSpPr txBox="1"/>
          <p:nvPr/>
        </p:nvSpPr>
        <p:spPr>
          <a:xfrm>
            <a:off x="731520" y="1209393"/>
            <a:ext cx="1828800" cy="274320"/>
          </a:xfrm>
          <a:prstGeom prst="rect">
            <a:avLst/>
          </a:prstGeom>
          <a:noFill/>
        </p:spPr>
        <p:txBody>
          <a:bodyPr wrap="square">
            <a:spAutoFit/>
          </a:bodyPr>
          <a:lstStyle/>
          <a:p>
            <a:pPr algn="l"/>
            <a:r>
              <a:rPr sz="1500" b="1" dirty="0">
                <a:solidFill>
                  <a:srgbClr val="000000"/>
                </a:solidFill>
                <a:latin typeface="Arial"/>
              </a:rPr>
              <a:t>THIS WEEK</a:t>
            </a:r>
          </a:p>
        </p:txBody>
      </p:sp>
      <p:sp>
        <p:nvSpPr>
          <p:cNvPr id="6" name="TextBox 5"/>
          <p:cNvSpPr txBox="1"/>
          <p:nvPr/>
        </p:nvSpPr>
        <p:spPr>
          <a:xfrm>
            <a:off x="731520" y="1490870"/>
            <a:ext cx="4114800" cy="320040"/>
          </a:xfrm>
          <a:prstGeom prst="rect">
            <a:avLst/>
          </a:prstGeom>
          <a:noFill/>
        </p:spPr>
        <p:txBody>
          <a:bodyPr wrap="square">
            <a:spAutoFit/>
          </a:bodyPr>
          <a:lstStyle/>
          <a:p>
            <a:pPr algn="l"/>
            <a:r>
              <a:rPr sz="1800" b="1" dirty="0">
                <a:solidFill>
                  <a:srgbClr val="000000"/>
                </a:solidFill>
                <a:latin typeface="Arial"/>
              </a:rPr>
              <a:t>D6 — Amenities dataset</a:t>
            </a:r>
          </a:p>
        </p:txBody>
      </p:sp>
      <p:pic>
        <p:nvPicPr>
          <p:cNvPr id="7" name="Picture 6" descr="image(20261008-210333).png"/>
          <p:cNvPicPr>
            <a:picLocks noChangeAspect="1"/>
          </p:cNvPicPr>
          <p:nvPr/>
        </p:nvPicPr>
        <p:blipFill>
          <a:blip r:embed="rId2"/>
          <a:stretch>
            <a:fillRect/>
          </a:stretch>
        </p:blipFill>
        <p:spPr>
          <a:xfrm>
            <a:off x="731520" y="1996845"/>
            <a:ext cx="5166360" cy="512857"/>
          </a:xfrm>
          <a:prstGeom prst="rect">
            <a:avLst/>
          </a:prstGeom>
        </p:spPr>
      </p:pic>
      <p:sp>
        <p:nvSpPr>
          <p:cNvPr id="10" name="TextBox 9"/>
          <p:cNvSpPr txBox="1"/>
          <p:nvPr/>
        </p:nvSpPr>
        <p:spPr>
          <a:xfrm>
            <a:off x="1862593" y="1229272"/>
            <a:ext cx="4114800" cy="261610"/>
          </a:xfrm>
          <a:prstGeom prst="rect">
            <a:avLst/>
          </a:prstGeom>
          <a:noFill/>
        </p:spPr>
        <p:txBody>
          <a:bodyPr wrap="square">
            <a:spAutoFit/>
          </a:bodyPr>
          <a:lstStyle/>
          <a:p>
            <a:pPr algn="l"/>
            <a:r>
              <a:rPr lang="en-IN" sz="1100" b="0" dirty="0">
                <a:solidFill>
                  <a:srgbClr val="5A5A5A"/>
                </a:solidFill>
                <a:latin typeface="Arial"/>
              </a:rPr>
              <a:t>- </a:t>
            </a:r>
            <a:r>
              <a:rPr sz="1100" b="0" dirty="0">
                <a:solidFill>
                  <a:srgbClr val="5A5A5A"/>
                </a:solidFill>
                <a:latin typeface="Arial"/>
              </a:rPr>
              <a:t>Data collected for D6–D10</a:t>
            </a:r>
          </a:p>
        </p:txBody>
      </p:sp>
      <p:sp>
        <p:nvSpPr>
          <p:cNvPr id="11" name="TextBox 10"/>
          <p:cNvSpPr txBox="1"/>
          <p:nvPr/>
        </p:nvSpPr>
        <p:spPr>
          <a:xfrm>
            <a:off x="6400800" y="1481328"/>
            <a:ext cx="1828800" cy="274320"/>
          </a:xfrm>
          <a:prstGeom prst="rect">
            <a:avLst/>
          </a:prstGeom>
          <a:noFill/>
        </p:spPr>
        <p:txBody>
          <a:bodyPr wrap="square">
            <a:spAutoFit/>
          </a:bodyPr>
          <a:lstStyle/>
          <a:p>
            <a:pPr algn="l"/>
            <a:r>
              <a:rPr sz="1500" b="1">
                <a:solidFill>
                  <a:srgbClr val="000000"/>
                </a:solidFill>
                <a:latin typeface="Arial"/>
              </a:rPr>
              <a:t>NEXT WEEK</a:t>
            </a:r>
          </a:p>
        </p:txBody>
      </p:sp>
      <p:sp>
        <p:nvSpPr>
          <p:cNvPr id="12" name="TextBox 11"/>
          <p:cNvSpPr txBox="1"/>
          <p:nvPr/>
        </p:nvSpPr>
        <p:spPr>
          <a:xfrm>
            <a:off x="6400800" y="1901952"/>
            <a:ext cx="3200400" cy="320040"/>
          </a:xfrm>
          <a:prstGeom prst="rect">
            <a:avLst/>
          </a:prstGeom>
          <a:noFill/>
        </p:spPr>
        <p:txBody>
          <a:bodyPr wrap="square">
            <a:spAutoFit/>
          </a:bodyPr>
          <a:lstStyle/>
          <a:p>
            <a:pPr algn="l"/>
            <a:r>
              <a:rPr sz="1800" b="1">
                <a:solidFill>
                  <a:srgbClr val="000000"/>
                </a:solidFill>
                <a:latin typeface="Arial"/>
              </a:rPr>
              <a:t>D11 → D25</a:t>
            </a:r>
          </a:p>
        </p:txBody>
      </p:sp>
      <p:sp>
        <p:nvSpPr>
          <p:cNvPr id="13" name="TextBox 12"/>
          <p:cNvSpPr txBox="1"/>
          <p:nvPr/>
        </p:nvSpPr>
        <p:spPr>
          <a:xfrm>
            <a:off x="6400800" y="2487168"/>
            <a:ext cx="4114800" cy="292608"/>
          </a:xfrm>
          <a:prstGeom prst="rect">
            <a:avLst/>
          </a:prstGeom>
          <a:noFill/>
        </p:spPr>
        <p:txBody>
          <a:bodyPr wrap="square">
            <a:spAutoFit/>
          </a:bodyPr>
          <a:lstStyle/>
          <a:p>
            <a:pPr algn="l"/>
            <a:r>
              <a:rPr sz="1100" b="0">
                <a:solidFill>
                  <a:srgbClr val="000000"/>
                </a:solidFill>
                <a:latin typeface="Arial"/>
              </a:rPr>
              <a:t>• Collect data</a:t>
            </a:r>
          </a:p>
        </p:txBody>
      </p:sp>
      <p:sp>
        <p:nvSpPr>
          <p:cNvPr id="14" name="TextBox 13"/>
          <p:cNvSpPr txBox="1"/>
          <p:nvPr/>
        </p:nvSpPr>
        <p:spPr>
          <a:xfrm>
            <a:off x="6400800" y="2971800"/>
            <a:ext cx="4572000" cy="292608"/>
          </a:xfrm>
          <a:prstGeom prst="rect">
            <a:avLst/>
          </a:prstGeom>
          <a:noFill/>
        </p:spPr>
        <p:txBody>
          <a:bodyPr wrap="square">
            <a:spAutoFit/>
          </a:bodyPr>
          <a:lstStyle/>
          <a:p>
            <a:pPr algn="l"/>
            <a:r>
              <a:rPr sz="1100" b="0">
                <a:solidFill>
                  <a:srgbClr val="000000"/>
                </a:solidFill>
                <a:latin typeface="Arial"/>
              </a:rPr>
              <a:t>• Connect frontend + backend</a:t>
            </a:r>
          </a:p>
        </p:txBody>
      </p:sp>
      <p:sp>
        <p:nvSpPr>
          <p:cNvPr id="15" name="TextBox 14"/>
          <p:cNvSpPr txBox="1"/>
          <p:nvPr/>
        </p:nvSpPr>
        <p:spPr>
          <a:xfrm>
            <a:off x="6400800" y="3456432"/>
            <a:ext cx="4114800" cy="292608"/>
          </a:xfrm>
          <a:prstGeom prst="rect">
            <a:avLst/>
          </a:prstGeom>
          <a:noFill/>
        </p:spPr>
        <p:txBody>
          <a:bodyPr wrap="square">
            <a:spAutoFit/>
          </a:bodyPr>
          <a:lstStyle/>
          <a:p>
            <a:pPr algn="l"/>
            <a:r>
              <a:rPr sz="1100" b="0">
                <a:solidFill>
                  <a:srgbClr val="000000"/>
                </a:solidFill>
                <a:latin typeface="Arial"/>
              </a:rPr>
              <a:t>• Build mobile UI</a:t>
            </a:r>
          </a:p>
        </p:txBody>
      </p:sp>
      <p:sp>
        <p:nvSpPr>
          <p:cNvPr id="16" name="TextBox 15"/>
          <p:cNvSpPr txBox="1"/>
          <p:nvPr/>
        </p:nvSpPr>
        <p:spPr>
          <a:xfrm>
            <a:off x="6400800" y="4251960"/>
            <a:ext cx="4846320" cy="320040"/>
          </a:xfrm>
          <a:prstGeom prst="rect">
            <a:avLst/>
          </a:prstGeom>
          <a:noFill/>
        </p:spPr>
        <p:txBody>
          <a:bodyPr wrap="square">
            <a:spAutoFit/>
          </a:bodyPr>
          <a:lstStyle/>
          <a:p>
            <a:pPr algn="l"/>
            <a:r>
              <a:rPr sz="1300" b="1" dirty="0">
                <a:solidFill>
                  <a:srgbClr val="000000"/>
                </a:solidFill>
                <a:latin typeface="Arial"/>
              </a:rPr>
              <a:t>Collect  →  Connect  →  Build</a:t>
            </a:r>
          </a:p>
        </p:txBody>
      </p:sp>
      <p:sp>
        <p:nvSpPr>
          <p:cNvPr id="17" name="TextBox 16"/>
          <p:cNvSpPr txBox="1"/>
          <p:nvPr/>
        </p:nvSpPr>
        <p:spPr>
          <a:xfrm>
            <a:off x="6400800" y="4754880"/>
            <a:ext cx="4663440" cy="274320"/>
          </a:xfrm>
          <a:prstGeom prst="rect">
            <a:avLst/>
          </a:prstGeom>
          <a:noFill/>
        </p:spPr>
        <p:txBody>
          <a:bodyPr wrap="square">
            <a:spAutoFit/>
          </a:bodyPr>
          <a:lstStyle/>
          <a:p>
            <a:pPr algn="l"/>
            <a:r>
              <a:rPr sz="1100" b="0">
                <a:solidFill>
                  <a:srgbClr val="5A5A5A"/>
                </a:solidFill>
                <a:latin typeface="Arial"/>
              </a:rPr>
              <a:t>Next step: integrate the data with the UI.</a:t>
            </a:r>
          </a:p>
        </p:txBody>
      </p:sp>
      <p:pic>
        <p:nvPicPr>
          <p:cNvPr id="20" name="Picture 19">
            <a:extLst>
              <a:ext uri="{FF2B5EF4-FFF2-40B4-BE49-F238E27FC236}">
                <a16:creationId xmlns:a16="http://schemas.microsoft.com/office/drawing/2014/main" id="{434EDA51-FE4E-4679-D7C2-18E785F32572}"/>
              </a:ext>
            </a:extLst>
          </p:cNvPr>
          <p:cNvPicPr>
            <a:picLocks noChangeAspect="1"/>
          </p:cNvPicPr>
          <p:nvPr/>
        </p:nvPicPr>
        <p:blipFill>
          <a:blip r:embed="rId3"/>
          <a:stretch>
            <a:fillRect/>
          </a:stretch>
        </p:blipFill>
        <p:spPr>
          <a:xfrm>
            <a:off x="944880" y="2695637"/>
            <a:ext cx="3795022" cy="34549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Editorial</Template>
  <TotalTime>156</TotalTime>
  <Words>1317</Words>
  <Application>Microsoft Office PowerPoint</Application>
  <PresentationFormat>Widescreen</PresentationFormat>
  <Paragraphs>141</Paragraphs>
  <Slides>16</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Calibri</vt:lpstr>
      <vt:lpstr>Times New Roman</vt:lpstr>
      <vt:lpstr>Office Theme</vt:lpstr>
      <vt:lpstr>1_Office Theme</vt:lpstr>
      <vt:lpstr>Find Your Dublin</vt:lpstr>
      <vt:lpstr>User Persona – International Student in Dublin</vt:lpstr>
      <vt:lpstr> What Did Students Tell Us? Key patterns identified from 59 survey responses </vt:lpstr>
      <vt:lpstr>How the Persona Informs Our System </vt:lpstr>
      <vt:lpstr>Data Collected </vt:lpstr>
      <vt:lpstr>RTB records compared to asking rents </vt:lpstr>
      <vt:lpstr>Changes to code </vt:lpstr>
      <vt:lpstr>Commute distance calculation </vt:lpstr>
      <vt:lpstr>Open Trip Planner (OTP) routing process</vt:lpstr>
      <vt:lpstr>Commute Output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Catherine Sherina</dc:creator>
  <cp:lastModifiedBy>Shreyash Salunkhe</cp:lastModifiedBy>
  <cp:revision>5</cp:revision>
  <dcterms:created xsi:type="dcterms:W3CDTF">2026-10-08T18:13:03Z</dcterms:created>
  <dcterms:modified xsi:type="dcterms:W3CDTF">2026-10-09T02:26:34Z</dcterms:modified>
</cp:coreProperties>
</file>