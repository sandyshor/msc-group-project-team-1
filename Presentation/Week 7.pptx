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7" r:id="rId2"/>
    <p:sldId id="257" r:id="rId3"/>
    <p:sldId id="264" r:id="rId4"/>
    <p:sldId id="265" r:id="rId5"/>
    <p:sldId id="259" r:id="rId6"/>
    <p:sldId id="261" r:id="rId7"/>
    <p:sldId id="256" r:id="rId8"/>
    <p:sldId id="258" r:id="rId9"/>
    <p:sldId id="266" r:id="rId10"/>
    <p:sldId id="267" r:id="rId11"/>
    <p:sldId id="260"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2" d="100"/>
          <a:sy n="92" d="100"/>
        </p:scale>
        <p:origin x="245"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62626"/>
                </a:solidFill>
                <a:latin typeface="+mn-lt"/>
              </a:defRPr>
            </a:pPr>
            <a:r>
              <a:rPr lang="en-GB" sz="1200" b="0" i="0" u="none" strike="noStrike" dirty="0">
                <a:solidFill>
                  <a:srgbClr val="262626"/>
                </a:solidFill>
                <a:latin typeface="+mn-lt"/>
              </a:rPr>
              <a:t>Median monthly rent for a room </a:t>
            </a:r>
          </a:p>
        </c:rich>
      </c:tx>
      <c:overlay val="0"/>
    </c:title>
    <c:autoTitleDeleted val="0"/>
    <c:plotArea>
      <c:layout/>
      <c:barChart>
        <c:barDir val="col"/>
        <c:grouping val="clustered"/>
        <c:varyColors val="0"/>
        <c:ser>
          <c:idx val="0"/>
          <c:order val="0"/>
          <c:tx>
            <c:strRef>
              <c:f>Sheet1!$B$1</c:f>
              <c:strCache>
                <c:ptCount val="1"/>
                <c:pt idx="0">
                  <c:v>Median room rent</c:v>
                </c:pt>
              </c:strCache>
            </c:strRef>
          </c:tx>
          <c:spPr>
            <a:solidFill>
              <a:srgbClr val="2F5D50"/>
            </a:solidFill>
            <a:effectLst/>
          </c:spPr>
          <c:invertIfNegative val="0"/>
          <c:dLbls>
            <c:numFmt formatCode="\€#,##0" sourceLinked="0"/>
            <c:spPr>
              <a:noFill/>
              <a:ln>
                <a:noFill/>
              </a:ln>
              <a:effectLst/>
            </c:spPr>
            <c:txPr>
              <a:bodyPr/>
              <a:lstStyle/>
              <a:p>
                <a:pPr>
                  <a:defRPr sz="1000" b="0" i="0" u="none" strike="noStrike">
                    <a:solidFill>
                      <a:srgbClr val="26262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D15</c:v>
                </c:pt>
                <c:pt idx="1">
                  <c:v>D16</c:v>
                </c:pt>
                <c:pt idx="2">
                  <c:v>D17</c:v>
                </c:pt>
                <c:pt idx="3">
                  <c:v>D18</c:v>
                </c:pt>
                <c:pt idx="4">
                  <c:v>D20</c:v>
                </c:pt>
                <c:pt idx="5">
                  <c:v>D22</c:v>
                </c:pt>
                <c:pt idx="6">
                  <c:v>D24</c:v>
                </c:pt>
              </c:strCache>
            </c:strRef>
          </c:cat>
          <c:val>
            <c:numRef>
              <c:f>Sheet1!$B$2:$B$8</c:f>
              <c:numCache>
                <c:formatCode>General</c:formatCode>
                <c:ptCount val="7"/>
                <c:pt idx="0">
                  <c:v>950</c:v>
                </c:pt>
                <c:pt idx="1">
                  <c:v>887</c:v>
                </c:pt>
                <c:pt idx="2">
                  <c:v>826</c:v>
                </c:pt>
                <c:pt idx="3">
                  <c:v>1150</c:v>
                </c:pt>
                <c:pt idx="4">
                  <c:v>867</c:v>
                </c:pt>
                <c:pt idx="5">
                  <c:v>811</c:v>
                </c:pt>
                <c:pt idx="6">
                  <c:v>825</c:v>
                </c:pt>
              </c:numCache>
            </c:numRef>
          </c:val>
          <c:extLst>
            <c:ext xmlns:c16="http://schemas.microsoft.com/office/drawing/2014/chart" uri="{C3380CC4-5D6E-409C-BE32-E72D297353CC}">
              <c16:uniqueId val="{00000000-A153-4AFA-97CF-6B591B6F2C5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EA2B37-AB0E-4DC5-B14E-C1C60993F6D7}" type="doc">
      <dgm:prSet loTypeId="urn:microsoft.com/office/officeart/2024/layout/VerticalActionList" loCatId="list" qsTypeId="urn:microsoft.com/office/officeart/2005/8/quickstyle/simple1" qsCatId="simple" csTypeId="urn:microsoft.com/office/officeart/2005/8/colors/accent1_2" csCatId="accent1" phldr="1"/>
      <dgm:spPr/>
      <dgm:t>
        <a:bodyPr/>
        <a:lstStyle/>
        <a:p>
          <a:endParaRPr lang="en-IN"/>
        </a:p>
      </dgm:t>
    </dgm:pt>
    <dgm:pt modelId="{47B61FF2-03A4-4D68-89B9-EF1827852359}">
      <dgm:prSet phldrT="[Text]" phldr="0"/>
      <dgm:spPr/>
      <dgm:t>
        <a:bodyPr/>
        <a:lstStyle/>
        <a:p>
          <a:r>
            <a:rPr lang="en-IN" dirty="0"/>
            <a:t>         1</a:t>
          </a:r>
        </a:p>
      </dgm:t>
    </dgm:pt>
    <dgm:pt modelId="{FAB64E47-8035-4FFD-8FE0-B23BF17BBA53}" type="parTrans" cxnId="{16FD668D-E93D-479F-A85A-40C009EADF52}">
      <dgm:prSet/>
      <dgm:spPr/>
      <dgm:t>
        <a:bodyPr/>
        <a:lstStyle/>
        <a:p>
          <a:endParaRPr lang="en-IN"/>
        </a:p>
      </dgm:t>
    </dgm:pt>
    <dgm:pt modelId="{3AECF27B-A4E0-45B3-A8E0-802D93942A23}" type="sibTrans" cxnId="{16FD668D-E93D-479F-A85A-40C009EADF52}">
      <dgm:prSet/>
      <dgm:spPr/>
      <dgm:t>
        <a:bodyPr/>
        <a:lstStyle/>
        <a:p>
          <a:endParaRPr lang="en-IN"/>
        </a:p>
      </dgm:t>
    </dgm:pt>
    <dgm:pt modelId="{0F0D1A99-7775-46AB-854A-C2C0CAE7FBEB}">
      <dgm:prSet phldrT="[Text]"/>
      <dgm:spPr/>
      <dgm:t>
        <a:bodyPr/>
        <a:lstStyle/>
        <a:p>
          <a:r>
            <a:rPr lang="en-IN" dirty="0"/>
            <a:t>Added dynamic map visualisation for universities and famous attractions on home page</a:t>
          </a:r>
        </a:p>
      </dgm:t>
    </dgm:pt>
    <dgm:pt modelId="{A520A089-9FA0-4572-9C24-4B23FE9B6A8D}" type="parTrans" cxnId="{2016475A-8D8F-4954-9F01-E15E773A996C}">
      <dgm:prSet/>
      <dgm:spPr/>
      <dgm:t>
        <a:bodyPr/>
        <a:lstStyle/>
        <a:p>
          <a:endParaRPr lang="en-IN"/>
        </a:p>
      </dgm:t>
    </dgm:pt>
    <dgm:pt modelId="{D0DB1DE3-5DFF-4EB2-B43B-4D482701F829}" type="sibTrans" cxnId="{2016475A-8D8F-4954-9F01-E15E773A996C}">
      <dgm:prSet/>
      <dgm:spPr/>
      <dgm:t>
        <a:bodyPr/>
        <a:lstStyle/>
        <a:p>
          <a:endParaRPr lang="en-IN"/>
        </a:p>
      </dgm:t>
    </dgm:pt>
    <dgm:pt modelId="{B0BF18B5-CADC-4547-829D-1302347FAB9E}">
      <dgm:prSet phldrT="[Text]" phldr="0"/>
      <dgm:spPr/>
      <dgm:t>
        <a:bodyPr/>
        <a:lstStyle/>
        <a:p>
          <a:r>
            <a:rPr lang="en-IN" dirty="0"/>
            <a:t>         2</a:t>
          </a:r>
        </a:p>
      </dgm:t>
    </dgm:pt>
    <dgm:pt modelId="{FDC590E5-2BE4-41CA-82CD-FEAA51A9B04D}" type="parTrans" cxnId="{438D014D-D4B6-4AC7-AC3C-5F06AF916183}">
      <dgm:prSet/>
      <dgm:spPr/>
      <dgm:t>
        <a:bodyPr/>
        <a:lstStyle/>
        <a:p>
          <a:endParaRPr lang="en-IN"/>
        </a:p>
      </dgm:t>
    </dgm:pt>
    <dgm:pt modelId="{ACBDA709-6BD5-4A85-9737-2E735355D2E3}" type="sibTrans" cxnId="{438D014D-D4B6-4AC7-AC3C-5F06AF916183}">
      <dgm:prSet/>
      <dgm:spPr/>
      <dgm:t>
        <a:bodyPr/>
        <a:lstStyle/>
        <a:p>
          <a:endParaRPr lang="en-IN"/>
        </a:p>
      </dgm:t>
    </dgm:pt>
    <dgm:pt modelId="{086C6350-C69B-4254-BF11-B1DF4C648113}">
      <dgm:prSet phldrT="[Text]"/>
      <dgm:spPr/>
      <dgm:t>
        <a:bodyPr/>
        <a:lstStyle/>
        <a:p>
          <a:r>
            <a:rPr lang="en-IN" dirty="0"/>
            <a:t>Made detailed how it works page</a:t>
          </a:r>
        </a:p>
      </dgm:t>
    </dgm:pt>
    <dgm:pt modelId="{2F3CAA98-72BE-4957-8620-215A59482CFB}" type="parTrans" cxnId="{D0A3B60C-1646-4239-B6C1-EF94119146D0}">
      <dgm:prSet/>
      <dgm:spPr/>
      <dgm:t>
        <a:bodyPr/>
        <a:lstStyle/>
        <a:p>
          <a:endParaRPr lang="en-IN"/>
        </a:p>
      </dgm:t>
    </dgm:pt>
    <dgm:pt modelId="{2C757D3B-B340-417D-8B5B-A5976D996A62}" type="sibTrans" cxnId="{D0A3B60C-1646-4239-B6C1-EF94119146D0}">
      <dgm:prSet/>
      <dgm:spPr/>
      <dgm:t>
        <a:bodyPr/>
        <a:lstStyle/>
        <a:p>
          <a:endParaRPr lang="en-IN"/>
        </a:p>
      </dgm:t>
    </dgm:pt>
    <dgm:pt modelId="{B4A9491B-9B88-49B8-8A86-E4A81EDCCEB8}">
      <dgm:prSet phldrT="[Text]" phldr="0"/>
      <dgm:spPr/>
      <dgm:t>
        <a:bodyPr/>
        <a:lstStyle/>
        <a:p>
          <a:r>
            <a:rPr lang="en-IN" dirty="0"/>
            <a:t>         3</a:t>
          </a:r>
        </a:p>
      </dgm:t>
    </dgm:pt>
    <dgm:pt modelId="{C34974C5-1E59-4A14-8CF6-7FCD0C128770}" type="parTrans" cxnId="{E6EDF053-B8E3-469C-ABEF-F71B233EA92F}">
      <dgm:prSet/>
      <dgm:spPr/>
      <dgm:t>
        <a:bodyPr/>
        <a:lstStyle/>
        <a:p>
          <a:endParaRPr lang="en-IN"/>
        </a:p>
      </dgm:t>
    </dgm:pt>
    <dgm:pt modelId="{A80F9945-B37A-485E-B917-22829D0FEC64}" type="sibTrans" cxnId="{E6EDF053-B8E3-469C-ABEF-F71B233EA92F}">
      <dgm:prSet/>
      <dgm:spPr/>
      <dgm:t>
        <a:bodyPr/>
        <a:lstStyle/>
        <a:p>
          <a:endParaRPr lang="en-IN"/>
        </a:p>
      </dgm:t>
    </dgm:pt>
    <dgm:pt modelId="{B82A19A0-3A29-4788-8311-3C4023CEA61A}">
      <dgm:prSet phldrT="[Text]"/>
      <dgm:spPr/>
      <dgm:t>
        <a:bodyPr/>
        <a:lstStyle/>
        <a:p>
          <a:r>
            <a:rPr lang="en-IN" dirty="0"/>
            <a:t>Changed questionnaire layout and updated background</a:t>
          </a:r>
        </a:p>
      </dgm:t>
    </dgm:pt>
    <dgm:pt modelId="{2A898A7B-C31E-45A2-89FB-74FE6BC46CE4}" type="parTrans" cxnId="{E28E4D2A-42E9-46F0-9F72-45AB3CF1F116}">
      <dgm:prSet/>
      <dgm:spPr/>
      <dgm:t>
        <a:bodyPr/>
        <a:lstStyle/>
        <a:p>
          <a:endParaRPr lang="en-IN"/>
        </a:p>
      </dgm:t>
    </dgm:pt>
    <dgm:pt modelId="{E26FEF56-B647-4E69-896A-2786A92D0079}" type="sibTrans" cxnId="{E28E4D2A-42E9-46F0-9F72-45AB3CF1F116}">
      <dgm:prSet/>
      <dgm:spPr/>
      <dgm:t>
        <a:bodyPr/>
        <a:lstStyle/>
        <a:p>
          <a:endParaRPr lang="en-IN"/>
        </a:p>
      </dgm:t>
    </dgm:pt>
    <dgm:pt modelId="{609334B0-9096-4098-A706-74E5098B319B}">
      <dgm:prSet phldrT="[Text]" phldr="0"/>
      <dgm:spPr/>
      <dgm:t>
        <a:bodyPr/>
        <a:lstStyle/>
        <a:p>
          <a:r>
            <a:rPr lang="en-IN" dirty="0"/>
            <a:t>         4</a:t>
          </a:r>
        </a:p>
      </dgm:t>
    </dgm:pt>
    <dgm:pt modelId="{D0C0CF36-9BB3-4F53-B44D-8E1AC188AF01}" type="parTrans" cxnId="{FA83D7CD-3277-409B-854D-F7A4D2F96348}">
      <dgm:prSet/>
      <dgm:spPr/>
      <dgm:t>
        <a:bodyPr/>
        <a:lstStyle/>
        <a:p>
          <a:endParaRPr lang="en-IN"/>
        </a:p>
      </dgm:t>
    </dgm:pt>
    <dgm:pt modelId="{E5C9F627-5013-4401-B94B-6B91114658FD}" type="sibTrans" cxnId="{FA83D7CD-3277-409B-854D-F7A4D2F96348}">
      <dgm:prSet/>
      <dgm:spPr/>
      <dgm:t>
        <a:bodyPr/>
        <a:lstStyle/>
        <a:p>
          <a:endParaRPr lang="en-IN"/>
        </a:p>
      </dgm:t>
    </dgm:pt>
    <dgm:pt modelId="{C12F6DC1-84A1-4686-B8A4-A4CF2B9706B5}">
      <dgm:prSet phldrT="[Text]" custT="1"/>
      <dgm:spPr/>
      <dgm:t>
        <a:bodyPr/>
        <a:lstStyle/>
        <a:p>
          <a:r>
            <a:rPr lang="en-IN" sz="2200" dirty="0"/>
            <a:t>Added amenities data to journey planner map with subsections like </a:t>
          </a:r>
          <a:r>
            <a:rPr lang="en-IN" sz="2200" dirty="0" err="1"/>
            <a:t>lidl</a:t>
          </a:r>
          <a:r>
            <a:rPr lang="en-IN" sz="2200" dirty="0"/>
            <a:t>, </a:t>
          </a:r>
          <a:r>
            <a:rPr lang="en-IN" sz="2200" dirty="0" err="1"/>
            <a:t>tesco</a:t>
          </a:r>
          <a:r>
            <a:rPr lang="en-IN" sz="2200" dirty="0"/>
            <a:t>, spar, </a:t>
          </a:r>
          <a:r>
            <a:rPr lang="en-IN" sz="2200" dirty="0" err="1"/>
            <a:t>aldi</a:t>
          </a:r>
          <a:r>
            <a:rPr lang="en-IN" sz="2200" dirty="0"/>
            <a:t>, etc</a:t>
          </a:r>
        </a:p>
      </dgm:t>
    </dgm:pt>
    <dgm:pt modelId="{5AE24E2A-F80D-4BAA-AD18-725476F71049}" type="parTrans" cxnId="{14501F69-CC55-4199-8D87-97DEEC960F94}">
      <dgm:prSet/>
      <dgm:spPr/>
      <dgm:t>
        <a:bodyPr/>
        <a:lstStyle/>
        <a:p>
          <a:endParaRPr lang="en-IN"/>
        </a:p>
      </dgm:t>
    </dgm:pt>
    <dgm:pt modelId="{FE6F2EE1-6CE6-4934-8D4E-0F25FBD7E723}" type="sibTrans" cxnId="{14501F69-CC55-4199-8D87-97DEEC960F94}">
      <dgm:prSet/>
      <dgm:spPr/>
      <dgm:t>
        <a:bodyPr/>
        <a:lstStyle/>
        <a:p>
          <a:endParaRPr lang="en-IN"/>
        </a:p>
      </dgm:t>
    </dgm:pt>
    <dgm:pt modelId="{19F0F648-69F9-4BA5-85DB-DB4D55FCC187}" type="pres">
      <dgm:prSet presAssocID="{5AEA2B37-AB0E-4DC5-B14E-C1C60993F6D7}" presName="Name0" presStyleCnt="0">
        <dgm:presLayoutVars>
          <dgm:dir/>
          <dgm:animLvl val="lvl"/>
          <dgm:resizeHandles val="exact"/>
        </dgm:presLayoutVars>
      </dgm:prSet>
      <dgm:spPr/>
    </dgm:pt>
    <dgm:pt modelId="{DFF83906-CD8D-4D91-BB25-3EBE212A0370}" type="pres">
      <dgm:prSet presAssocID="{47B61FF2-03A4-4D68-89B9-EF1827852359}" presName="linNode" presStyleCnt="0"/>
      <dgm:spPr/>
    </dgm:pt>
    <dgm:pt modelId="{37B1AC2F-45FA-43E0-8372-3AD5A70D9805}" type="pres">
      <dgm:prSet presAssocID="{47B61FF2-03A4-4D68-89B9-EF1827852359}" presName="bgOutline" presStyleLbl="fgAcc1" presStyleIdx="0" presStyleCnt="4"/>
      <dgm:spPr/>
    </dgm:pt>
    <dgm:pt modelId="{31DAED7F-2AE3-490F-9D9F-7282BEEFF52B}" type="pres">
      <dgm:prSet presAssocID="{47B61FF2-03A4-4D68-89B9-EF1827852359}" presName="parentText" presStyleLbl="alignNode1" presStyleIdx="0" presStyleCnt="4">
        <dgm:presLayoutVars>
          <dgm:chMax val="1"/>
          <dgm:bulletEnabled/>
        </dgm:presLayoutVars>
      </dgm:prSet>
      <dgm:spPr/>
    </dgm:pt>
    <dgm:pt modelId="{FB977C2A-C15F-4098-9F42-F23219BDAA1B}" type="pres">
      <dgm:prSet presAssocID="{47B61FF2-03A4-4D68-89B9-EF1827852359}" presName="descendantText" presStyleLbl="revTx" presStyleIdx="0" presStyleCnt="0">
        <dgm:presLayoutVars>
          <dgm:bulletEnabled/>
        </dgm:presLayoutVars>
      </dgm:prSet>
      <dgm:spPr/>
    </dgm:pt>
    <dgm:pt modelId="{043A0507-7AFC-4181-AC89-CEB8555AC079}" type="pres">
      <dgm:prSet presAssocID="{3AECF27B-A4E0-45B3-A8E0-802D93942A23}" presName="sp" presStyleCnt="0"/>
      <dgm:spPr/>
    </dgm:pt>
    <dgm:pt modelId="{0AA08F22-0775-4016-A6EF-5353397DFC93}" type="pres">
      <dgm:prSet presAssocID="{B0BF18B5-CADC-4547-829D-1302347FAB9E}" presName="linNode" presStyleCnt="0"/>
      <dgm:spPr/>
    </dgm:pt>
    <dgm:pt modelId="{77F3C80A-AC85-4733-A21D-AE6D7EE11260}" type="pres">
      <dgm:prSet presAssocID="{B0BF18B5-CADC-4547-829D-1302347FAB9E}" presName="bgOutline" presStyleLbl="fgAcc1" presStyleIdx="1" presStyleCnt="4"/>
      <dgm:spPr/>
    </dgm:pt>
    <dgm:pt modelId="{3EB36ECC-34C3-4A11-9B86-1043960EC89C}" type="pres">
      <dgm:prSet presAssocID="{B0BF18B5-CADC-4547-829D-1302347FAB9E}" presName="parentText" presStyleLbl="alignNode1" presStyleIdx="1" presStyleCnt="4">
        <dgm:presLayoutVars>
          <dgm:chMax val="1"/>
          <dgm:bulletEnabled/>
        </dgm:presLayoutVars>
      </dgm:prSet>
      <dgm:spPr/>
    </dgm:pt>
    <dgm:pt modelId="{B1F31A71-2889-4CB8-93BE-D4CB876156AD}" type="pres">
      <dgm:prSet presAssocID="{B0BF18B5-CADC-4547-829D-1302347FAB9E}" presName="descendantText" presStyleLbl="revTx" presStyleIdx="0" presStyleCnt="0">
        <dgm:presLayoutVars>
          <dgm:bulletEnabled/>
        </dgm:presLayoutVars>
      </dgm:prSet>
      <dgm:spPr/>
    </dgm:pt>
    <dgm:pt modelId="{90F778F7-EB55-42CA-9A69-BFB0A08DF068}" type="pres">
      <dgm:prSet presAssocID="{ACBDA709-6BD5-4A85-9737-2E735355D2E3}" presName="sp" presStyleCnt="0"/>
      <dgm:spPr/>
    </dgm:pt>
    <dgm:pt modelId="{D6AB6C6A-B56B-4A37-86F5-70DD19C4CA92}" type="pres">
      <dgm:prSet presAssocID="{B4A9491B-9B88-49B8-8A86-E4A81EDCCEB8}" presName="linNode" presStyleCnt="0"/>
      <dgm:spPr/>
    </dgm:pt>
    <dgm:pt modelId="{6BDEE187-806F-46B7-ACE1-1EFC318C4BC4}" type="pres">
      <dgm:prSet presAssocID="{B4A9491B-9B88-49B8-8A86-E4A81EDCCEB8}" presName="bgOutline" presStyleLbl="fgAcc1" presStyleIdx="2" presStyleCnt="4"/>
      <dgm:spPr/>
    </dgm:pt>
    <dgm:pt modelId="{2756DE58-EA8B-4DBA-8F54-39CF994136AC}" type="pres">
      <dgm:prSet presAssocID="{B4A9491B-9B88-49B8-8A86-E4A81EDCCEB8}" presName="parentText" presStyleLbl="alignNode1" presStyleIdx="2" presStyleCnt="4">
        <dgm:presLayoutVars>
          <dgm:chMax val="1"/>
          <dgm:bulletEnabled/>
        </dgm:presLayoutVars>
      </dgm:prSet>
      <dgm:spPr/>
    </dgm:pt>
    <dgm:pt modelId="{5BAFF523-EB47-455D-8003-D5DD7C41E77E}" type="pres">
      <dgm:prSet presAssocID="{B4A9491B-9B88-49B8-8A86-E4A81EDCCEB8}" presName="descendantText" presStyleLbl="revTx" presStyleIdx="0" presStyleCnt="0">
        <dgm:presLayoutVars>
          <dgm:bulletEnabled/>
        </dgm:presLayoutVars>
      </dgm:prSet>
      <dgm:spPr/>
    </dgm:pt>
    <dgm:pt modelId="{81F20182-908D-4011-AF5C-CE098FFE5215}" type="pres">
      <dgm:prSet presAssocID="{A80F9945-B37A-485E-B917-22829D0FEC64}" presName="sp" presStyleCnt="0"/>
      <dgm:spPr/>
    </dgm:pt>
    <dgm:pt modelId="{8D8D9A89-6EEC-4D32-82A7-706377A039A5}" type="pres">
      <dgm:prSet presAssocID="{609334B0-9096-4098-A706-74E5098B319B}" presName="linNode" presStyleCnt="0"/>
      <dgm:spPr/>
    </dgm:pt>
    <dgm:pt modelId="{07E3C392-0131-4267-8D91-D042F9FF51A1}" type="pres">
      <dgm:prSet presAssocID="{609334B0-9096-4098-A706-74E5098B319B}" presName="bgOutline" presStyleLbl="fgAcc1" presStyleIdx="3" presStyleCnt="4"/>
      <dgm:spPr/>
    </dgm:pt>
    <dgm:pt modelId="{1BE1D54B-C6B3-4BDD-AC7E-75BFBF7B612A}" type="pres">
      <dgm:prSet presAssocID="{609334B0-9096-4098-A706-74E5098B319B}" presName="parentText" presStyleLbl="alignNode1" presStyleIdx="3" presStyleCnt="4">
        <dgm:presLayoutVars>
          <dgm:chMax val="1"/>
          <dgm:bulletEnabled/>
        </dgm:presLayoutVars>
      </dgm:prSet>
      <dgm:spPr/>
    </dgm:pt>
    <dgm:pt modelId="{E724C580-8062-49AB-8723-6E774EF10362}" type="pres">
      <dgm:prSet presAssocID="{609334B0-9096-4098-A706-74E5098B319B}" presName="descendantText" presStyleLbl="revTx" presStyleIdx="0" presStyleCnt="0">
        <dgm:presLayoutVars>
          <dgm:bulletEnabled/>
        </dgm:presLayoutVars>
      </dgm:prSet>
      <dgm:spPr/>
    </dgm:pt>
  </dgm:ptLst>
  <dgm:cxnLst>
    <dgm:cxn modelId="{41A7F100-AA08-4A78-95C0-46DADEA32165}" type="presOf" srcId="{609334B0-9096-4098-A706-74E5098B319B}" destId="{07E3C392-0131-4267-8D91-D042F9FF51A1}" srcOrd="0" destOrd="0" presId="urn:microsoft.com/office/officeart/2024/layout/VerticalActionList"/>
    <dgm:cxn modelId="{244DC804-2579-4BD4-B6B2-6C99995991C2}" type="presOf" srcId="{609334B0-9096-4098-A706-74E5098B319B}" destId="{1BE1D54B-C6B3-4BDD-AC7E-75BFBF7B612A}" srcOrd="1" destOrd="0" presId="urn:microsoft.com/office/officeart/2024/layout/VerticalActionList"/>
    <dgm:cxn modelId="{B1883B07-0FA1-4A88-BBC4-B22AB6C8A4AA}" type="presOf" srcId="{47B61FF2-03A4-4D68-89B9-EF1827852359}" destId="{37B1AC2F-45FA-43E0-8372-3AD5A70D9805}" srcOrd="0" destOrd="0" presId="urn:microsoft.com/office/officeart/2024/layout/VerticalActionList"/>
    <dgm:cxn modelId="{D0A3B60C-1646-4239-B6C1-EF94119146D0}" srcId="{B0BF18B5-CADC-4547-829D-1302347FAB9E}" destId="{086C6350-C69B-4254-BF11-B1DF4C648113}" srcOrd="0" destOrd="0" parTransId="{2F3CAA98-72BE-4957-8620-215A59482CFB}" sibTransId="{2C757D3B-B340-417D-8B5B-A5976D996A62}"/>
    <dgm:cxn modelId="{D4DCD514-8E3B-4B26-8633-04360A876211}" type="presOf" srcId="{B82A19A0-3A29-4788-8311-3C4023CEA61A}" destId="{5BAFF523-EB47-455D-8003-D5DD7C41E77E}" srcOrd="0" destOrd="0" presId="urn:microsoft.com/office/officeart/2024/layout/VerticalActionList"/>
    <dgm:cxn modelId="{96679D18-0DFE-4B96-9CF1-9B3E44110CA9}" type="presOf" srcId="{B4A9491B-9B88-49B8-8A86-E4A81EDCCEB8}" destId="{2756DE58-EA8B-4DBA-8F54-39CF994136AC}" srcOrd="1" destOrd="0" presId="urn:microsoft.com/office/officeart/2024/layout/VerticalActionList"/>
    <dgm:cxn modelId="{E28E4D2A-42E9-46F0-9F72-45AB3CF1F116}" srcId="{B4A9491B-9B88-49B8-8A86-E4A81EDCCEB8}" destId="{B82A19A0-3A29-4788-8311-3C4023CEA61A}" srcOrd="0" destOrd="0" parTransId="{2A898A7B-C31E-45A2-89FB-74FE6BC46CE4}" sibTransId="{E26FEF56-B647-4E69-896A-2786A92D0079}"/>
    <dgm:cxn modelId="{7A37475F-102D-463E-A4A1-638497CDD350}" type="presOf" srcId="{B0BF18B5-CADC-4547-829D-1302347FAB9E}" destId="{3EB36ECC-34C3-4A11-9B86-1043960EC89C}" srcOrd="1" destOrd="0" presId="urn:microsoft.com/office/officeart/2024/layout/VerticalActionList"/>
    <dgm:cxn modelId="{14501F69-CC55-4199-8D87-97DEEC960F94}" srcId="{609334B0-9096-4098-A706-74E5098B319B}" destId="{C12F6DC1-84A1-4686-B8A4-A4CF2B9706B5}" srcOrd="0" destOrd="0" parTransId="{5AE24E2A-F80D-4BAA-AD18-725476F71049}" sibTransId="{FE6F2EE1-6CE6-4934-8D4E-0F25FBD7E723}"/>
    <dgm:cxn modelId="{438D014D-D4B6-4AC7-AC3C-5F06AF916183}" srcId="{5AEA2B37-AB0E-4DC5-B14E-C1C60993F6D7}" destId="{B0BF18B5-CADC-4547-829D-1302347FAB9E}" srcOrd="1" destOrd="0" parTransId="{FDC590E5-2BE4-41CA-82CD-FEAA51A9B04D}" sibTransId="{ACBDA709-6BD5-4A85-9737-2E735355D2E3}"/>
    <dgm:cxn modelId="{E6EDF053-B8E3-469C-ABEF-F71B233EA92F}" srcId="{5AEA2B37-AB0E-4DC5-B14E-C1C60993F6D7}" destId="{B4A9491B-9B88-49B8-8A86-E4A81EDCCEB8}" srcOrd="2" destOrd="0" parTransId="{C34974C5-1E59-4A14-8CF6-7FCD0C128770}" sibTransId="{A80F9945-B37A-485E-B917-22829D0FEC64}"/>
    <dgm:cxn modelId="{2016475A-8D8F-4954-9F01-E15E773A996C}" srcId="{47B61FF2-03A4-4D68-89B9-EF1827852359}" destId="{0F0D1A99-7775-46AB-854A-C2C0CAE7FBEB}" srcOrd="0" destOrd="0" parTransId="{A520A089-9FA0-4572-9C24-4B23FE9B6A8D}" sibTransId="{D0DB1DE3-5DFF-4EB2-B43B-4D482701F829}"/>
    <dgm:cxn modelId="{F440737B-DE95-409F-8F5A-4D94F310F594}" type="presOf" srcId="{B4A9491B-9B88-49B8-8A86-E4A81EDCCEB8}" destId="{6BDEE187-806F-46B7-ACE1-1EFC318C4BC4}" srcOrd="0" destOrd="0" presId="urn:microsoft.com/office/officeart/2024/layout/VerticalActionList"/>
    <dgm:cxn modelId="{7C8E1787-9E4F-4EE3-9E7C-11EC27214038}" type="presOf" srcId="{086C6350-C69B-4254-BF11-B1DF4C648113}" destId="{B1F31A71-2889-4CB8-93BE-D4CB876156AD}" srcOrd="0" destOrd="0" presId="urn:microsoft.com/office/officeart/2024/layout/VerticalActionList"/>
    <dgm:cxn modelId="{16FD668D-E93D-479F-A85A-40C009EADF52}" srcId="{5AEA2B37-AB0E-4DC5-B14E-C1C60993F6D7}" destId="{47B61FF2-03A4-4D68-89B9-EF1827852359}" srcOrd="0" destOrd="0" parTransId="{FAB64E47-8035-4FFD-8FE0-B23BF17BBA53}" sibTransId="{3AECF27B-A4E0-45B3-A8E0-802D93942A23}"/>
    <dgm:cxn modelId="{CEB2169C-1742-4342-A357-C86461595E77}" type="presOf" srcId="{C12F6DC1-84A1-4686-B8A4-A4CF2B9706B5}" destId="{E724C580-8062-49AB-8723-6E774EF10362}" srcOrd="0" destOrd="0" presId="urn:microsoft.com/office/officeart/2024/layout/VerticalActionList"/>
    <dgm:cxn modelId="{838B51A7-BD85-4387-BF07-CA57C3A8EC13}" type="presOf" srcId="{47B61FF2-03A4-4D68-89B9-EF1827852359}" destId="{31DAED7F-2AE3-490F-9D9F-7282BEEFF52B}" srcOrd="1" destOrd="0" presId="urn:microsoft.com/office/officeart/2024/layout/VerticalActionList"/>
    <dgm:cxn modelId="{3BCDB8AF-C2C6-4654-8C89-CE95A987C1D0}" type="presOf" srcId="{B0BF18B5-CADC-4547-829D-1302347FAB9E}" destId="{77F3C80A-AC85-4733-A21D-AE6D7EE11260}" srcOrd="0" destOrd="0" presId="urn:microsoft.com/office/officeart/2024/layout/VerticalActionList"/>
    <dgm:cxn modelId="{2C6631B1-DB55-4D31-8332-D3BD4A341543}" type="presOf" srcId="{5AEA2B37-AB0E-4DC5-B14E-C1C60993F6D7}" destId="{19F0F648-69F9-4BA5-85DB-DB4D55FCC187}" srcOrd="0" destOrd="0" presId="urn:microsoft.com/office/officeart/2024/layout/VerticalActionList"/>
    <dgm:cxn modelId="{C22BE5CA-B4DD-40D3-88E7-AF0C1DC68C82}" type="presOf" srcId="{0F0D1A99-7775-46AB-854A-C2C0CAE7FBEB}" destId="{FB977C2A-C15F-4098-9F42-F23219BDAA1B}" srcOrd="0" destOrd="0" presId="urn:microsoft.com/office/officeart/2024/layout/VerticalActionList"/>
    <dgm:cxn modelId="{FA83D7CD-3277-409B-854D-F7A4D2F96348}" srcId="{5AEA2B37-AB0E-4DC5-B14E-C1C60993F6D7}" destId="{609334B0-9096-4098-A706-74E5098B319B}" srcOrd="3" destOrd="0" parTransId="{D0C0CF36-9BB3-4F53-B44D-8E1AC188AF01}" sibTransId="{E5C9F627-5013-4401-B94B-6B91114658FD}"/>
    <dgm:cxn modelId="{EC523EEF-465C-41C5-862A-B8EE185AEB23}" type="presParOf" srcId="{19F0F648-69F9-4BA5-85DB-DB4D55FCC187}" destId="{DFF83906-CD8D-4D91-BB25-3EBE212A0370}" srcOrd="0" destOrd="0" presId="urn:microsoft.com/office/officeart/2024/layout/VerticalActionList"/>
    <dgm:cxn modelId="{3B456C5E-4D6A-4537-ADCB-D486678743EE}" type="presParOf" srcId="{DFF83906-CD8D-4D91-BB25-3EBE212A0370}" destId="{37B1AC2F-45FA-43E0-8372-3AD5A70D9805}" srcOrd="0" destOrd="0" presId="urn:microsoft.com/office/officeart/2024/layout/VerticalActionList"/>
    <dgm:cxn modelId="{E3A2D496-4546-4CD1-8E24-F75C9938A5EF}" type="presParOf" srcId="{DFF83906-CD8D-4D91-BB25-3EBE212A0370}" destId="{31DAED7F-2AE3-490F-9D9F-7282BEEFF52B}" srcOrd="1" destOrd="0" presId="urn:microsoft.com/office/officeart/2024/layout/VerticalActionList"/>
    <dgm:cxn modelId="{2CAB036C-E236-4DE0-AE9F-36EB813D0931}" type="presParOf" srcId="{DFF83906-CD8D-4D91-BB25-3EBE212A0370}" destId="{FB977C2A-C15F-4098-9F42-F23219BDAA1B}" srcOrd="2" destOrd="0" presId="urn:microsoft.com/office/officeart/2024/layout/VerticalActionList"/>
    <dgm:cxn modelId="{97A21DFB-5D4F-4117-9EE3-87F6C377E8AD}" type="presParOf" srcId="{19F0F648-69F9-4BA5-85DB-DB4D55FCC187}" destId="{043A0507-7AFC-4181-AC89-CEB8555AC079}" srcOrd="1" destOrd="0" presId="urn:microsoft.com/office/officeart/2024/layout/VerticalActionList"/>
    <dgm:cxn modelId="{857FBEAB-DD45-46B4-8C16-19E7E583E6A0}" type="presParOf" srcId="{19F0F648-69F9-4BA5-85DB-DB4D55FCC187}" destId="{0AA08F22-0775-4016-A6EF-5353397DFC93}" srcOrd="2" destOrd="0" presId="urn:microsoft.com/office/officeart/2024/layout/VerticalActionList"/>
    <dgm:cxn modelId="{717173E4-BE75-4187-AB6E-52F3239542BB}" type="presParOf" srcId="{0AA08F22-0775-4016-A6EF-5353397DFC93}" destId="{77F3C80A-AC85-4733-A21D-AE6D7EE11260}" srcOrd="0" destOrd="0" presId="urn:microsoft.com/office/officeart/2024/layout/VerticalActionList"/>
    <dgm:cxn modelId="{579ADD91-BD74-4B30-8D6A-D61CE2A76F99}" type="presParOf" srcId="{0AA08F22-0775-4016-A6EF-5353397DFC93}" destId="{3EB36ECC-34C3-4A11-9B86-1043960EC89C}" srcOrd="1" destOrd="0" presId="urn:microsoft.com/office/officeart/2024/layout/VerticalActionList"/>
    <dgm:cxn modelId="{541A859C-9AEE-4C82-B783-DFAE26AE3487}" type="presParOf" srcId="{0AA08F22-0775-4016-A6EF-5353397DFC93}" destId="{B1F31A71-2889-4CB8-93BE-D4CB876156AD}" srcOrd="2" destOrd="0" presId="urn:microsoft.com/office/officeart/2024/layout/VerticalActionList"/>
    <dgm:cxn modelId="{BB407E09-CDBB-43F7-BF67-E8A47E9BB5DC}" type="presParOf" srcId="{19F0F648-69F9-4BA5-85DB-DB4D55FCC187}" destId="{90F778F7-EB55-42CA-9A69-BFB0A08DF068}" srcOrd="3" destOrd="0" presId="urn:microsoft.com/office/officeart/2024/layout/VerticalActionList"/>
    <dgm:cxn modelId="{E21F5E96-D4E0-47CC-9EA8-48953ECA203F}" type="presParOf" srcId="{19F0F648-69F9-4BA5-85DB-DB4D55FCC187}" destId="{D6AB6C6A-B56B-4A37-86F5-70DD19C4CA92}" srcOrd="4" destOrd="0" presId="urn:microsoft.com/office/officeart/2024/layout/VerticalActionList"/>
    <dgm:cxn modelId="{0E116880-E622-4D56-9BF7-6B6AE5EE9A62}" type="presParOf" srcId="{D6AB6C6A-B56B-4A37-86F5-70DD19C4CA92}" destId="{6BDEE187-806F-46B7-ACE1-1EFC318C4BC4}" srcOrd="0" destOrd="0" presId="urn:microsoft.com/office/officeart/2024/layout/VerticalActionList"/>
    <dgm:cxn modelId="{9E5FE672-0198-4B43-B807-C242FCA01160}" type="presParOf" srcId="{D6AB6C6A-B56B-4A37-86F5-70DD19C4CA92}" destId="{2756DE58-EA8B-4DBA-8F54-39CF994136AC}" srcOrd="1" destOrd="0" presId="urn:microsoft.com/office/officeart/2024/layout/VerticalActionList"/>
    <dgm:cxn modelId="{15DADBEF-5EB3-402A-9DE3-21AD5437BCC5}" type="presParOf" srcId="{D6AB6C6A-B56B-4A37-86F5-70DD19C4CA92}" destId="{5BAFF523-EB47-455D-8003-D5DD7C41E77E}" srcOrd="2" destOrd="0" presId="urn:microsoft.com/office/officeart/2024/layout/VerticalActionList"/>
    <dgm:cxn modelId="{A55AA48D-21CD-462E-97FB-4E501AC55D65}" type="presParOf" srcId="{19F0F648-69F9-4BA5-85DB-DB4D55FCC187}" destId="{81F20182-908D-4011-AF5C-CE098FFE5215}" srcOrd="5" destOrd="0" presId="urn:microsoft.com/office/officeart/2024/layout/VerticalActionList"/>
    <dgm:cxn modelId="{B86C8120-86E3-4F79-AED0-C569FDEB0FA7}" type="presParOf" srcId="{19F0F648-69F9-4BA5-85DB-DB4D55FCC187}" destId="{8D8D9A89-6EEC-4D32-82A7-706377A039A5}" srcOrd="6" destOrd="0" presId="urn:microsoft.com/office/officeart/2024/layout/VerticalActionList"/>
    <dgm:cxn modelId="{CF771DFA-DA3A-4E30-8EB3-E1049E418E9A}" type="presParOf" srcId="{8D8D9A89-6EEC-4D32-82A7-706377A039A5}" destId="{07E3C392-0131-4267-8D91-D042F9FF51A1}" srcOrd="0" destOrd="0" presId="urn:microsoft.com/office/officeart/2024/layout/VerticalActionList"/>
    <dgm:cxn modelId="{68FA9A7E-37B2-4F5C-B70B-FA1BE06FD328}" type="presParOf" srcId="{8D8D9A89-6EEC-4D32-82A7-706377A039A5}" destId="{1BE1D54B-C6B3-4BDD-AC7E-75BFBF7B612A}" srcOrd="1" destOrd="0" presId="urn:microsoft.com/office/officeart/2024/layout/VerticalActionList"/>
    <dgm:cxn modelId="{C43AA753-2B9B-4A68-A2DF-4FA03FDF672F}" type="presParOf" srcId="{8D8D9A89-6EEC-4D32-82A7-706377A039A5}" destId="{E724C580-8062-49AB-8723-6E774EF10362}" srcOrd="2" destOrd="0" presId="urn:microsoft.com/office/officeart/2024/layout/Vertic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63162E-2A83-42DA-AC7D-D392BFF4857D}" type="doc">
      <dgm:prSet loTypeId="urn:microsoft.com/office/officeart/2026/layout/TextCardSideLineNumbered" loCatId="textcard" qsTypeId="urn:microsoft.com/office/officeart/2005/8/quickstyle/simple1" qsCatId="simple" csTypeId="urn:microsoft.com/office/officeart/2005/8/colors/accent1_2" csCatId="accent1" phldr="1"/>
      <dgm:spPr/>
      <dgm:t>
        <a:bodyPr/>
        <a:lstStyle/>
        <a:p>
          <a:endParaRPr lang="en-IN"/>
        </a:p>
      </dgm:t>
    </dgm:pt>
    <dgm:pt modelId="{53EEA821-235D-45CE-90CF-058B0C0A2B82}">
      <dgm:prSet phldrT="Title" phldr="0" custT="1"/>
      <dgm:spPr/>
      <dgm:t>
        <a:bodyPr/>
        <a:lstStyle/>
        <a:p>
          <a:pPr>
            <a:defRPr b="1"/>
          </a:pPr>
          <a:r>
            <a:rPr lang="en-IN" sz="2000" dirty="0"/>
            <a:t>Bus Network Integration</a:t>
          </a:r>
        </a:p>
      </dgm:t>
    </dgm:pt>
    <dgm:pt modelId="{6792F9BC-60F2-4276-B518-544F3E2C3238}" type="parTrans" cxnId="{21A250DE-C3E1-4F88-86E9-39289D463495}">
      <dgm:prSet/>
      <dgm:spPr/>
      <dgm:t>
        <a:bodyPr/>
        <a:lstStyle/>
        <a:p>
          <a:endParaRPr lang="en-IN"/>
        </a:p>
      </dgm:t>
    </dgm:pt>
    <dgm:pt modelId="{707BD55D-B234-4820-89D6-0E8E727073A7}" type="sibTrans" cxnId="{21A250DE-C3E1-4F88-86E9-39289D463495}">
      <dgm:prSet phldrT="1" phldr="0"/>
      <dgm:spPr/>
      <dgm:t>
        <a:bodyPr/>
        <a:lstStyle/>
        <a:p>
          <a:pPr>
            <a:defRPr b="1"/>
          </a:pPr>
          <a:r>
            <a:t>1</a:t>
          </a:r>
        </a:p>
      </dgm:t>
    </dgm:pt>
    <dgm:pt modelId="{03DFDE6D-D789-44B2-93C7-165918A3360F}">
      <dgm:prSet phldrT="Description" phldr="0" custT="1"/>
      <dgm:spPr/>
      <dgm:t>
        <a:bodyPr/>
        <a:lstStyle/>
        <a:p>
          <a:r>
            <a:rPr lang="en-IN" sz="2000" dirty="0"/>
            <a:t>Collect Dublin Bus and Go Ahead Ireland routes, stops, schedules and connections data </a:t>
          </a:r>
        </a:p>
      </dgm:t>
    </dgm:pt>
    <dgm:pt modelId="{9ECE8755-1B69-4868-8B66-E5A185990539}" type="parTrans" cxnId="{DB6267E4-4BEE-4A18-B53E-DAD2CD64D04D}">
      <dgm:prSet/>
      <dgm:spPr/>
      <dgm:t>
        <a:bodyPr/>
        <a:lstStyle/>
        <a:p>
          <a:endParaRPr lang="en-IN"/>
        </a:p>
      </dgm:t>
    </dgm:pt>
    <dgm:pt modelId="{39D7C96C-42B1-4AA2-82F4-9B120DE2E731}" type="sibTrans" cxnId="{DB6267E4-4BEE-4A18-B53E-DAD2CD64D04D}">
      <dgm:prSet/>
      <dgm:spPr/>
      <dgm:t>
        <a:bodyPr/>
        <a:lstStyle/>
        <a:p>
          <a:endParaRPr lang="en-IN"/>
        </a:p>
      </dgm:t>
    </dgm:pt>
    <dgm:pt modelId="{CAC6ABBC-0446-442A-A260-82EE7E6D0143}">
      <dgm:prSet phldrT="Title" phldr="0" custT="1"/>
      <dgm:spPr/>
      <dgm:t>
        <a:bodyPr/>
        <a:lstStyle/>
        <a:p>
          <a:pPr>
            <a:defRPr b="1"/>
          </a:pPr>
          <a:r>
            <a:rPr lang="en-IN" sz="2000" dirty="0"/>
            <a:t>Rail and Luas Network</a:t>
          </a:r>
        </a:p>
      </dgm:t>
    </dgm:pt>
    <dgm:pt modelId="{E5ECBD15-4205-49BA-B315-89B79AEF6EAC}" type="parTrans" cxnId="{B25A4AD2-4580-4C0F-A141-CC32B2B1C397}">
      <dgm:prSet/>
      <dgm:spPr/>
      <dgm:t>
        <a:bodyPr/>
        <a:lstStyle/>
        <a:p>
          <a:endParaRPr lang="en-IN"/>
        </a:p>
      </dgm:t>
    </dgm:pt>
    <dgm:pt modelId="{766B126F-6160-4647-93F8-3B7B5E91BAEC}" type="sibTrans" cxnId="{B25A4AD2-4580-4C0F-A141-CC32B2B1C397}">
      <dgm:prSet phldrT="2" phldr="0"/>
      <dgm:spPr/>
      <dgm:t>
        <a:bodyPr/>
        <a:lstStyle/>
        <a:p>
          <a:pPr>
            <a:defRPr b="1"/>
          </a:pPr>
          <a:r>
            <a:t>2</a:t>
          </a:r>
        </a:p>
      </dgm:t>
    </dgm:pt>
    <dgm:pt modelId="{1D6AF89C-7EDE-4164-93C3-78F782CA155C}">
      <dgm:prSet phldrT="Description" phldr="0" custT="1"/>
      <dgm:spPr/>
      <dgm:t>
        <a:bodyPr/>
        <a:lstStyle/>
        <a:p>
          <a:r>
            <a:rPr lang="en-IN" sz="2000" dirty="0"/>
            <a:t>Collect station locations, routes, stops, timetables and service connections data</a:t>
          </a:r>
        </a:p>
      </dgm:t>
    </dgm:pt>
    <dgm:pt modelId="{37150790-9461-43C5-9594-02A55FBDF936}" type="parTrans" cxnId="{34792B96-6815-49D4-A371-4BD277A240CF}">
      <dgm:prSet/>
      <dgm:spPr/>
      <dgm:t>
        <a:bodyPr/>
        <a:lstStyle/>
        <a:p>
          <a:endParaRPr lang="en-IN"/>
        </a:p>
      </dgm:t>
    </dgm:pt>
    <dgm:pt modelId="{A0FDE75E-E2AF-40FF-9B8D-FD3F42F624C6}" type="sibTrans" cxnId="{34792B96-6815-49D4-A371-4BD277A240CF}">
      <dgm:prSet/>
      <dgm:spPr/>
      <dgm:t>
        <a:bodyPr/>
        <a:lstStyle/>
        <a:p>
          <a:endParaRPr lang="en-IN"/>
        </a:p>
      </dgm:t>
    </dgm:pt>
    <dgm:pt modelId="{5B125B17-1BA4-40EC-99E0-50164644BEA4}">
      <dgm:prSet phldrT="Title" phldr="0" custT="1"/>
      <dgm:spPr/>
      <dgm:t>
        <a:bodyPr/>
        <a:lstStyle/>
        <a:p>
          <a:pPr>
            <a:defRPr b="1"/>
          </a:pPr>
          <a:r>
            <a:rPr lang="en-IN" sz="2000" dirty="0"/>
            <a:t>Leap Card &amp; Fare Information</a:t>
          </a:r>
        </a:p>
      </dgm:t>
    </dgm:pt>
    <dgm:pt modelId="{760606C3-4DDB-41B7-A728-381A5CD40CC0}" type="parTrans" cxnId="{71F5460B-87CE-4EEF-AF12-274A273FDFF7}">
      <dgm:prSet/>
      <dgm:spPr/>
      <dgm:t>
        <a:bodyPr/>
        <a:lstStyle/>
        <a:p>
          <a:endParaRPr lang="en-IN"/>
        </a:p>
      </dgm:t>
    </dgm:pt>
    <dgm:pt modelId="{CB90D7CC-CD94-4AB8-8C4D-A155CC9AB3FD}" type="sibTrans" cxnId="{71F5460B-87CE-4EEF-AF12-274A273FDFF7}">
      <dgm:prSet phldrT="3" phldr="0"/>
      <dgm:spPr/>
      <dgm:t>
        <a:bodyPr/>
        <a:lstStyle/>
        <a:p>
          <a:pPr>
            <a:defRPr b="1"/>
          </a:pPr>
          <a:r>
            <a:t>3</a:t>
          </a:r>
          <a:endParaRPr dirty="0"/>
        </a:p>
      </dgm:t>
    </dgm:pt>
    <dgm:pt modelId="{411FC56C-426F-4034-A009-AAF70CA75F61}">
      <dgm:prSet phldrT="Description" phldr="0" custT="1"/>
      <dgm:spPr/>
      <dgm:t>
        <a:bodyPr/>
        <a:lstStyle/>
        <a:p>
          <a:r>
            <a:rPr lang="en-IN" sz="2000" dirty="0"/>
            <a:t>Investigate different Leap Card options, fare, daily and weekly caps, 90 minute fares, ticket plans and eligibility conditions</a:t>
          </a:r>
        </a:p>
      </dgm:t>
    </dgm:pt>
    <dgm:pt modelId="{51A28EC0-80C6-4600-8E7A-5116EEA3714F}" type="parTrans" cxnId="{7C067B12-D34A-4091-B34D-9DD239B9F375}">
      <dgm:prSet/>
      <dgm:spPr/>
      <dgm:t>
        <a:bodyPr/>
        <a:lstStyle/>
        <a:p>
          <a:endParaRPr lang="en-IN"/>
        </a:p>
      </dgm:t>
    </dgm:pt>
    <dgm:pt modelId="{7E6769F5-A975-40A4-B910-4E2B22D35A1E}" type="sibTrans" cxnId="{7C067B12-D34A-4091-B34D-9DD239B9F375}">
      <dgm:prSet/>
      <dgm:spPr/>
      <dgm:t>
        <a:bodyPr/>
        <a:lstStyle/>
        <a:p>
          <a:endParaRPr lang="en-IN"/>
        </a:p>
      </dgm:t>
    </dgm:pt>
    <dgm:pt modelId="{0E070DED-82CB-4AA6-A8F0-9ACE79BFB7D6}">
      <dgm:prSet phldrT="Title" phldr="0" custT="1"/>
      <dgm:spPr/>
      <dgm:t>
        <a:bodyPr/>
        <a:lstStyle/>
        <a:p>
          <a:pPr>
            <a:defRPr b="1"/>
          </a:pPr>
          <a:r>
            <a:rPr lang="en-IN" sz="2000" dirty="0"/>
            <a:t>Transport Apps &amp; Travel Regulations</a:t>
          </a:r>
        </a:p>
      </dgm:t>
    </dgm:pt>
    <dgm:pt modelId="{98583DF5-0542-4C53-BA0D-225A09289115}" type="parTrans" cxnId="{E11C4CA1-CD62-4484-9EE6-88A6F1F5E6BC}">
      <dgm:prSet/>
      <dgm:spPr/>
      <dgm:t>
        <a:bodyPr/>
        <a:lstStyle/>
        <a:p>
          <a:endParaRPr lang="en-IN"/>
        </a:p>
      </dgm:t>
    </dgm:pt>
    <dgm:pt modelId="{0ABD31F1-F407-45DC-AE3A-3CD506DE2F2C}" type="sibTrans" cxnId="{E11C4CA1-CD62-4484-9EE6-88A6F1F5E6BC}">
      <dgm:prSet phldrT="4" phldr="0"/>
      <dgm:spPr/>
      <dgm:t>
        <a:bodyPr/>
        <a:lstStyle/>
        <a:p>
          <a:pPr>
            <a:defRPr b="1"/>
          </a:pPr>
          <a:r>
            <a:rPr lang="en-IN"/>
            <a:t>4</a:t>
          </a:r>
        </a:p>
      </dgm:t>
    </dgm:pt>
    <dgm:pt modelId="{9AC8A472-E39F-4E42-8B51-069A054C4E55}">
      <dgm:prSet phldrT="Description" phldr="0" custT="1"/>
      <dgm:spPr/>
      <dgm:t>
        <a:bodyPr/>
        <a:lstStyle/>
        <a:p>
          <a:r>
            <a:rPr lang="en-IN" sz="2000" dirty="0"/>
            <a:t>Explore travel apps like TFI Live, TFI Leap card and review rules and </a:t>
          </a:r>
          <a:r>
            <a:rPr lang="en-IN" sz="2000"/>
            <a:t>regulations </a:t>
          </a:r>
          <a:endParaRPr lang="en-IN" sz="2000" dirty="0"/>
        </a:p>
      </dgm:t>
    </dgm:pt>
    <dgm:pt modelId="{DB32203C-B9F9-49F8-AD52-7DEF2660C6C9}" type="parTrans" cxnId="{450654C1-6689-4ECC-BEEF-DC41700A1014}">
      <dgm:prSet/>
      <dgm:spPr/>
      <dgm:t>
        <a:bodyPr/>
        <a:lstStyle/>
        <a:p>
          <a:endParaRPr lang="en-IN"/>
        </a:p>
      </dgm:t>
    </dgm:pt>
    <dgm:pt modelId="{4657CF0B-F7DE-4C43-82B9-EBE3C0DF07F0}" type="sibTrans" cxnId="{450654C1-6689-4ECC-BEEF-DC41700A1014}">
      <dgm:prSet/>
      <dgm:spPr/>
      <dgm:t>
        <a:bodyPr/>
        <a:lstStyle/>
        <a:p>
          <a:endParaRPr lang="en-IN"/>
        </a:p>
      </dgm:t>
    </dgm:pt>
    <dgm:pt modelId="{41D66D5A-B34D-4C3E-BB1F-71E5BF7E529C}" type="pres">
      <dgm:prSet presAssocID="{DC63162E-2A83-42DA-AC7D-D392BFF4857D}" presName="root" presStyleCnt="0">
        <dgm:presLayoutVars>
          <dgm:dir/>
          <dgm:resizeHandles val="exact"/>
        </dgm:presLayoutVars>
      </dgm:prSet>
      <dgm:spPr/>
    </dgm:pt>
    <dgm:pt modelId="{C37F3D5A-CDA8-44E4-83D6-285736306692}" type="pres">
      <dgm:prSet presAssocID="{53EEA821-235D-45CE-90CF-058B0C0A2B82}" presName="compNode" presStyleCnt="0"/>
      <dgm:spPr/>
    </dgm:pt>
    <dgm:pt modelId="{F98D09E6-5727-4324-94AC-588F65F8BB80}" type="pres">
      <dgm:prSet presAssocID="{53EEA821-235D-45CE-90CF-058B0C0A2B82}" presName="accentLine" presStyleLbl="dkBgShp" presStyleIdx="0" presStyleCnt="4"/>
      <dgm:spPr>
        <a:solidFill>
          <a:schemeClr val="accent1">
            <a:shade val="80000"/>
            <a:hueOff val="0"/>
            <a:satOff val="0"/>
            <a:lumOff val="0"/>
            <a:alphaOff val="0"/>
          </a:schemeClr>
        </a:solidFill>
        <a:ln>
          <a:noFill/>
        </a:ln>
        <a:effectLst/>
      </dgm:spPr>
    </dgm:pt>
    <dgm:pt modelId="{5F7704A8-4401-4E53-A20E-3E3988BD0097}" type="pres">
      <dgm:prSet presAssocID="{707BD55D-B234-4820-89D6-0E8E727073A7}" presName="numberText" presStyleLbl="revTx" presStyleIdx="0" presStyleCnt="12">
        <dgm:presLayoutVars>
          <dgm:chMax val="0"/>
          <dgm:chPref val="0"/>
          <dgm:bulletEnabled/>
        </dgm:presLayoutVars>
      </dgm:prSet>
      <dgm:spPr/>
    </dgm:pt>
    <dgm:pt modelId="{02DA3509-155A-4300-B123-C30DFB29D9F7}" type="pres">
      <dgm:prSet presAssocID="{53EEA821-235D-45CE-90CF-058B0C0A2B82}" presName="titleText" presStyleLbl="revTx" presStyleIdx="1" presStyleCnt="12">
        <dgm:presLayoutVars>
          <dgm:chMax val="0"/>
          <dgm:chPref val="0"/>
        </dgm:presLayoutVars>
      </dgm:prSet>
      <dgm:spPr/>
    </dgm:pt>
    <dgm:pt modelId="{D2ECAC70-D611-44AF-9F13-CA952163FECA}" type="pres">
      <dgm:prSet presAssocID="{53EEA821-235D-45CE-90CF-058B0C0A2B82}" presName="bodyText" presStyleLbl="revTx" presStyleIdx="2" presStyleCnt="12">
        <dgm:presLayoutVars>
          <dgm:chMax val="0"/>
          <dgm:chPref val="0"/>
        </dgm:presLayoutVars>
      </dgm:prSet>
      <dgm:spPr/>
    </dgm:pt>
    <dgm:pt modelId="{B83CB840-07B0-415A-BA8A-DFFA7A13A9F2}" type="pres">
      <dgm:prSet presAssocID="{707BD55D-B234-4820-89D6-0E8E727073A7}" presName="sibTrans" presStyleCnt="0"/>
      <dgm:spPr/>
    </dgm:pt>
    <dgm:pt modelId="{417ABFF4-164F-4FD8-A5B9-4369116AE501}" type="pres">
      <dgm:prSet presAssocID="{CAC6ABBC-0446-442A-A260-82EE7E6D0143}" presName="compNode" presStyleCnt="0"/>
      <dgm:spPr/>
    </dgm:pt>
    <dgm:pt modelId="{D9275C7E-805B-434E-AA0F-DC1180EBECF4}" type="pres">
      <dgm:prSet presAssocID="{CAC6ABBC-0446-442A-A260-82EE7E6D0143}" presName="accentLine" presStyleLbl="dkBgShp" presStyleIdx="1" presStyleCnt="4"/>
      <dgm:spPr>
        <a:solidFill>
          <a:schemeClr val="accent1">
            <a:shade val="80000"/>
            <a:hueOff val="0"/>
            <a:satOff val="0"/>
            <a:lumOff val="0"/>
            <a:alphaOff val="0"/>
          </a:schemeClr>
        </a:solidFill>
        <a:ln>
          <a:noFill/>
        </a:ln>
        <a:effectLst/>
      </dgm:spPr>
    </dgm:pt>
    <dgm:pt modelId="{11432E58-D4B3-40D9-BAC1-B5050F1972DA}" type="pres">
      <dgm:prSet presAssocID="{766B126F-6160-4647-93F8-3B7B5E91BAEC}" presName="numberText" presStyleLbl="revTx" presStyleIdx="3" presStyleCnt="12">
        <dgm:presLayoutVars>
          <dgm:chMax val="0"/>
          <dgm:chPref val="0"/>
          <dgm:bulletEnabled/>
        </dgm:presLayoutVars>
      </dgm:prSet>
      <dgm:spPr/>
    </dgm:pt>
    <dgm:pt modelId="{77E0F3FA-BC36-43A6-A609-F3F5ABB83EDC}" type="pres">
      <dgm:prSet presAssocID="{CAC6ABBC-0446-442A-A260-82EE7E6D0143}" presName="titleText" presStyleLbl="revTx" presStyleIdx="4" presStyleCnt="12">
        <dgm:presLayoutVars>
          <dgm:chMax val="0"/>
          <dgm:chPref val="0"/>
        </dgm:presLayoutVars>
      </dgm:prSet>
      <dgm:spPr/>
    </dgm:pt>
    <dgm:pt modelId="{E336C749-1762-4E0F-A403-014E37F109EA}" type="pres">
      <dgm:prSet presAssocID="{CAC6ABBC-0446-442A-A260-82EE7E6D0143}" presName="bodyText" presStyleLbl="revTx" presStyleIdx="5" presStyleCnt="12">
        <dgm:presLayoutVars>
          <dgm:chMax val="0"/>
          <dgm:chPref val="0"/>
        </dgm:presLayoutVars>
      </dgm:prSet>
      <dgm:spPr/>
    </dgm:pt>
    <dgm:pt modelId="{38794080-5CEF-4681-8228-E80B177CE695}" type="pres">
      <dgm:prSet presAssocID="{766B126F-6160-4647-93F8-3B7B5E91BAEC}" presName="sibTrans" presStyleCnt="0"/>
      <dgm:spPr/>
    </dgm:pt>
    <dgm:pt modelId="{FF85EB2E-1004-49A0-9675-46A8957A8109}" type="pres">
      <dgm:prSet presAssocID="{5B125B17-1BA4-40EC-99E0-50164644BEA4}" presName="compNode" presStyleCnt="0"/>
      <dgm:spPr/>
    </dgm:pt>
    <dgm:pt modelId="{B0D60534-06A3-45AF-9355-A3BAC0922ECD}" type="pres">
      <dgm:prSet presAssocID="{5B125B17-1BA4-40EC-99E0-50164644BEA4}" presName="accentLine" presStyleLbl="dkBgShp" presStyleIdx="2" presStyleCnt="4"/>
      <dgm:spPr>
        <a:solidFill>
          <a:schemeClr val="accent1">
            <a:shade val="80000"/>
            <a:hueOff val="0"/>
            <a:satOff val="0"/>
            <a:lumOff val="0"/>
            <a:alphaOff val="0"/>
          </a:schemeClr>
        </a:solidFill>
        <a:ln>
          <a:noFill/>
        </a:ln>
        <a:effectLst/>
      </dgm:spPr>
    </dgm:pt>
    <dgm:pt modelId="{F877C7CA-020B-43BB-B97D-90459C9E540A}" type="pres">
      <dgm:prSet presAssocID="{CB90D7CC-CD94-4AB8-8C4D-A155CC9AB3FD}" presName="numberText" presStyleLbl="revTx" presStyleIdx="6" presStyleCnt="12">
        <dgm:presLayoutVars>
          <dgm:chMax val="0"/>
          <dgm:chPref val="0"/>
          <dgm:bulletEnabled/>
        </dgm:presLayoutVars>
      </dgm:prSet>
      <dgm:spPr/>
    </dgm:pt>
    <dgm:pt modelId="{8F1290A8-EE31-4D8C-ABD6-A1B3ED41C2D5}" type="pres">
      <dgm:prSet presAssocID="{5B125B17-1BA4-40EC-99E0-50164644BEA4}" presName="titleText" presStyleLbl="revTx" presStyleIdx="7" presStyleCnt="12">
        <dgm:presLayoutVars>
          <dgm:chMax val="0"/>
          <dgm:chPref val="0"/>
        </dgm:presLayoutVars>
      </dgm:prSet>
      <dgm:spPr/>
    </dgm:pt>
    <dgm:pt modelId="{0B400828-1CEC-43BE-93FA-F77CE1F0AC79}" type="pres">
      <dgm:prSet presAssocID="{5B125B17-1BA4-40EC-99E0-50164644BEA4}" presName="bodyText" presStyleLbl="revTx" presStyleIdx="8" presStyleCnt="12" custLinFactNeighborY="2150">
        <dgm:presLayoutVars>
          <dgm:chMax val="0"/>
          <dgm:chPref val="0"/>
        </dgm:presLayoutVars>
      </dgm:prSet>
      <dgm:spPr/>
    </dgm:pt>
    <dgm:pt modelId="{D4C1589A-573D-47C0-9A2A-8BC125A30FB0}" type="pres">
      <dgm:prSet presAssocID="{CB90D7CC-CD94-4AB8-8C4D-A155CC9AB3FD}" presName="sibTrans" presStyleCnt="0"/>
      <dgm:spPr/>
    </dgm:pt>
    <dgm:pt modelId="{EB01474C-16E2-4ED5-975D-17EE236E4AAC}" type="pres">
      <dgm:prSet presAssocID="{0E070DED-82CB-4AA6-A8F0-9ACE79BFB7D6}" presName="compNode" presStyleCnt="0"/>
      <dgm:spPr/>
    </dgm:pt>
    <dgm:pt modelId="{B7CA89BD-4BCB-48A0-AF55-4D3059A3C37E}" type="pres">
      <dgm:prSet presAssocID="{0E070DED-82CB-4AA6-A8F0-9ACE79BFB7D6}" presName="accentLine" presStyleLbl="dkBgShp" presStyleIdx="3" presStyleCnt="4"/>
      <dgm:spPr>
        <a:solidFill>
          <a:schemeClr val="accent1">
            <a:shade val="80000"/>
            <a:hueOff val="0"/>
            <a:satOff val="0"/>
            <a:lumOff val="0"/>
            <a:alphaOff val="0"/>
          </a:schemeClr>
        </a:solidFill>
        <a:ln>
          <a:noFill/>
        </a:ln>
        <a:effectLst/>
      </dgm:spPr>
    </dgm:pt>
    <dgm:pt modelId="{A19F07AB-F724-42DD-88B3-FF23C4CADD7C}" type="pres">
      <dgm:prSet presAssocID="{0ABD31F1-F407-45DC-AE3A-3CD506DE2F2C}" presName="numberText" presStyleLbl="revTx" presStyleIdx="9" presStyleCnt="12">
        <dgm:presLayoutVars>
          <dgm:chMax val="0"/>
          <dgm:chPref val="0"/>
          <dgm:bulletEnabled/>
        </dgm:presLayoutVars>
      </dgm:prSet>
      <dgm:spPr/>
    </dgm:pt>
    <dgm:pt modelId="{9FF66C5D-9E0D-468B-AA05-92384599FA53}" type="pres">
      <dgm:prSet presAssocID="{0E070DED-82CB-4AA6-A8F0-9ACE79BFB7D6}" presName="titleText" presStyleLbl="revTx" presStyleIdx="10" presStyleCnt="12">
        <dgm:presLayoutVars>
          <dgm:chMax val="0"/>
          <dgm:chPref val="0"/>
        </dgm:presLayoutVars>
      </dgm:prSet>
      <dgm:spPr/>
    </dgm:pt>
    <dgm:pt modelId="{1E0A2880-EF6A-4293-9613-B91C98F0FB82}" type="pres">
      <dgm:prSet presAssocID="{0E070DED-82CB-4AA6-A8F0-9ACE79BFB7D6}" presName="bodyText" presStyleLbl="revTx" presStyleIdx="11" presStyleCnt="12">
        <dgm:presLayoutVars>
          <dgm:chMax val="0"/>
          <dgm:chPref val="0"/>
        </dgm:presLayoutVars>
      </dgm:prSet>
      <dgm:spPr/>
    </dgm:pt>
  </dgm:ptLst>
  <dgm:cxnLst>
    <dgm:cxn modelId="{F9D98509-0BFD-4957-B14F-EBEE7AAD7E09}" type="presOf" srcId="{1D6AF89C-7EDE-4164-93C3-78F782CA155C}" destId="{E336C749-1762-4E0F-A403-014E37F109EA}" srcOrd="0" destOrd="0" presId="urn:microsoft.com/office/officeart/2026/layout/TextCardSideLineNumbered"/>
    <dgm:cxn modelId="{71F5460B-87CE-4EEF-AF12-274A273FDFF7}" srcId="{DC63162E-2A83-42DA-AC7D-D392BFF4857D}" destId="{5B125B17-1BA4-40EC-99E0-50164644BEA4}" srcOrd="2" destOrd="0" parTransId="{760606C3-4DDB-41B7-A728-381A5CD40CC0}" sibTransId="{CB90D7CC-CD94-4AB8-8C4D-A155CC9AB3FD}"/>
    <dgm:cxn modelId="{7C067B12-D34A-4091-B34D-9DD239B9F375}" srcId="{5B125B17-1BA4-40EC-99E0-50164644BEA4}" destId="{411FC56C-426F-4034-A009-AAF70CA75F61}" srcOrd="0" destOrd="0" parTransId="{51A28EC0-80C6-4600-8E7A-5116EEA3714F}" sibTransId="{7E6769F5-A975-40A4-B910-4E2B22D35A1E}"/>
    <dgm:cxn modelId="{5D989815-7391-40C1-8255-08229A28D2AD}" type="presOf" srcId="{03DFDE6D-D789-44B2-93C7-165918A3360F}" destId="{D2ECAC70-D611-44AF-9F13-CA952163FECA}" srcOrd="0" destOrd="0" presId="urn:microsoft.com/office/officeart/2026/layout/TextCardSideLineNumbered"/>
    <dgm:cxn modelId="{5818C923-3F40-43F9-970C-9D688574A209}" type="presOf" srcId="{707BD55D-B234-4820-89D6-0E8E727073A7}" destId="{5F7704A8-4401-4E53-A20E-3E3988BD0097}" srcOrd="0" destOrd="0" presId="urn:microsoft.com/office/officeart/2026/layout/TextCardSideLineNumbered"/>
    <dgm:cxn modelId="{084D932B-050D-423A-811A-E93D70AD6C99}" type="presOf" srcId="{0E070DED-82CB-4AA6-A8F0-9ACE79BFB7D6}" destId="{9FF66C5D-9E0D-468B-AA05-92384599FA53}" srcOrd="0" destOrd="0" presId="urn:microsoft.com/office/officeart/2026/layout/TextCardSideLineNumbered"/>
    <dgm:cxn modelId="{7F338635-0931-490F-90C7-7D4CF5123DCB}" type="presOf" srcId="{0ABD31F1-F407-45DC-AE3A-3CD506DE2F2C}" destId="{A19F07AB-F724-42DD-88B3-FF23C4CADD7C}" srcOrd="0" destOrd="0" presId="urn:microsoft.com/office/officeart/2026/layout/TextCardSideLineNumbered"/>
    <dgm:cxn modelId="{7FAB163B-7063-40B3-ACDE-98A6225807A1}" type="presOf" srcId="{CAC6ABBC-0446-442A-A260-82EE7E6D0143}" destId="{77E0F3FA-BC36-43A6-A609-F3F5ABB83EDC}" srcOrd="0" destOrd="0" presId="urn:microsoft.com/office/officeart/2026/layout/TextCardSideLineNumbered"/>
    <dgm:cxn modelId="{C7878E3D-CB6B-46B2-A6E0-9797BD284406}" type="presOf" srcId="{5B125B17-1BA4-40EC-99E0-50164644BEA4}" destId="{8F1290A8-EE31-4D8C-ABD6-A1B3ED41C2D5}" srcOrd="0" destOrd="0" presId="urn:microsoft.com/office/officeart/2026/layout/TextCardSideLineNumbered"/>
    <dgm:cxn modelId="{A7BAE27F-82C9-4FD9-A650-9772D8ECF0C7}" type="presOf" srcId="{DC63162E-2A83-42DA-AC7D-D392BFF4857D}" destId="{41D66D5A-B34D-4C3E-BB1F-71E5BF7E529C}" srcOrd="0" destOrd="0" presId="urn:microsoft.com/office/officeart/2026/layout/TextCardSideLineNumbered"/>
    <dgm:cxn modelId="{6A98548D-A5B8-41D4-A337-8BF4628F751A}" type="presOf" srcId="{53EEA821-235D-45CE-90CF-058B0C0A2B82}" destId="{02DA3509-155A-4300-B123-C30DFB29D9F7}" srcOrd="0" destOrd="0" presId="urn:microsoft.com/office/officeart/2026/layout/TextCardSideLineNumbered"/>
    <dgm:cxn modelId="{34792B96-6815-49D4-A371-4BD277A240CF}" srcId="{CAC6ABBC-0446-442A-A260-82EE7E6D0143}" destId="{1D6AF89C-7EDE-4164-93C3-78F782CA155C}" srcOrd="0" destOrd="0" parTransId="{37150790-9461-43C5-9594-02A55FBDF936}" sibTransId="{A0FDE75E-E2AF-40FF-9B8D-FD3F42F624C6}"/>
    <dgm:cxn modelId="{E11C4CA1-CD62-4484-9EE6-88A6F1F5E6BC}" srcId="{DC63162E-2A83-42DA-AC7D-D392BFF4857D}" destId="{0E070DED-82CB-4AA6-A8F0-9ACE79BFB7D6}" srcOrd="3" destOrd="0" parTransId="{98583DF5-0542-4C53-BA0D-225A09289115}" sibTransId="{0ABD31F1-F407-45DC-AE3A-3CD506DE2F2C}"/>
    <dgm:cxn modelId="{EEB786A9-40AB-473D-96B3-C70AB2B55A98}" type="presOf" srcId="{9AC8A472-E39F-4E42-8B51-069A054C4E55}" destId="{1E0A2880-EF6A-4293-9613-B91C98F0FB82}" srcOrd="0" destOrd="0" presId="urn:microsoft.com/office/officeart/2026/layout/TextCardSideLineNumbered"/>
    <dgm:cxn modelId="{9701BBAC-7BB3-4458-AF0B-632E72080261}" type="presOf" srcId="{CB90D7CC-CD94-4AB8-8C4D-A155CC9AB3FD}" destId="{F877C7CA-020B-43BB-B97D-90459C9E540A}" srcOrd="0" destOrd="0" presId="urn:microsoft.com/office/officeart/2026/layout/TextCardSideLineNumbered"/>
    <dgm:cxn modelId="{450654C1-6689-4ECC-BEEF-DC41700A1014}" srcId="{0E070DED-82CB-4AA6-A8F0-9ACE79BFB7D6}" destId="{9AC8A472-E39F-4E42-8B51-069A054C4E55}" srcOrd="0" destOrd="0" parTransId="{DB32203C-B9F9-49F8-AD52-7DEF2660C6C9}" sibTransId="{4657CF0B-F7DE-4C43-82B9-EBE3C0DF07F0}"/>
    <dgm:cxn modelId="{B25A4AD2-4580-4C0F-A141-CC32B2B1C397}" srcId="{DC63162E-2A83-42DA-AC7D-D392BFF4857D}" destId="{CAC6ABBC-0446-442A-A260-82EE7E6D0143}" srcOrd="1" destOrd="0" parTransId="{E5ECBD15-4205-49BA-B315-89B79AEF6EAC}" sibTransId="{766B126F-6160-4647-93F8-3B7B5E91BAEC}"/>
    <dgm:cxn modelId="{1078BFD6-65DB-4E42-8F56-1368C2FE01D4}" type="presOf" srcId="{411FC56C-426F-4034-A009-AAF70CA75F61}" destId="{0B400828-1CEC-43BE-93FA-F77CE1F0AC79}" srcOrd="0" destOrd="0" presId="urn:microsoft.com/office/officeart/2026/layout/TextCardSideLineNumbered"/>
    <dgm:cxn modelId="{21A250DE-C3E1-4F88-86E9-39289D463495}" srcId="{DC63162E-2A83-42DA-AC7D-D392BFF4857D}" destId="{53EEA821-235D-45CE-90CF-058B0C0A2B82}" srcOrd="0" destOrd="0" parTransId="{6792F9BC-60F2-4276-B518-544F3E2C3238}" sibTransId="{707BD55D-B234-4820-89D6-0E8E727073A7}"/>
    <dgm:cxn modelId="{DB6267E4-4BEE-4A18-B53E-DAD2CD64D04D}" srcId="{53EEA821-235D-45CE-90CF-058B0C0A2B82}" destId="{03DFDE6D-D789-44B2-93C7-165918A3360F}" srcOrd="0" destOrd="0" parTransId="{9ECE8755-1B69-4868-8B66-E5A185990539}" sibTransId="{39D7C96C-42B1-4AA2-82F4-9B120DE2E731}"/>
    <dgm:cxn modelId="{C82AADF8-A32E-4EF2-BA57-F831CF709AE9}" type="presOf" srcId="{766B126F-6160-4647-93F8-3B7B5E91BAEC}" destId="{11432E58-D4B3-40D9-BAC1-B5050F1972DA}" srcOrd="0" destOrd="0" presId="urn:microsoft.com/office/officeart/2026/layout/TextCardSideLineNumbered"/>
    <dgm:cxn modelId="{B4681C4E-9FAB-4CC1-9CA3-0678414180BF}" type="presParOf" srcId="{41D66D5A-B34D-4C3E-BB1F-71E5BF7E529C}" destId="{C37F3D5A-CDA8-44E4-83D6-285736306692}" srcOrd="0" destOrd="0" presId="urn:microsoft.com/office/officeart/2026/layout/TextCardSideLineNumbered"/>
    <dgm:cxn modelId="{6D2C9942-487A-45AA-9B5F-1D35A8E3C88F}" type="presParOf" srcId="{C37F3D5A-CDA8-44E4-83D6-285736306692}" destId="{F98D09E6-5727-4324-94AC-588F65F8BB80}" srcOrd="0" destOrd="0" presId="urn:microsoft.com/office/officeart/2026/layout/TextCardSideLineNumbered"/>
    <dgm:cxn modelId="{192D82FE-801C-4D38-958F-F6E4C3F1DD08}" type="presParOf" srcId="{C37F3D5A-CDA8-44E4-83D6-285736306692}" destId="{5F7704A8-4401-4E53-A20E-3E3988BD0097}" srcOrd="1" destOrd="0" presId="urn:microsoft.com/office/officeart/2026/layout/TextCardSideLineNumbered"/>
    <dgm:cxn modelId="{1F48DAFF-7D9F-44E2-84EC-8736CA600741}" type="presParOf" srcId="{C37F3D5A-CDA8-44E4-83D6-285736306692}" destId="{02DA3509-155A-4300-B123-C30DFB29D9F7}" srcOrd="2" destOrd="0" presId="urn:microsoft.com/office/officeart/2026/layout/TextCardSideLineNumbered"/>
    <dgm:cxn modelId="{4CF8DBC3-1172-46F0-8250-9935E997A231}" type="presParOf" srcId="{C37F3D5A-CDA8-44E4-83D6-285736306692}" destId="{D2ECAC70-D611-44AF-9F13-CA952163FECA}" srcOrd="3" destOrd="0" presId="urn:microsoft.com/office/officeart/2026/layout/TextCardSideLineNumbered"/>
    <dgm:cxn modelId="{3F493447-64C9-47AB-BCAF-6C4C1AF33201}" type="presParOf" srcId="{41D66D5A-B34D-4C3E-BB1F-71E5BF7E529C}" destId="{B83CB840-07B0-415A-BA8A-DFFA7A13A9F2}" srcOrd="1" destOrd="0" presId="urn:microsoft.com/office/officeart/2026/layout/TextCardSideLineNumbered"/>
    <dgm:cxn modelId="{CD0E1A57-9A16-4D8F-BF1D-5093DEFFE31C}" type="presParOf" srcId="{41D66D5A-B34D-4C3E-BB1F-71E5BF7E529C}" destId="{417ABFF4-164F-4FD8-A5B9-4369116AE501}" srcOrd="2" destOrd="0" presId="urn:microsoft.com/office/officeart/2026/layout/TextCardSideLineNumbered"/>
    <dgm:cxn modelId="{FE5DDF8B-667C-4DDB-BC41-68CBD232850E}" type="presParOf" srcId="{417ABFF4-164F-4FD8-A5B9-4369116AE501}" destId="{D9275C7E-805B-434E-AA0F-DC1180EBECF4}" srcOrd="0" destOrd="0" presId="urn:microsoft.com/office/officeart/2026/layout/TextCardSideLineNumbered"/>
    <dgm:cxn modelId="{DD723EB0-9BC3-43F5-9341-751552F3625E}" type="presParOf" srcId="{417ABFF4-164F-4FD8-A5B9-4369116AE501}" destId="{11432E58-D4B3-40D9-BAC1-B5050F1972DA}" srcOrd="1" destOrd="0" presId="urn:microsoft.com/office/officeart/2026/layout/TextCardSideLineNumbered"/>
    <dgm:cxn modelId="{693363EE-9FD5-4C20-8CAC-E28E64FA721F}" type="presParOf" srcId="{417ABFF4-164F-4FD8-A5B9-4369116AE501}" destId="{77E0F3FA-BC36-43A6-A609-F3F5ABB83EDC}" srcOrd="2" destOrd="0" presId="urn:microsoft.com/office/officeart/2026/layout/TextCardSideLineNumbered"/>
    <dgm:cxn modelId="{17F3A793-84DA-4CF2-B643-E594B6176CCF}" type="presParOf" srcId="{417ABFF4-164F-4FD8-A5B9-4369116AE501}" destId="{E336C749-1762-4E0F-A403-014E37F109EA}" srcOrd="3" destOrd="0" presId="urn:microsoft.com/office/officeart/2026/layout/TextCardSideLineNumbered"/>
    <dgm:cxn modelId="{04C74B75-6EF8-4DBA-A773-E52111C2CE80}" type="presParOf" srcId="{41D66D5A-B34D-4C3E-BB1F-71E5BF7E529C}" destId="{38794080-5CEF-4681-8228-E80B177CE695}" srcOrd="3" destOrd="0" presId="urn:microsoft.com/office/officeart/2026/layout/TextCardSideLineNumbered"/>
    <dgm:cxn modelId="{72CE89AB-20F4-4AA2-9F65-CDA7F8FA3C34}" type="presParOf" srcId="{41D66D5A-B34D-4C3E-BB1F-71E5BF7E529C}" destId="{FF85EB2E-1004-49A0-9675-46A8957A8109}" srcOrd="4" destOrd="0" presId="urn:microsoft.com/office/officeart/2026/layout/TextCardSideLineNumbered"/>
    <dgm:cxn modelId="{D2455C38-E7A1-4AE6-A9FC-E5974D04D98E}" type="presParOf" srcId="{FF85EB2E-1004-49A0-9675-46A8957A8109}" destId="{B0D60534-06A3-45AF-9355-A3BAC0922ECD}" srcOrd="0" destOrd="0" presId="urn:microsoft.com/office/officeart/2026/layout/TextCardSideLineNumbered"/>
    <dgm:cxn modelId="{FCDDA1A2-2604-4ED6-86F7-22B1D80E0306}" type="presParOf" srcId="{FF85EB2E-1004-49A0-9675-46A8957A8109}" destId="{F877C7CA-020B-43BB-B97D-90459C9E540A}" srcOrd="1" destOrd="0" presId="urn:microsoft.com/office/officeart/2026/layout/TextCardSideLineNumbered"/>
    <dgm:cxn modelId="{59F3311A-5045-4CA1-BCFC-C160D5BFCE6C}" type="presParOf" srcId="{FF85EB2E-1004-49A0-9675-46A8957A8109}" destId="{8F1290A8-EE31-4D8C-ABD6-A1B3ED41C2D5}" srcOrd="2" destOrd="0" presId="urn:microsoft.com/office/officeart/2026/layout/TextCardSideLineNumbered"/>
    <dgm:cxn modelId="{6351340B-A8C6-4C20-848B-C997C582E5A3}" type="presParOf" srcId="{FF85EB2E-1004-49A0-9675-46A8957A8109}" destId="{0B400828-1CEC-43BE-93FA-F77CE1F0AC79}" srcOrd="3" destOrd="0" presId="urn:microsoft.com/office/officeart/2026/layout/TextCardSideLineNumbered"/>
    <dgm:cxn modelId="{E552FD49-39B2-4888-AED0-8345591F61BF}" type="presParOf" srcId="{41D66D5A-B34D-4C3E-BB1F-71E5BF7E529C}" destId="{D4C1589A-573D-47C0-9A2A-8BC125A30FB0}" srcOrd="5" destOrd="0" presId="urn:microsoft.com/office/officeart/2026/layout/TextCardSideLineNumbered"/>
    <dgm:cxn modelId="{09898836-6F1B-4978-A849-25A17D990A7E}" type="presParOf" srcId="{41D66D5A-B34D-4C3E-BB1F-71E5BF7E529C}" destId="{EB01474C-16E2-4ED5-975D-17EE236E4AAC}" srcOrd="6" destOrd="0" presId="urn:microsoft.com/office/officeart/2026/layout/TextCardSideLineNumbered"/>
    <dgm:cxn modelId="{49A4F07A-1049-42C7-981D-D3B3181CF799}" type="presParOf" srcId="{EB01474C-16E2-4ED5-975D-17EE236E4AAC}" destId="{B7CA89BD-4BCB-48A0-AF55-4D3059A3C37E}" srcOrd="0" destOrd="0" presId="urn:microsoft.com/office/officeart/2026/layout/TextCardSideLineNumbered"/>
    <dgm:cxn modelId="{10BD1ECA-A492-4CA7-BCC7-88DFF899F6F0}" type="presParOf" srcId="{EB01474C-16E2-4ED5-975D-17EE236E4AAC}" destId="{A19F07AB-F724-42DD-88B3-FF23C4CADD7C}" srcOrd="1" destOrd="0" presId="urn:microsoft.com/office/officeart/2026/layout/TextCardSideLineNumbered"/>
    <dgm:cxn modelId="{4FE27F77-D3D6-44BD-9CA4-885C88156F7E}" type="presParOf" srcId="{EB01474C-16E2-4ED5-975D-17EE236E4AAC}" destId="{9FF66C5D-9E0D-468B-AA05-92384599FA53}" srcOrd="2" destOrd="0" presId="urn:microsoft.com/office/officeart/2026/layout/TextCardSideLineNumbered"/>
    <dgm:cxn modelId="{431C4844-8D6A-453B-B0CD-85DEA2CB4739}" type="presParOf" srcId="{EB01474C-16E2-4ED5-975D-17EE236E4AAC}" destId="{1E0A2880-EF6A-4293-9613-B91C98F0FB82}" srcOrd="3" destOrd="0" presId="urn:microsoft.com/office/officeart/2026/layout/TextCardSideLine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B1AC2F-45FA-43E0-8372-3AD5A70D9805}">
      <dsp:nvSpPr>
        <dsp:cNvPr id="0" name=""/>
        <dsp:cNvSpPr/>
      </dsp:nvSpPr>
      <dsp:spPr>
        <a:xfrm rot="5400000">
          <a:off x="5387833" y="-3490132"/>
          <a:ext cx="1096673" cy="8081173"/>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5587" tIns="108327" rIns="105587" bIns="108327" numCol="1" spcCol="1270" anchor="ctr" anchorCtr="0">
          <a:noAutofit/>
        </a:bodyPr>
        <a:lstStyle/>
        <a:p>
          <a:pPr marL="0" lvl="0" indent="0" algn="l" defTabSz="1244600">
            <a:lnSpc>
              <a:spcPct val="90000"/>
            </a:lnSpc>
            <a:spcBef>
              <a:spcPct val="0"/>
            </a:spcBef>
            <a:spcAft>
              <a:spcPct val="35000"/>
            </a:spcAft>
            <a:buNone/>
          </a:pPr>
          <a:r>
            <a:rPr lang="en-IN" sz="2800" kern="1200" dirty="0"/>
            <a:t>         1</a:t>
          </a:r>
        </a:p>
      </dsp:txBody>
      <dsp:txXfrm rot="16200000">
        <a:off x="32120" y="34238"/>
        <a:ext cx="1963231" cy="1032433"/>
      </dsp:txXfrm>
    </dsp:sp>
    <dsp:sp modelId="{FB977C2A-C15F-4098-9F42-F23219BDAA1B}">
      <dsp:nvSpPr>
        <dsp:cNvPr id="0" name=""/>
        <dsp:cNvSpPr/>
      </dsp:nvSpPr>
      <dsp:spPr>
        <a:xfrm>
          <a:off x="1995351" y="2117"/>
          <a:ext cx="7981405" cy="109667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68940" tIns="108327" rIns="168940" bIns="108327" numCol="1" spcCol="1270" anchor="ctr" anchorCtr="0">
          <a:noAutofit/>
        </a:bodyPr>
        <a:lstStyle/>
        <a:p>
          <a:pPr marL="0" lvl="0" indent="0" algn="l" defTabSz="1066800">
            <a:lnSpc>
              <a:spcPct val="90000"/>
            </a:lnSpc>
            <a:spcBef>
              <a:spcPct val="0"/>
            </a:spcBef>
            <a:spcAft>
              <a:spcPct val="35000"/>
            </a:spcAft>
            <a:buNone/>
          </a:pPr>
          <a:r>
            <a:rPr lang="en-IN" sz="2400" kern="1200" dirty="0"/>
            <a:t>Added dynamic map visualisation for universities and famous attractions on home page</a:t>
          </a:r>
        </a:p>
      </dsp:txBody>
      <dsp:txXfrm>
        <a:off x="1995351" y="2117"/>
        <a:ext cx="7981405" cy="1096673"/>
      </dsp:txXfrm>
    </dsp:sp>
    <dsp:sp modelId="{31DAED7F-2AE3-490F-9D9F-7282BEEFF52B}">
      <dsp:nvSpPr>
        <dsp:cNvPr id="0" name=""/>
        <dsp:cNvSpPr/>
      </dsp:nvSpPr>
      <dsp:spPr>
        <a:xfrm rot="16200000">
          <a:off x="449339" y="-447221"/>
          <a:ext cx="1096673" cy="1995351"/>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587" tIns="108327" rIns="105587" bIns="108327" numCol="1" spcCol="1270" anchor="ctr" anchorCtr="0">
          <a:noAutofit/>
        </a:bodyPr>
        <a:lstStyle/>
        <a:p>
          <a:pPr marL="0" lvl="0" indent="0" algn="l" defTabSz="1244600">
            <a:lnSpc>
              <a:spcPct val="90000"/>
            </a:lnSpc>
            <a:spcBef>
              <a:spcPct val="0"/>
            </a:spcBef>
            <a:spcAft>
              <a:spcPct val="35000"/>
            </a:spcAft>
            <a:buNone/>
          </a:pPr>
          <a:r>
            <a:rPr lang="en-IN" sz="2800" kern="1200" dirty="0"/>
            <a:t>         1</a:t>
          </a:r>
        </a:p>
      </dsp:txBody>
      <dsp:txXfrm rot="5400000">
        <a:off x="32120" y="34238"/>
        <a:ext cx="1963231" cy="1032433"/>
      </dsp:txXfrm>
    </dsp:sp>
    <dsp:sp modelId="{77F3C80A-AC85-4733-A21D-AE6D7EE11260}">
      <dsp:nvSpPr>
        <dsp:cNvPr id="0" name=""/>
        <dsp:cNvSpPr/>
      </dsp:nvSpPr>
      <dsp:spPr>
        <a:xfrm rot="5400000">
          <a:off x="5387833" y="-2327658"/>
          <a:ext cx="1096673" cy="8081173"/>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5587" tIns="108327" rIns="105587" bIns="108327" numCol="1" spcCol="1270" anchor="ctr" anchorCtr="0">
          <a:noAutofit/>
        </a:bodyPr>
        <a:lstStyle/>
        <a:p>
          <a:pPr marL="0" lvl="0" indent="0" algn="l" defTabSz="1244600">
            <a:lnSpc>
              <a:spcPct val="90000"/>
            </a:lnSpc>
            <a:spcBef>
              <a:spcPct val="0"/>
            </a:spcBef>
            <a:spcAft>
              <a:spcPct val="35000"/>
            </a:spcAft>
            <a:buNone/>
          </a:pPr>
          <a:r>
            <a:rPr lang="en-IN" sz="2800" kern="1200" dirty="0"/>
            <a:t>         2</a:t>
          </a:r>
        </a:p>
      </dsp:txBody>
      <dsp:txXfrm rot="16200000">
        <a:off x="32120" y="1196710"/>
        <a:ext cx="1963231" cy="1032433"/>
      </dsp:txXfrm>
    </dsp:sp>
    <dsp:sp modelId="{B1F31A71-2889-4CB8-93BE-D4CB876156AD}">
      <dsp:nvSpPr>
        <dsp:cNvPr id="0" name=""/>
        <dsp:cNvSpPr/>
      </dsp:nvSpPr>
      <dsp:spPr>
        <a:xfrm>
          <a:off x="1995351" y="1164590"/>
          <a:ext cx="7981405" cy="109667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68940" tIns="108327" rIns="168940" bIns="108327" numCol="1" spcCol="1270" anchor="ctr" anchorCtr="0">
          <a:noAutofit/>
        </a:bodyPr>
        <a:lstStyle/>
        <a:p>
          <a:pPr marL="0" lvl="0" indent="0" algn="l" defTabSz="1066800">
            <a:lnSpc>
              <a:spcPct val="90000"/>
            </a:lnSpc>
            <a:spcBef>
              <a:spcPct val="0"/>
            </a:spcBef>
            <a:spcAft>
              <a:spcPct val="35000"/>
            </a:spcAft>
            <a:buNone/>
          </a:pPr>
          <a:r>
            <a:rPr lang="en-IN" sz="2400" kern="1200" dirty="0"/>
            <a:t>Made detailed how it works page</a:t>
          </a:r>
        </a:p>
      </dsp:txBody>
      <dsp:txXfrm>
        <a:off x="1995351" y="1164590"/>
        <a:ext cx="7981405" cy="1096673"/>
      </dsp:txXfrm>
    </dsp:sp>
    <dsp:sp modelId="{3EB36ECC-34C3-4A11-9B86-1043960EC89C}">
      <dsp:nvSpPr>
        <dsp:cNvPr id="0" name=""/>
        <dsp:cNvSpPr/>
      </dsp:nvSpPr>
      <dsp:spPr>
        <a:xfrm rot="16200000">
          <a:off x="449339" y="715251"/>
          <a:ext cx="1096673" cy="1995351"/>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587" tIns="108327" rIns="105587" bIns="108327" numCol="1" spcCol="1270" anchor="ctr" anchorCtr="0">
          <a:noAutofit/>
        </a:bodyPr>
        <a:lstStyle/>
        <a:p>
          <a:pPr marL="0" lvl="0" indent="0" algn="l" defTabSz="1244600">
            <a:lnSpc>
              <a:spcPct val="90000"/>
            </a:lnSpc>
            <a:spcBef>
              <a:spcPct val="0"/>
            </a:spcBef>
            <a:spcAft>
              <a:spcPct val="35000"/>
            </a:spcAft>
            <a:buNone/>
          </a:pPr>
          <a:r>
            <a:rPr lang="en-IN" sz="2800" kern="1200" dirty="0"/>
            <a:t>         2</a:t>
          </a:r>
        </a:p>
      </dsp:txBody>
      <dsp:txXfrm rot="5400000">
        <a:off x="32120" y="1196710"/>
        <a:ext cx="1963231" cy="1032433"/>
      </dsp:txXfrm>
    </dsp:sp>
    <dsp:sp modelId="{6BDEE187-806F-46B7-ACE1-1EFC318C4BC4}">
      <dsp:nvSpPr>
        <dsp:cNvPr id="0" name=""/>
        <dsp:cNvSpPr/>
      </dsp:nvSpPr>
      <dsp:spPr>
        <a:xfrm rot="5400000">
          <a:off x="5387833" y="-1165185"/>
          <a:ext cx="1096673" cy="8081173"/>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5587" tIns="108327" rIns="105587" bIns="108327" numCol="1" spcCol="1270" anchor="ctr" anchorCtr="0">
          <a:noAutofit/>
        </a:bodyPr>
        <a:lstStyle/>
        <a:p>
          <a:pPr marL="0" lvl="0" indent="0" algn="l" defTabSz="1244600">
            <a:lnSpc>
              <a:spcPct val="90000"/>
            </a:lnSpc>
            <a:spcBef>
              <a:spcPct val="0"/>
            </a:spcBef>
            <a:spcAft>
              <a:spcPct val="35000"/>
            </a:spcAft>
            <a:buNone/>
          </a:pPr>
          <a:r>
            <a:rPr lang="en-IN" sz="2800" kern="1200" dirty="0"/>
            <a:t>         3</a:t>
          </a:r>
        </a:p>
      </dsp:txBody>
      <dsp:txXfrm rot="16200000">
        <a:off x="32120" y="2359184"/>
        <a:ext cx="1963231" cy="1032433"/>
      </dsp:txXfrm>
    </dsp:sp>
    <dsp:sp modelId="{5BAFF523-EB47-455D-8003-D5DD7C41E77E}">
      <dsp:nvSpPr>
        <dsp:cNvPr id="0" name=""/>
        <dsp:cNvSpPr/>
      </dsp:nvSpPr>
      <dsp:spPr>
        <a:xfrm>
          <a:off x="1995351" y="2327064"/>
          <a:ext cx="7981405" cy="109667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68940" tIns="108327" rIns="168940" bIns="108327" numCol="1" spcCol="1270" anchor="ctr" anchorCtr="0">
          <a:noAutofit/>
        </a:bodyPr>
        <a:lstStyle/>
        <a:p>
          <a:pPr marL="0" lvl="0" indent="0" algn="l" defTabSz="1066800">
            <a:lnSpc>
              <a:spcPct val="90000"/>
            </a:lnSpc>
            <a:spcBef>
              <a:spcPct val="0"/>
            </a:spcBef>
            <a:spcAft>
              <a:spcPct val="35000"/>
            </a:spcAft>
            <a:buNone/>
          </a:pPr>
          <a:r>
            <a:rPr lang="en-IN" sz="2400" kern="1200" dirty="0"/>
            <a:t>Changed questionnaire layout and updated background</a:t>
          </a:r>
        </a:p>
      </dsp:txBody>
      <dsp:txXfrm>
        <a:off x="1995351" y="2327064"/>
        <a:ext cx="7981405" cy="1096673"/>
      </dsp:txXfrm>
    </dsp:sp>
    <dsp:sp modelId="{2756DE58-EA8B-4DBA-8F54-39CF994136AC}">
      <dsp:nvSpPr>
        <dsp:cNvPr id="0" name=""/>
        <dsp:cNvSpPr/>
      </dsp:nvSpPr>
      <dsp:spPr>
        <a:xfrm rot="16200000">
          <a:off x="449339" y="1877725"/>
          <a:ext cx="1096673" cy="1995351"/>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587" tIns="108327" rIns="105587" bIns="108327" numCol="1" spcCol="1270" anchor="ctr" anchorCtr="0">
          <a:noAutofit/>
        </a:bodyPr>
        <a:lstStyle/>
        <a:p>
          <a:pPr marL="0" lvl="0" indent="0" algn="l" defTabSz="1244600">
            <a:lnSpc>
              <a:spcPct val="90000"/>
            </a:lnSpc>
            <a:spcBef>
              <a:spcPct val="0"/>
            </a:spcBef>
            <a:spcAft>
              <a:spcPct val="35000"/>
            </a:spcAft>
            <a:buNone/>
          </a:pPr>
          <a:r>
            <a:rPr lang="en-IN" sz="2800" kern="1200" dirty="0"/>
            <a:t>         3</a:t>
          </a:r>
        </a:p>
      </dsp:txBody>
      <dsp:txXfrm rot="5400000">
        <a:off x="32120" y="2359184"/>
        <a:ext cx="1963231" cy="1032433"/>
      </dsp:txXfrm>
    </dsp:sp>
    <dsp:sp modelId="{07E3C392-0131-4267-8D91-D042F9FF51A1}">
      <dsp:nvSpPr>
        <dsp:cNvPr id="0" name=""/>
        <dsp:cNvSpPr/>
      </dsp:nvSpPr>
      <dsp:spPr>
        <a:xfrm rot="5400000">
          <a:off x="5387833" y="-2711"/>
          <a:ext cx="1096673" cy="8081173"/>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5587" tIns="108327" rIns="105587" bIns="108327" numCol="1" spcCol="1270" anchor="ctr" anchorCtr="0">
          <a:noAutofit/>
        </a:bodyPr>
        <a:lstStyle/>
        <a:p>
          <a:pPr marL="0" lvl="0" indent="0" algn="l" defTabSz="1244600">
            <a:lnSpc>
              <a:spcPct val="90000"/>
            </a:lnSpc>
            <a:spcBef>
              <a:spcPct val="0"/>
            </a:spcBef>
            <a:spcAft>
              <a:spcPct val="35000"/>
            </a:spcAft>
            <a:buNone/>
          </a:pPr>
          <a:r>
            <a:rPr lang="en-IN" sz="2800" kern="1200" dirty="0"/>
            <a:t>         4</a:t>
          </a:r>
        </a:p>
      </dsp:txBody>
      <dsp:txXfrm rot="16200000">
        <a:off x="32120" y="3521658"/>
        <a:ext cx="1963231" cy="1032433"/>
      </dsp:txXfrm>
    </dsp:sp>
    <dsp:sp modelId="{E724C580-8062-49AB-8723-6E774EF10362}">
      <dsp:nvSpPr>
        <dsp:cNvPr id="0" name=""/>
        <dsp:cNvSpPr/>
      </dsp:nvSpPr>
      <dsp:spPr>
        <a:xfrm>
          <a:off x="1995351" y="3489538"/>
          <a:ext cx="7981405" cy="109667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68940" tIns="108327" rIns="168940" bIns="108327" numCol="1" spcCol="1270" anchor="ctr" anchorCtr="0">
          <a:noAutofit/>
        </a:bodyPr>
        <a:lstStyle/>
        <a:p>
          <a:pPr marL="0" lvl="0" indent="0" algn="l" defTabSz="977900">
            <a:lnSpc>
              <a:spcPct val="90000"/>
            </a:lnSpc>
            <a:spcBef>
              <a:spcPct val="0"/>
            </a:spcBef>
            <a:spcAft>
              <a:spcPct val="35000"/>
            </a:spcAft>
            <a:buNone/>
          </a:pPr>
          <a:r>
            <a:rPr lang="en-IN" sz="2200" kern="1200" dirty="0"/>
            <a:t>Added amenities data to journey planner map with subsections like </a:t>
          </a:r>
          <a:r>
            <a:rPr lang="en-IN" sz="2200" kern="1200" dirty="0" err="1"/>
            <a:t>lidl</a:t>
          </a:r>
          <a:r>
            <a:rPr lang="en-IN" sz="2200" kern="1200" dirty="0"/>
            <a:t>, </a:t>
          </a:r>
          <a:r>
            <a:rPr lang="en-IN" sz="2200" kern="1200" dirty="0" err="1"/>
            <a:t>tesco</a:t>
          </a:r>
          <a:r>
            <a:rPr lang="en-IN" sz="2200" kern="1200" dirty="0"/>
            <a:t>, spar, </a:t>
          </a:r>
          <a:r>
            <a:rPr lang="en-IN" sz="2200" kern="1200" dirty="0" err="1"/>
            <a:t>aldi</a:t>
          </a:r>
          <a:r>
            <a:rPr lang="en-IN" sz="2200" kern="1200" dirty="0"/>
            <a:t>, etc</a:t>
          </a:r>
        </a:p>
      </dsp:txBody>
      <dsp:txXfrm>
        <a:off x="1995351" y="3489538"/>
        <a:ext cx="7981405" cy="1096673"/>
      </dsp:txXfrm>
    </dsp:sp>
    <dsp:sp modelId="{1BE1D54B-C6B3-4BDD-AC7E-75BFBF7B612A}">
      <dsp:nvSpPr>
        <dsp:cNvPr id="0" name=""/>
        <dsp:cNvSpPr/>
      </dsp:nvSpPr>
      <dsp:spPr>
        <a:xfrm rot="16200000">
          <a:off x="449339" y="3040199"/>
          <a:ext cx="1096673" cy="1995351"/>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587" tIns="108327" rIns="105587" bIns="108327" numCol="1" spcCol="1270" anchor="ctr" anchorCtr="0">
          <a:noAutofit/>
        </a:bodyPr>
        <a:lstStyle/>
        <a:p>
          <a:pPr marL="0" lvl="0" indent="0" algn="l" defTabSz="1244600">
            <a:lnSpc>
              <a:spcPct val="90000"/>
            </a:lnSpc>
            <a:spcBef>
              <a:spcPct val="0"/>
            </a:spcBef>
            <a:spcAft>
              <a:spcPct val="35000"/>
            </a:spcAft>
            <a:buNone/>
          </a:pPr>
          <a:r>
            <a:rPr lang="en-IN" sz="2800" kern="1200" dirty="0"/>
            <a:t>         4</a:t>
          </a:r>
        </a:p>
      </dsp:txBody>
      <dsp:txXfrm rot="5400000">
        <a:off x="32120" y="3521658"/>
        <a:ext cx="1963231" cy="1032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8D09E6-5727-4324-94AC-588F65F8BB80}">
      <dsp:nvSpPr>
        <dsp:cNvPr id="0" name=""/>
        <dsp:cNvSpPr/>
      </dsp:nvSpPr>
      <dsp:spPr>
        <a:xfrm>
          <a:off x="413649" y="919059"/>
          <a:ext cx="20848" cy="2792881"/>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7704A8-4401-4E53-A20E-3E3988BD0097}">
      <dsp:nvSpPr>
        <dsp:cNvPr id="0" name=""/>
        <dsp:cNvSpPr/>
      </dsp:nvSpPr>
      <dsp:spPr>
        <a:xfrm>
          <a:off x="596072" y="974916"/>
          <a:ext cx="2423617" cy="837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133600">
            <a:lnSpc>
              <a:spcPct val="90000"/>
            </a:lnSpc>
            <a:spcBef>
              <a:spcPct val="0"/>
            </a:spcBef>
            <a:spcAft>
              <a:spcPct val="35000"/>
            </a:spcAft>
            <a:buNone/>
            <a:defRPr b="1"/>
          </a:pPr>
          <a:r>
            <a:rPr sz="4800" kern="1200"/>
            <a:t>1</a:t>
          </a:r>
        </a:p>
      </dsp:txBody>
      <dsp:txXfrm>
        <a:off x="596072" y="974916"/>
        <a:ext cx="2423617" cy="837864"/>
      </dsp:txXfrm>
    </dsp:sp>
    <dsp:sp modelId="{02DA3509-155A-4300-B123-C30DFB29D9F7}">
      <dsp:nvSpPr>
        <dsp:cNvPr id="0" name=""/>
        <dsp:cNvSpPr/>
      </dsp:nvSpPr>
      <dsp:spPr>
        <a:xfrm>
          <a:off x="596072" y="1868638"/>
          <a:ext cx="2423617" cy="614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IN" sz="2000" kern="1200" dirty="0"/>
            <a:t>Bus Network Integration</a:t>
          </a:r>
        </a:p>
      </dsp:txBody>
      <dsp:txXfrm>
        <a:off x="596072" y="1868638"/>
        <a:ext cx="2423617" cy="614433"/>
      </dsp:txXfrm>
    </dsp:sp>
    <dsp:sp modelId="{D2ECAC70-D611-44AF-9F13-CA952163FECA}">
      <dsp:nvSpPr>
        <dsp:cNvPr id="0" name=""/>
        <dsp:cNvSpPr/>
      </dsp:nvSpPr>
      <dsp:spPr>
        <a:xfrm>
          <a:off x="596072" y="2538930"/>
          <a:ext cx="2423617" cy="117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IN" sz="2000" kern="1200" dirty="0"/>
            <a:t>Collect Dublin Bus and Go Ahead Ireland routes, stops, schedules and connections data </a:t>
          </a:r>
        </a:p>
      </dsp:txBody>
      <dsp:txXfrm>
        <a:off x="596072" y="2538930"/>
        <a:ext cx="2423617" cy="1173010"/>
      </dsp:txXfrm>
    </dsp:sp>
    <dsp:sp modelId="{D9275C7E-805B-434E-AA0F-DC1180EBECF4}">
      <dsp:nvSpPr>
        <dsp:cNvPr id="0" name=""/>
        <dsp:cNvSpPr/>
      </dsp:nvSpPr>
      <dsp:spPr>
        <a:xfrm>
          <a:off x="3217748" y="919059"/>
          <a:ext cx="20848" cy="2792881"/>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432E58-D4B3-40D9-BAC1-B5050F1972DA}">
      <dsp:nvSpPr>
        <dsp:cNvPr id="0" name=""/>
        <dsp:cNvSpPr/>
      </dsp:nvSpPr>
      <dsp:spPr>
        <a:xfrm>
          <a:off x="3400171" y="974916"/>
          <a:ext cx="2423617" cy="837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133600">
            <a:lnSpc>
              <a:spcPct val="90000"/>
            </a:lnSpc>
            <a:spcBef>
              <a:spcPct val="0"/>
            </a:spcBef>
            <a:spcAft>
              <a:spcPct val="35000"/>
            </a:spcAft>
            <a:buNone/>
            <a:defRPr b="1"/>
          </a:pPr>
          <a:r>
            <a:rPr sz="4800" kern="1200"/>
            <a:t>2</a:t>
          </a:r>
        </a:p>
      </dsp:txBody>
      <dsp:txXfrm>
        <a:off x="3400171" y="974916"/>
        <a:ext cx="2423617" cy="837864"/>
      </dsp:txXfrm>
    </dsp:sp>
    <dsp:sp modelId="{77E0F3FA-BC36-43A6-A609-F3F5ABB83EDC}">
      <dsp:nvSpPr>
        <dsp:cNvPr id="0" name=""/>
        <dsp:cNvSpPr/>
      </dsp:nvSpPr>
      <dsp:spPr>
        <a:xfrm>
          <a:off x="3400171" y="1868638"/>
          <a:ext cx="2423617" cy="614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IN" sz="2000" kern="1200" dirty="0"/>
            <a:t>Rail and Luas Network</a:t>
          </a:r>
        </a:p>
      </dsp:txBody>
      <dsp:txXfrm>
        <a:off x="3400171" y="1868638"/>
        <a:ext cx="2423617" cy="614433"/>
      </dsp:txXfrm>
    </dsp:sp>
    <dsp:sp modelId="{E336C749-1762-4E0F-A403-014E37F109EA}">
      <dsp:nvSpPr>
        <dsp:cNvPr id="0" name=""/>
        <dsp:cNvSpPr/>
      </dsp:nvSpPr>
      <dsp:spPr>
        <a:xfrm>
          <a:off x="3400171" y="2538930"/>
          <a:ext cx="2423617" cy="117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IN" sz="2000" kern="1200" dirty="0"/>
            <a:t>Collect station locations, routes, stops, timetables and service connections data</a:t>
          </a:r>
        </a:p>
      </dsp:txBody>
      <dsp:txXfrm>
        <a:off x="3400171" y="2538930"/>
        <a:ext cx="2423617" cy="1173010"/>
      </dsp:txXfrm>
    </dsp:sp>
    <dsp:sp modelId="{B0D60534-06A3-45AF-9355-A3BAC0922ECD}">
      <dsp:nvSpPr>
        <dsp:cNvPr id="0" name=""/>
        <dsp:cNvSpPr/>
      </dsp:nvSpPr>
      <dsp:spPr>
        <a:xfrm>
          <a:off x="6021847" y="919059"/>
          <a:ext cx="20848" cy="2792881"/>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77C7CA-020B-43BB-B97D-90459C9E540A}">
      <dsp:nvSpPr>
        <dsp:cNvPr id="0" name=""/>
        <dsp:cNvSpPr/>
      </dsp:nvSpPr>
      <dsp:spPr>
        <a:xfrm>
          <a:off x="6204270" y="974916"/>
          <a:ext cx="2423617" cy="837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133600">
            <a:lnSpc>
              <a:spcPct val="90000"/>
            </a:lnSpc>
            <a:spcBef>
              <a:spcPct val="0"/>
            </a:spcBef>
            <a:spcAft>
              <a:spcPct val="35000"/>
            </a:spcAft>
            <a:buNone/>
            <a:defRPr b="1"/>
          </a:pPr>
          <a:r>
            <a:rPr sz="4800" kern="1200"/>
            <a:t>3</a:t>
          </a:r>
          <a:endParaRPr sz="4800" kern="1200" dirty="0"/>
        </a:p>
      </dsp:txBody>
      <dsp:txXfrm>
        <a:off x="6204270" y="974916"/>
        <a:ext cx="2423617" cy="837864"/>
      </dsp:txXfrm>
    </dsp:sp>
    <dsp:sp modelId="{8F1290A8-EE31-4D8C-ABD6-A1B3ED41C2D5}">
      <dsp:nvSpPr>
        <dsp:cNvPr id="0" name=""/>
        <dsp:cNvSpPr/>
      </dsp:nvSpPr>
      <dsp:spPr>
        <a:xfrm>
          <a:off x="6204270" y="1868638"/>
          <a:ext cx="2423617" cy="614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IN" sz="2000" kern="1200" dirty="0"/>
            <a:t>Leap Card &amp; Fare Information</a:t>
          </a:r>
        </a:p>
      </dsp:txBody>
      <dsp:txXfrm>
        <a:off x="6204270" y="1868638"/>
        <a:ext cx="2423617" cy="614433"/>
      </dsp:txXfrm>
    </dsp:sp>
    <dsp:sp modelId="{0B400828-1CEC-43BE-93FA-F77CE1F0AC79}">
      <dsp:nvSpPr>
        <dsp:cNvPr id="0" name=""/>
        <dsp:cNvSpPr/>
      </dsp:nvSpPr>
      <dsp:spPr>
        <a:xfrm>
          <a:off x="6204270" y="2564150"/>
          <a:ext cx="2423617" cy="117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IN" sz="2000" kern="1200" dirty="0"/>
            <a:t>Investigate different Leap Card options, fare, daily and weekly caps, 90 minute fares, ticket plans and eligibility conditions</a:t>
          </a:r>
        </a:p>
      </dsp:txBody>
      <dsp:txXfrm>
        <a:off x="6204270" y="2564150"/>
        <a:ext cx="2423617" cy="1173010"/>
      </dsp:txXfrm>
    </dsp:sp>
    <dsp:sp modelId="{B7CA89BD-4BCB-48A0-AF55-4D3059A3C37E}">
      <dsp:nvSpPr>
        <dsp:cNvPr id="0" name=""/>
        <dsp:cNvSpPr/>
      </dsp:nvSpPr>
      <dsp:spPr>
        <a:xfrm>
          <a:off x="8825946" y="919059"/>
          <a:ext cx="20848" cy="2792881"/>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9F07AB-F724-42DD-88B3-FF23C4CADD7C}">
      <dsp:nvSpPr>
        <dsp:cNvPr id="0" name=""/>
        <dsp:cNvSpPr/>
      </dsp:nvSpPr>
      <dsp:spPr>
        <a:xfrm>
          <a:off x="9008369" y="974916"/>
          <a:ext cx="2423617" cy="837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133600">
            <a:lnSpc>
              <a:spcPct val="90000"/>
            </a:lnSpc>
            <a:spcBef>
              <a:spcPct val="0"/>
            </a:spcBef>
            <a:spcAft>
              <a:spcPct val="35000"/>
            </a:spcAft>
            <a:buNone/>
            <a:defRPr b="1"/>
          </a:pPr>
          <a:r>
            <a:rPr lang="en-IN" sz="4800" kern="1200"/>
            <a:t>4</a:t>
          </a:r>
        </a:p>
      </dsp:txBody>
      <dsp:txXfrm>
        <a:off x="9008369" y="974916"/>
        <a:ext cx="2423617" cy="837864"/>
      </dsp:txXfrm>
    </dsp:sp>
    <dsp:sp modelId="{9FF66C5D-9E0D-468B-AA05-92384599FA53}">
      <dsp:nvSpPr>
        <dsp:cNvPr id="0" name=""/>
        <dsp:cNvSpPr/>
      </dsp:nvSpPr>
      <dsp:spPr>
        <a:xfrm>
          <a:off x="9008369" y="1868638"/>
          <a:ext cx="2423617" cy="6144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IN" sz="2000" kern="1200" dirty="0"/>
            <a:t>Transport Apps &amp; Travel Regulations</a:t>
          </a:r>
        </a:p>
      </dsp:txBody>
      <dsp:txXfrm>
        <a:off x="9008369" y="1868638"/>
        <a:ext cx="2423617" cy="614433"/>
      </dsp:txXfrm>
    </dsp:sp>
    <dsp:sp modelId="{1E0A2880-EF6A-4293-9613-B91C98F0FB82}">
      <dsp:nvSpPr>
        <dsp:cNvPr id="0" name=""/>
        <dsp:cNvSpPr/>
      </dsp:nvSpPr>
      <dsp:spPr>
        <a:xfrm>
          <a:off x="9008369" y="2538930"/>
          <a:ext cx="2423617" cy="117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IN" sz="2000" kern="1200" dirty="0"/>
            <a:t>Explore travel apps like TFI Live, TFI Leap card and review rules and </a:t>
          </a:r>
          <a:r>
            <a:rPr lang="en-IN" sz="2000" kern="1200"/>
            <a:t>regulations </a:t>
          </a:r>
          <a:endParaRPr lang="en-IN" sz="2000" kern="1200" dirty="0"/>
        </a:p>
      </dsp:txBody>
      <dsp:txXfrm>
        <a:off x="9008369" y="2538930"/>
        <a:ext cx="2423617" cy="1173010"/>
      </dsp:txXfrm>
    </dsp:sp>
  </dsp:spTree>
</dsp:drawing>
</file>

<file path=ppt/diagrams/layout1.xml><?xml version="1.0" encoding="utf-8"?>
<dgm:layoutDef xmlns:dgm="http://schemas.openxmlformats.org/drawingml/2006/diagram" xmlns:a="http://schemas.openxmlformats.org/drawingml/2006/main" uniqueId="urn:microsoft.com/office/officeart/2024/layout/VerticalActionList">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stBulletLvl" val="0"/>
            <dgm:param type="parTxLTRAlign" val="l"/>
            <dgm:param type="shpTxLTRAlignCh" val="l"/>
            <dgm:param type="parTxRTLAlign" val="r"/>
            <dgm:param type="shpTxRTLAlignCh" val="r"/>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26/layout/TextCardSideLineNumbered">
  <dgm:title val=""/>
  <dgm:desc val=""/>
  <dgm:catLst>
    <dgm:cat type="textcard" pri="100"/>
  </dgm:catLst>
  <dgm:sampData>
    <dgm:dataModel>
      <dgm:ptLst>
        <dgm:pt modelId="0" type="doc"/>
        <dgm:pt modelId="10">
          <dgm:prSet phldrT="Title" phldr="1"/>
        </dgm:pt>
        <dgm:pt modelId="11">
          <dgm:prSet phldrT="Description" phldr="1"/>
        </dgm:pt>
        <dgm:pt modelId="20">
          <dgm:prSet phldrT="Title" phldr="1"/>
        </dgm:pt>
        <dgm:pt modelId="21">
          <dgm:prSet phldrT="Description" phldr="1"/>
        </dgm:pt>
        <dgm:pt modelId="30">
          <dgm:prSet phldrT="Title" phldr="1"/>
        </dgm:pt>
        <dgm:pt modelId="31">
          <dgm:prSet phldrT="Description" phldr="1"/>
        </dgm:pt>
        <dgm:pt modelId="101" type="sibTrans" cxnId="{8FF3DA75-9BAC-44B5-BB13-07D9031ED9A1}">
          <dgm:prSet phldrT="1"/>
          <dgm:t>
            <a:bodyPr/>
            <a:lstStyle/>
            <a:p>
              <a:r>
                <a:t>1</a:t>
              </a:r>
            </a:p>
          </dgm:t>
        </dgm:pt>
        <dgm:pt modelId="201" type="sibTrans" cxnId="{98CE6904-8883-471B-91A0-CA92EF175183}">
          <dgm:prSet phldrT="2"/>
          <dgm:t>
            <a:bodyPr/>
            <a:lstStyle/>
            <a:p>
              <a:r>
                <a:t>2</a:t>
              </a:r>
            </a:p>
          </dgm:t>
        </dgm:pt>
        <dgm:pt modelId="301" type="sibTrans" cxnId="{91406F63-012E-42FC-8422-B92366F09A39}">
          <dgm:prSet phldrT="3"/>
          <dgm:t>
            <a:bodyPr/>
            <a:lstStyle/>
            <a:p>
              <a:r>
                <a:t>3</a:t>
              </a:r>
            </a:p>
          </dgm:t>
        </dgm:pt>
      </dgm:ptLst>
      <dgm:cxnLst>
        <dgm:cxn modelId="100" srcId="0" destId="10" srcOrd="0" destOrd="0" sibTransId="101"/>
        <dgm:cxn modelId="101" srcId="10" destId="11" srcOrd="0" destOrd="0"/>
        <dgm:cxn modelId="102" srcId="0" destId="20" srcOrd="1" destOrd="0" sibTransId="201"/>
        <dgm:cxn modelId="103" srcId="20" destId="21" srcOrd="0" destOrd="0"/>
        <dgm:cxn modelId="104" srcId="0" destId="30" srcOrd="2" destOrd="0" sibTransId="301"/>
        <dgm:cxn modelId="105" srcId="30" destId="3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choose name="RowBalLTR">
          <dgm:if name="RB1" axis="ch" ptType="node" func="cnt" op="lte" val="4">
            <dgm:alg type="snake">
              <dgm:param type="grDir" val="tL"/>
              <dgm:param type="flowDir" val="row"/>
              <dgm:param type="contDir" val="sameDir"/>
              <dgm:param type="off" val="off"/>
              <dgm:param type="vertAlign" val="mid"/>
              <dgm:param type="horzAlign" val="ctr"/>
            </dgm:alg>
          </dgm:if>
          <dgm:else name="RB2">
            <dgm:alg type="snake">
              <dgm:param type="grDir" val="tL"/>
              <dgm:param type="flowDir" val="row"/>
              <dgm:param type="contDir" val="sameDir"/>
              <dgm:param type="off" val="off"/>
              <dgm:param type="vertAlign" val="mid"/>
              <dgm:param type="horzAlign" val="ctr"/>
              <dgm:param type="bkpt" val="bal"/>
            </dgm:alg>
          </dgm:else>
        </dgm:choose>
      </dgm:if>
      <dgm:else name="Name2">
        <dgm:choose name="RowBalRTL">
          <dgm:if name="RB3" axis="ch" ptType="node" func="cnt" op="lte" val="4">
            <dgm:alg type="snake">
              <dgm:param type="grDir" val="tR"/>
              <dgm:param type="flowDir" val="row"/>
              <dgm:param type="contDir" val="sameDir"/>
              <dgm:param type="off" val="off"/>
              <dgm:param type="vertAlign" val="mid"/>
              <dgm:param type="horzAlign" val="ctr"/>
            </dgm:alg>
          </dgm:if>
          <dgm:else name="RB4">
            <dgm:alg type="snake">
              <dgm:param type="grDir" val="tR"/>
              <dgm:param type="flowDir" val="row"/>
              <dgm:param type="contDir" val="sameDir"/>
              <dgm:param type="off" val="off"/>
              <dgm:param type="vertAlign" val="mid"/>
              <dgm:param type="horzAlign" val="ctr"/>
              <dgm:param type="bkpt" val="bal"/>
            </dgm:alg>
          </dgm:else>
        </dgm:choose>
      </dgm:else>
    </dgm:choose>
    <dgm:shape xmlns:r="http://schemas.openxmlformats.org/officeDocument/2006/relationships" r:blip="">
      <dgm:adjLst/>
    </dgm:shape>
    <dgm:presOf/>
    <dgm:choose name="Name3">
      <dgm:if name="Name4" axis="ch" ptType="node" func="cnt" op="lte" val="2">
        <dgm:constrLst>
          <dgm:constr type="w" for="ch" forName="compNode" refType="w" fact="0.3"/>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if>
      <dgm:if name="Name5" axis="ch" ptType="node" func="cnt" op="lte" val="3">
        <dgm:constrLst>
          <dgm:constr type="w" for="ch" forName="compNode" refType="w" fact="0.3"/>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if>
      <dgm:if name="Name5b" axis="ch" ptType="node" func="cnt" op="lte" val="4">
        <dgm:constrLst>
          <dgm:constr type="w" for="ch" forName="compNode" refType="w" fact="0.22"/>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if>
      <dgm:if name="Name6" axis="ch" ptType="node" func="cnt" op="lte" val="6">
        <dgm:constrLst>
          <dgm:constr type="w" for="ch" forName="compNode" refType="w" fact="0.3"/>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if>
      <dgm:else name="Name7">
        <dgm:constrLst>
          <dgm:constr type="w" for="ch" forName="compNode" refType="w" fact="0.3"/>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else>
    </dgm:choose>
    <dgm:ruleLst>
      <dgm:rule type="h"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l" for="ch" forName="accentLine"/>
          <dgm:constr type="t" for="ch" forName="accentLine"/>
          <dgm:constr type="w" for="ch" forName="accentLine" refType="w" fact="0.008"/>
          <dgm:constr type="h" for="ch" forName="accentLine" refType="h"/>
          <dgm:constr type="l" for="ch" forName="numberText" refType="w" fact="0.07"/>
          <dgm:constr type="t" for="ch" forName="numberText" refType="h" fact="0.02"/>
          <dgm:constr type="w" for="ch" forName="numberText" refType="w" fact="0.93"/>
          <dgm:constr type="h" for="ch" forName="numberText" refType="h" fact="0.3"/>
          <dgm:constr type="l" for="ch" forName="titleText" refType="w" fact="0.07"/>
          <dgm:constr type="t" for="ch" forName="titleText" refType="h" fact="0.34"/>
          <dgm:constr type="w" for="ch" forName="titleText" refType="w" fact="0.93"/>
          <dgm:constr type="h" for="ch" forName="titleText" refType="h" fact="0.22"/>
          <dgm:constr type="l" for="ch" forName="bodyText" refType="w" fact="0.07"/>
          <dgm:constr type="t" for="ch" forName="bodyText" refType="h" fact="0.58"/>
          <dgm:constr type="w" for="ch" forName="bodyText" refType="w" fact="0.93"/>
          <dgm:constr type="h" for="ch" forName="bodyText" refType="h" fact="0.42"/>
        </dgm:constrLst>
        <dgm:ruleLst/>
        <dgm:layoutNode name="accentLine" styleLbl="dkBgShp">
          <dgm:alg type="sp"/>
          <dgm:shape xmlns:r="http://schemas.openxmlformats.org/officeDocument/2006/relationships" type="rect" r:blip="">
            <dgm:adjLst/>
            <dgm:extLst>
              <a:ext uri="{B698B0E9-8C71-41B9-8309-B3DCBF30829C}">
                <dgm1612:spPr xmlns:dgm1612="http://schemas.microsoft.com/office/drawing/2016/12/diagram">
                  <a:solidFill>
                    <a:schemeClr val="accent1"/>
                  </a:solidFill>
                </dgm1612:spPr>
              </a:ext>
            </dgm:extLst>
          </dgm:shape>
          <dgm:presOf/>
          <dgm:constrLst/>
          <dgm:ruleLst/>
        </dgm:layoutNode>
        <dgm:forEach name="numForEach" axis="followSib" ptType="sibTrans" hideLastTrans="0" cnt="1">
          <dgm:layoutNode name="numberText" styleLbl="revTx">
            <dgm:varLst>
              <dgm:chMax val="0"/>
              <dgm:chPref val="0"/>
              <dgm:bulletEnabled/>
            </dgm:varLst>
            <dgm:alg type="tx">
              <dgm:param type="txAnchorVert" val="b"/>
              <dgm:param type="parTxLTRAlign" val="l"/>
            </dgm:alg>
            <dgm:shape xmlns:r="http://schemas.openxmlformats.org/officeDocument/2006/relationships" type="rect" r:blip="">
              <dgm:adjLst/>
            </dgm:shape>
            <dgm:presOf axis="self" ptType="sibTrans"/>
            <dgm:constrLst>
              <dgm:constr type="lMarg"/>
              <dgm:constr type="rMarg"/>
              <dgm:constr type="tMarg"/>
              <dgm:constr type="bMarg"/>
            </dgm:constrLst>
            <dgm:ruleLst>
              <dgm:rule type="primFontSz" val="24" fact="NaN" max="NaN"/>
            </dgm:ruleLst>
          </dgm:layoutNode>
        </dgm:forEach>
        <dgm:layoutNode name="titleText" styleLbl="revTx">
          <dgm:varLst>
            <dgm:chMax val="0"/>
            <dgm:chPref val="0"/>
          </dgm:varLst>
          <dgm:alg type="tx">
            <dgm:param type="txAnchorVert" val="mid"/>
            <dgm:param type="parTxLTRAlign" val="l"/>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8" fact="NaN" max="NaN"/>
          </dgm:ruleLst>
        </dgm:layoutNode>
        <dgm:layoutNode name="bodyText" styleLbl="revTx">
          <dgm:varLst>
            <dgm:chMax val="0"/>
            <dgm:chPref val="0"/>
          </dgm:varLst>
          <dgm:alg type="tx">
            <dgm:param type="txAnchorVert" val="t"/>
            <dgm:param type="parTxLTRAlign" val="l"/>
          </dgm:alg>
          <dgm:shape xmlns:r="http://schemas.openxmlformats.org/officeDocument/2006/relationships" type="rect" r:blip="">
            <dgm:adjLst/>
          </dgm:shape>
          <dgm:presOf axis="des" ptType="node"/>
          <dgm:constrLst>
            <dgm:constr type="lMarg"/>
            <dgm:constr type="rMarg"/>
            <dgm:constr type="tMarg"/>
            <dgm:constr type="bMarg"/>
          </dgm:constrLst>
          <dgm:ruleLst>
            <dgm:rule type="primFontSz" val="7"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lain"/>
          </dgm1611:buPr>
        </dgm1611:autoBuNodeInfo>
      </dgm1611:autoBuNodeInfoLst>
    </a:ex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E3F9C9-B794-43F5-B380-CD33860C5210}"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0E4610-D932-463F-ABBE-5927702AC3C8}" type="slidenum">
              <a:rPr lang="en-IN" smtClean="0"/>
              <a:t>‹#›</a:t>
            </a:fld>
            <a:endParaRPr lang="en-IN"/>
          </a:p>
        </p:txBody>
      </p:sp>
    </p:spTree>
    <p:extLst>
      <p:ext uri="{BB962C8B-B14F-4D97-AF65-F5344CB8AC3E}">
        <p14:creationId xmlns:p14="http://schemas.microsoft.com/office/powerpoint/2010/main" val="1439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97323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87413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09337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64099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865355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387053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I collected rent data from Daft.ie for the outer districts, Dublin 15 to Dublin 24. That covers D15, 16, 17, 18, 20, 22 and 24, since there is no Dublin 19, 21 or 23. In total that's 243 listings, saved in the same format as our other area files, so they can go straight into the recommender.
The chart shows the median rent for a room in each district. D18, around Sandyford and Leopardstown, was the most expensive at about 1,150 euro, and D22 the cheapest at around 810. D17 and D20 had fewer listings, so their figures are less reliable.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783249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thing I added is a letting agents section on the results page. Once students see their recommended areas, they can open a list of Dublin letting agents. Each card shows the agent's area, address, website and PSRA licence number, so students can check the agent is licensed.
The list comes from a CSV file, which the backend serves through a new endpoint called /agencies.
I was careful with the wording, because we don't want it to look like we're recommending anyone. The agents are listed alphabetically, there's a note saying we're not affiliated with them, and a tip to check the agent's licence before paying a deposit, since rental scams are a real problem in Dublin.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69574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feature is a comparison of the top three areas. Before, students had to scroll through three long result cards to compare them. Now there's a "Compare these 3 areas" button that shows them side by side: match score, rent, commute, walking time and safety score.
The best area in each row is highlighted, and the rent row shows whether each area is within the student's budget. It uses data the results already have, so I didn't need to change the backend.
Next, I want to add the new D15 to D24 rent data into the recommender, so these areas can appear in the results too.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40205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CE0E6-4B4B-4DA2-C779-935A0FF559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7DF15B0-65A2-EF6D-815A-A0AB3BDBE5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93C66F-830A-3551-C0B5-43A744B9476E}"/>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5" name="Footer Placeholder 4">
            <a:extLst>
              <a:ext uri="{FF2B5EF4-FFF2-40B4-BE49-F238E27FC236}">
                <a16:creationId xmlns:a16="http://schemas.microsoft.com/office/drawing/2014/main" id="{40AEAB06-E182-38B7-D1DA-577B39BBF1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5A9C8E-5348-73E6-29D1-D6DA60D90213}"/>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2112680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AE700-5420-5AF2-AF26-D4C19CBBC0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02B51A-0E18-3095-DB99-08C3D85B66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396608-609B-7FA4-655C-74350A6D5E02}"/>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5" name="Footer Placeholder 4">
            <a:extLst>
              <a:ext uri="{FF2B5EF4-FFF2-40B4-BE49-F238E27FC236}">
                <a16:creationId xmlns:a16="http://schemas.microsoft.com/office/drawing/2014/main" id="{CFE2BD96-0C0A-2EB8-902B-FF8A43FB8C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02E72F-0E46-6402-7490-748A80091E16}"/>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1626556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EB4EF-E14D-8887-36AB-C3669234F9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EE6282-D56E-3788-723B-D80BE389D9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F510F6-F014-EE60-1D49-0280CACC0927}"/>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5" name="Footer Placeholder 4">
            <a:extLst>
              <a:ext uri="{FF2B5EF4-FFF2-40B4-BE49-F238E27FC236}">
                <a16:creationId xmlns:a16="http://schemas.microsoft.com/office/drawing/2014/main" id="{21E901C8-78D7-FA02-0B84-3B8EF9E14A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0E3344-691D-A110-DDB2-EB3D31099D9A}"/>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275829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B1615-E0DC-8000-3299-7255584720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688CC7-16D1-9E3D-4AA8-B416047EB2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5BBD38-A1C1-8F84-2504-96D8753D7B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AA98FD-2D2C-0589-D10A-F3F6528819F2}"/>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6" name="Footer Placeholder 5">
            <a:extLst>
              <a:ext uri="{FF2B5EF4-FFF2-40B4-BE49-F238E27FC236}">
                <a16:creationId xmlns:a16="http://schemas.microsoft.com/office/drawing/2014/main" id="{72187C3E-2DC3-348A-6D8D-7AE2CA9D7C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092D0C-2BFC-A1C8-712A-6A2446B36478}"/>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378534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370A-4122-07EA-E2C3-DED3258390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DDD220-A3FA-61FD-390C-3B33ECF5F2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02A463-5857-FC24-29BE-FF3EDC9EAE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43A815-1D6A-C673-297B-FFF5DB09B3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5E839A-99D9-A5BB-821D-A75F5D08B3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A102DB-BB2D-C119-2035-EF5635A491C1}"/>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8" name="Footer Placeholder 7">
            <a:extLst>
              <a:ext uri="{FF2B5EF4-FFF2-40B4-BE49-F238E27FC236}">
                <a16:creationId xmlns:a16="http://schemas.microsoft.com/office/drawing/2014/main" id="{78AAE394-9C2B-2C3B-C6F5-23400CD9126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CA98C0-D7C3-77D2-043F-6025ED1AAD28}"/>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397973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658A1-63A4-B19D-61C7-FCA7FC098D4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97C1E32-52E8-C5D4-28C5-CE119EBEAA6E}"/>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4" name="Footer Placeholder 3">
            <a:extLst>
              <a:ext uri="{FF2B5EF4-FFF2-40B4-BE49-F238E27FC236}">
                <a16:creationId xmlns:a16="http://schemas.microsoft.com/office/drawing/2014/main" id="{2CA9636E-94DB-0AF4-AF8D-D2A3DC53E3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2313F7-764D-C61B-B1C8-82FEE5BA2FE3}"/>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294723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A57492-2A02-FB1B-7F26-4DE3BF4D8582}"/>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3" name="Footer Placeholder 2">
            <a:extLst>
              <a:ext uri="{FF2B5EF4-FFF2-40B4-BE49-F238E27FC236}">
                <a16:creationId xmlns:a16="http://schemas.microsoft.com/office/drawing/2014/main" id="{C14B7882-A250-1299-DDF0-D10ED1FF93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3B1195-9957-DEC5-575C-28601839A82F}"/>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3359880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DAB9A-470E-A7E7-3D08-5DA957B4FF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A105F14-2170-0E9C-8E15-2082C0F21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3C1D53-268C-8972-0259-5D5AEC90F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17D03F-C890-DEB3-0AFA-E3823084FCFB}"/>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6" name="Footer Placeholder 5">
            <a:extLst>
              <a:ext uri="{FF2B5EF4-FFF2-40B4-BE49-F238E27FC236}">
                <a16:creationId xmlns:a16="http://schemas.microsoft.com/office/drawing/2014/main" id="{2956BC2E-F1CD-7149-5AB5-B641EA64DC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AC9FC8-E1CF-592E-DC8B-0861C637E5B5}"/>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3442361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87389-8B06-F39E-E07B-D8C91F431E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86B9A0-75B1-1326-925A-75B1CB691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9020BF-E38F-EC71-07BF-48E0C1DC7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28017A-46FA-6428-64A5-26F838347238}"/>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6" name="Footer Placeholder 5">
            <a:extLst>
              <a:ext uri="{FF2B5EF4-FFF2-40B4-BE49-F238E27FC236}">
                <a16:creationId xmlns:a16="http://schemas.microsoft.com/office/drawing/2014/main" id="{BD682F88-230D-3E30-E5D0-98DBD65588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7813D0-A30C-B0C3-655A-CE1C33ACD9DA}"/>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13035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034A5-8005-DBA4-AEC2-25CF409429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FB740F-3594-CD0A-64E1-BAA4667DFD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C985C1-530A-0E91-9166-812D695F462C}"/>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5" name="Footer Placeholder 4">
            <a:extLst>
              <a:ext uri="{FF2B5EF4-FFF2-40B4-BE49-F238E27FC236}">
                <a16:creationId xmlns:a16="http://schemas.microsoft.com/office/drawing/2014/main" id="{1373FF69-D236-073E-12B0-B5235E7C38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FAE158-4971-9E3B-D701-3678FEDA7EEF}"/>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2337840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6C611E-5124-BEF7-5A7E-375D9D7525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AD4386-2B8C-391C-EF77-D53666E007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FD3BBB-2365-A5E5-A4E1-F9238DC75B88}"/>
              </a:ext>
            </a:extLst>
          </p:cNvPr>
          <p:cNvSpPr>
            <a:spLocks noGrp="1"/>
          </p:cNvSpPr>
          <p:nvPr>
            <p:ph type="dt" sz="half" idx="10"/>
          </p:nvPr>
        </p:nvSpPr>
        <p:spPr/>
        <p:txBody>
          <a:bodyPr/>
          <a:lstStyle/>
          <a:p>
            <a:fld id="{F7C0FA1D-57D1-4DC0-9DEC-9BE8DC698EDD}" type="datetimeFigureOut">
              <a:rPr lang="en-IN" smtClean="0"/>
              <a:t>30-10-2026</a:t>
            </a:fld>
            <a:endParaRPr lang="en-IN"/>
          </a:p>
        </p:txBody>
      </p:sp>
      <p:sp>
        <p:nvSpPr>
          <p:cNvPr id="5" name="Footer Placeholder 4">
            <a:extLst>
              <a:ext uri="{FF2B5EF4-FFF2-40B4-BE49-F238E27FC236}">
                <a16:creationId xmlns:a16="http://schemas.microsoft.com/office/drawing/2014/main" id="{3C0910C0-63FA-05B3-42F1-F396C30666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F3E971-2126-7759-2442-BB30270DA853}"/>
              </a:ext>
            </a:extLst>
          </p:cNvPr>
          <p:cNvSpPr>
            <a:spLocks noGrp="1"/>
          </p:cNvSpPr>
          <p:nvPr>
            <p:ph type="sldNum" sz="quarter" idx="12"/>
          </p:nvPr>
        </p:nvSpPr>
        <p:spPr/>
        <p:txBody>
          <a:bodyPr/>
          <a:lstStyle/>
          <a:p>
            <a:fld id="{15345162-4650-48FA-AFA6-45B3361D900C}" type="slidenum">
              <a:rPr lang="en-IN" smtClean="0"/>
              <a:t>‹#›</a:t>
            </a:fld>
            <a:endParaRPr lang="en-IN"/>
          </a:p>
        </p:txBody>
      </p:sp>
    </p:spTree>
    <p:extLst>
      <p:ext uri="{BB962C8B-B14F-4D97-AF65-F5344CB8AC3E}">
        <p14:creationId xmlns:p14="http://schemas.microsoft.com/office/powerpoint/2010/main" val="3537356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rtlCol="0"/>
          <a:lstStyle>
            <a:lvl1pPr marL="0" indent="0">
              <a:buNone/>
              <a:defRPr lang="en-US" sz="1800" dirty="0">
                <a:solidFill>
                  <a:schemeClr val="accent6"/>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639231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rtlCol="0"/>
          <a:lstStyle>
            <a:lvl1pPr marL="0" indent="0" algn="l">
              <a:buNone/>
              <a:defRPr lang="en-US" sz="3733" b="1" dirty="0">
                <a:solidFill>
                  <a:schemeClr val="tx2"/>
                </a:solidFill>
              </a:defRPr>
            </a:lvl1pPr>
          </a:lstStyle>
          <a:p>
            <a:pPr marL="0" indent="0" algn="l">
              <a:buNone/>
            </a:pPr>
            <a:endParaRPr lang="en-US" sz="3733"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587141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rtlCol="0"/>
          <a:lstStyle>
            <a:lvl1pPr marL="0" indent="0" algn="l">
              <a:buNone/>
              <a:defRPr lang="en-US" sz="3733" b="1" dirty="0">
                <a:solidFill>
                  <a:schemeClr val="tx2"/>
                </a:solidFill>
              </a:defRPr>
            </a:lvl1pPr>
          </a:lstStyle>
          <a:p>
            <a:pPr marL="0" indent="0" algn="l">
              <a:buNone/>
            </a:pPr>
            <a:endParaRPr lang="en-US" sz="3733"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274670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rtlCol="0"/>
          <a:lstStyle>
            <a:lvl1pPr marL="0" indent="0" algn="l">
              <a:buNone/>
              <a:defRPr lang="en-US" sz="3733" b="1" dirty="0">
                <a:solidFill>
                  <a:schemeClr val="tx2"/>
                </a:solidFill>
              </a:defRPr>
            </a:lvl1pPr>
          </a:lstStyle>
          <a:p>
            <a:pPr marL="0" indent="0" algn="l">
              <a:buNone/>
            </a:pPr>
            <a:endParaRPr lang="en-US" sz="3733"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058634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FE254E-9FAE-DADF-EE1C-6B3E9191D9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B58F95-AC17-0DCF-B2F6-9766F1316B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14F2F8-FEBF-5EBF-CA3C-107BEA5B41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C0FA1D-57D1-4DC0-9DEC-9BE8DC698EDD}" type="datetimeFigureOut">
              <a:rPr lang="en-IN" smtClean="0"/>
              <a:t>30-10-2026</a:t>
            </a:fld>
            <a:endParaRPr lang="en-IN"/>
          </a:p>
        </p:txBody>
      </p:sp>
      <p:sp>
        <p:nvSpPr>
          <p:cNvPr id="5" name="Footer Placeholder 4">
            <a:extLst>
              <a:ext uri="{FF2B5EF4-FFF2-40B4-BE49-F238E27FC236}">
                <a16:creationId xmlns:a16="http://schemas.microsoft.com/office/drawing/2014/main" id="{221AD364-7815-767F-75A0-9CADF3E08F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AD33613-C269-380A-3B57-5F29551990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345162-4650-48FA-AFA6-45B3361D900C}" type="slidenum">
              <a:rPr lang="en-IN" smtClean="0"/>
              <a:t>‹#›</a:t>
            </a:fld>
            <a:endParaRPr lang="en-IN"/>
          </a:p>
        </p:txBody>
      </p:sp>
    </p:spTree>
    <p:extLst>
      <p:ext uri="{BB962C8B-B14F-4D97-AF65-F5344CB8AC3E}">
        <p14:creationId xmlns:p14="http://schemas.microsoft.com/office/powerpoint/2010/main" val="146426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CD7D-0274-D201-F864-2D18B30621A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15B1E49-455A-AE72-6F60-3C0F2264FC04}"/>
              </a:ext>
            </a:extLst>
          </p:cNvPr>
          <p:cNvSpPr>
            <a:spLocks noGrp="1"/>
          </p:cNvSpPr>
          <p:nvPr>
            <p:ph type="subTitle" idx="1"/>
          </p:nvPr>
        </p:nvSpPr>
        <p:spPr/>
        <p:txBody>
          <a:bodyPr/>
          <a:lstStyle/>
          <a:p>
            <a:endParaRPr lang="en-IN"/>
          </a:p>
        </p:txBody>
      </p:sp>
      <p:sp>
        <p:nvSpPr>
          <p:cNvPr id="4" name="Rectangle 3">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p:nvPr/>
        </p:nvSpPr>
        <p:spPr bwMode="white">
          <a:xfrm>
            <a:off x="1"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1219170"/>
            <a:endParaRPr lang="en-US" sz="2400">
              <a:solidFill>
                <a:prstClr val="white"/>
              </a:solidFill>
              <a:latin typeface="Calibri"/>
            </a:endParaRPr>
          </a:p>
        </p:txBody>
      </p:sp>
      <p:pic>
        <p:nvPicPr>
          <p:cNvPr id="5" name="Picture 4">
            <a:extLst>
              <a:ext uri="{FF2B5EF4-FFF2-40B4-BE49-F238E27FC236}">
                <a16:creationId xmlns:a16="http://schemas.microsoft.com/office/drawing/2014/main" id="{5AC252A8-ABF4-56DF-4427-ABAC67049E39}"/>
              </a:ext>
            </a:extLst>
          </p:cNvPr>
          <p:cNvPicPr>
            <a:picLocks noChangeAspect="1"/>
          </p:cNvPicPr>
          <p:nvPr/>
        </p:nvPicPr>
        <p:blipFill>
          <a:blip r:embed="rId2"/>
          <a:srcRect l="3001" r="3001"/>
          <a:stretch/>
        </p:blipFill>
        <p:spPr>
          <a:xfrm>
            <a:off x="2" y="10"/>
            <a:ext cx="9240740" cy="6857989"/>
          </a:xfrm>
          <a:prstGeom prst="rect">
            <a:avLst/>
          </a:prstGeom>
        </p:spPr>
      </p:pic>
      <p:sp>
        <p:nvSpPr>
          <p:cNvPr id="6" name="Rectangle 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p:nvPr/>
        </p:nvSpPr>
        <p:spPr>
          <a:xfrm flipH="1">
            <a:off x="5125021" y="0"/>
            <a:ext cx="706697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1219170"/>
            <a:endParaRPr lang="en-US" sz="2400" dirty="0">
              <a:solidFill>
                <a:prstClr val="white"/>
              </a:solidFill>
              <a:latin typeface="Calibri"/>
            </a:endParaRPr>
          </a:p>
        </p:txBody>
      </p:sp>
      <p:sp>
        <p:nvSpPr>
          <p:cNvPr id="7" name="Title 1">
            <a:extLst>
              <a:ext uri="{FF2B5EF4-FFF2-40B4-BE49-F238E27FC236}">
                <a16:creationId xmlns:a16="http://schemas.microsoft.com/office/drawing/2014/main" id="{041884C6-5951-3834-AFA7-549A4ED5BB0B}"/>
              </a:ext>
            </a:extLst>
          </p:cNvPr>
          <p:cNvSpPr>
            <a:spLocks noGrp="1"/>
          </p:cNvSpPr>
          <p:nvPr/>
        </p:nvSpPr>
        <p:spPr>
          <a:xfrm>
            <a:off x="8634918" y="593021"/>
            <a:ext cx="3445764" cy="3692028"/>
          </a:xfrm>
          <a:prstGeom prst="rect">
            <a:avLst/>
          </a:prstGeom>
          <a:noFill/>
        </p:spPr>
        <p:txBody>
          <a:bodyPr vert="horz" lIns="91440" tIns="45720" rIns="91440" bIns="45720" rtlCol="0" anchor="ctr">
            <a:normAutofit/>
          </a:bodyPr>
          <a:lstStyle>
            <a:lvl1pPr algn="ctr" defTabSz="609585" rtl="0" eaLnBrk="1" latinLnBrk="0" hangingPunct="1">
              <a:spcBef>
                <a:spcPct val="0"/>
              </a:spcBef>
              <a:buNone/>
              <a:defRPr sz="4400" kern="1200">
                <a:solidFill>
                  <a:schemeClr val="tx1"/>
                </a:solidFill>
                <a:latin typeface="+mj-lt"/>
                <a:ea typeface="+mj-ea"/>
                <a:cs typeface="+mj-cs"/>
              </a:defRPr>
            </a:lvl1pPr>
          </a:lstStyle>
          <a:p>
            <a:pPr algn="l"/>
            <a:r>
              <a:rPr lang="en-IN" sz="5200" b="1" dirty="0">
                <a:latin typeface="Times New Roman" panose="02020603050405020304" pitchFamily="18" charset="0"/>
                <a:cs typeface="Times New Roman" panose="02020603050405020304" pitchFamily="18" charset="0"/>
              </a:rPr>
              <a:t>Find Your Dublin</a:t>
            </a:r>
          </a:p>
        </p:txBody>
      </p:sp>
      <p:sp>
        <p:nvSpPr>
          <p:cNvPr id="8" name="Subtitle 2">
            <a:extLst>
              <a:ext uri="{FF2B5EF4-FFF2-40B4-BE49-F238E27FC236}">
                <a16:creationId xmlns:a16="http://schemas.microsoft.com/office/drawing/2014/main" id="{202B0856-748F-F30D-6E88-DA9AD6E65529}"/>
              </a:ext>
            </a:extLst>
          </p:cNvPr>
          <p:cNvSpPr>
            <a:spLocks noGrp="1"/>
          </p:cNvSpPr>
          <p:nvPr/>
        </p:nvSpPr>
        <p:spPr>
          <a:xfrm>
            <a:off x="8689051" y="3724253"/>
            <a:ext cx="3445765" cy="1485319"/>
          </a:xfrm>
          <a:prstGeom prst="rect">
            <a:avLst/>
          </a:prstGeom>
          <a:noFill/>
        </p:spPr>
        <p:txBody>
          <a:bodyPr vert="horz" lIns="91440" tIns="45720" rIns="91440" bIns="45720" rtlCol="0">
            <a:normAutofit/>
          </a:bodyPr>
          <a:lstStyle>
            <a:lvl1pPr marL="0" indent="0" algn="ctr" defTabSz="609585" rtl="0" eaLnBrk="1" latinLnBrk="0" hangingPunct="1">
              <a:spcBef>
                <a:spcPct val="20000"/>
              </a:spcBef>
              <a:buFont typeface="Arial"/>
              <a:buNone/>
              <a:defRPr sz="3200" kern="1200">
                <a:solidFill>
                  <a:schemeClr val="tx1">
                    <a:tint val="75000"/>
                  </a:schemeClr>
                </a:solidFill>
                <a:latin typeface="+mn-lt"/>
                <a:ea typeface="+mn-ea"/>
                <a:cs typeface="+mn-cs"/>
              </a:defRPr>
            </a:lvl1pPr>
            <a:lvl2pPr marL="609585" indent="0" algn="ctr" defTabSz="609585" rtl="0" eaLnBrk="1" latinLnBrk="0" hangingPunct="1">
              <a:spcBef>
                <a:spcPct val="20000"/>
              </a:spcBef>
              <a:buFont typeface="Arial"/>
              <a:buNone/>
              <a:defRPr sz="2800" kern="1200">
                <a:solidFill>
                  <a:schemeClr val="tx1">
                    <a:tint val="75000"/>
                  </a:schemeClr>
                </a:solidFill>
                <a:latin typeface="+mn-lt"/>
                <a:ea typeface="+mn-ea"/>
                <a:cs typeface="+mn-cs"/>
              </a:defRPr>
            </a:lvl2pPr>
            <a:lvl3pPr marL="1219170" indent="0" algn="ctr" defTabSz="609585" rtl="0" eaLnBrk="1" latinLnBrk="0" hangingPunct="1">
              <a:spcBef>
                <a:spcPct val="20000"/>
              </a:spcBef>
              <a:buFont typeface="Arial"/>
              <a:buNone/>
              <a:defRPr sz="2400" kern="1200">
                <a:solidFill>
                  <a:schemeClr val="tx1">
                    <a:tint val="75000"/>
                  </a:schemeClr>
                </a:solidFill>
                <a:latin typeface="+mn-lt"/>
                <a:ea typeface="+mn-ea"/>
                <a:cs typeface="+mn-cs"/>
              </a:defRPr>
            </a:lvl3pPr>
            <a:lvl4pPr marL="1828754" indent="0" algn="ctr" defTabSz="609585" rtl="0" eaLnBrk="1" latinLnBrk="0" hangingPunct="1">
              <a:spcBef>
                <a:spcPct val="20000"/>
              </a:spcBef>
              <a:buFont typeface="Arial"/>
              <a:buNone/>
              <a:defRPr sz="2000" kern="1200">
                <a:solidFill>
                  <a:schemeClr val="tx1">
                    <a:tint val="75000"/>
                  </a:schemeClr>
                </a:solidFill>
                <a:latin typeface="+mn-lt"/>
                <a:ea typeface="+mn-ea"/>
                <a:cs typeface="+mn-cs"/>
              </a:defRPr>
            </a:lvl4pPr>
            <a:lvl5pPr marL="2438339" indent="0" algn="ctr" defTabSz="609585" rtl="0" eaLnBrk="1" latinLnBrk="0" hangingPunct="1">
              <a:spcBef>
                <a:spcPct val="20000"/>
              </a:spcBef>
              <a:buFont typeface="Arial"/>
              <a:buNone/>
              <a:defRPr sz="2000" kern="1200">
                <a:solidFill>
                  <a:schemeClr val="tx1">
                    <a:tint val="75000"/>
                  </a:schemeClr>
                </a:solidFill>
                <a:latin typeface="+mn-lt"/>
                <a:ea typeface="+mn-ea"/>
                <a:cs typeface="+mn-cs"/>
              </a:defRPr>
            </a:lvl5pPr>
            <a:lvl6pPr marL="3047924" indent="0" algn="ctr" defTabSz="609585" rtl="0" eaLnBrk="1" latinLnBrk="0" hangingPunct="1">
              <a:spcBef>
                <a:spcPct val="20000"/>
              </a:spcBef>
              <a:buFont typeface="Arial"/>
              <a:buNone/>
              <a:defRPr sz="2000" kern="1200">
                <a:solidFill>
                  <a:schemeClr val="tx1">
                    <a:tint val="75000"/>
                  </a:schemeClr>
                </a:solidFill>
                <a:latin typeface="+mn-lt"/>
                <a:ea typeface="+mn-ea"/>
                <a:cs typeface="+mn-cs"/>
              </a:defRPr>
            </a:lvl6pPr>
            <a:lvl7pPr marL="3657509" indent="0" algn="ctr" defTabSz="609585" rtl="0" eaLnBrk="1" latinLnBrk="0" hangingPunct="1">
              <a:spcBef>
                <a:spcPct val="20000"/>
              </a:spcBef>
              <a:buFont typeface="Arial"/>
              <a:buNone/>
              <a:defRPr sz="2000" kern="1200">
                <a:solidFill>
                  <a:schemeClr val="tx1">
                    <a:tint val="75000"/>
                  </a:schemeClr>
                </a:solidFill>
                <a:latin typeface="+mn-lt"/>
                <a:ea typeface="+mn-ea"/>
                <a:cs typeface="+mn-cs"/>
              </a:defRPr>
            </a:lvl7pPr>
            <a:lvl8pPr marL="4267093" indent="0" algn="ctr" defTabSz="609585" rtl="0" eaLnBrk="1" latinLnBrk="0" hangingPunct="1">
              <a:spcBef>
                <a:spcPct val="20000"/>
              </a:spcBef>
              <a:buFont typeface="Arial"/>
              <a:buNone/>
              <a:defRPr sz="2000" kern="1200">
                <a:solidFill>
                  <a:schemeClr val="tx1">
                    <a:tint val="75000"/>
                  </a:schemeClr>
                </a:solidFill>
                <a:latin typeface="+mn-lt"/>
                <a:ea typeface="+mn-ea"/>
                <a:cs typeface="+mn-cs"/>
              </a:defRPr>
            </a:lvl8pPr>
            <a:lvl9pPr marL="4876678" indent="0" algn="ctr" defTabSz="609585"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IN" b="1" dirty="0">
                <a:latin typeface="Times New Roman" panose="02020603050405020304" pitchFamily="18" charset="0"/>
                <a:cs typeface="Times New Roman" panose="02020603050405020304" pitchFamily="18" charset="0"/>
              </a:rPr>
              <a:t>Group 1 MSc Team Project</a:t>
            </a:r>
          </a:p>
        </p:txBody>
      </p:sp>
      <p:sp>
        <p:nvSpPr>
          <p:cNvPr id="9" name="Subtitle 2">
            <a:extLst>
              <a:ext uri="{FF2B5EF4-FFF2-40B4-BE49-F238E27FC236}">
                <a16:creationId xmlns:a16="http://schemas.microsoft.com/office/drawing/2014/main" id="{105DC519-DEFB-1968-5695-CBC21940EC8D}"/>
              </a:ext>
            </a:extLst>
          </p:cNvPr>
          <p:cNvSpPr txBox="1">
            <a:spLocks/>
          </p:cNvSpPr>
          <p:nvPr/>
        </p:nvSpPr>
        <p:spPr>
          <a:xfrm>
            <a:off x="2839941" y="4085645"/>
            <a:ext cx="6400800" cy="900484"/>
          </a:xfrm>
          <a:prstGeom prst="rect">
            <a:avLst/>
          </a:prstGeom>
        </p:spPr>
        <p:txBody>
          <a:bodyPr vert="horz" lIns="121920" tIns="60960" rIns="121920" bIns="60960" rtlCol="0">
            <a:normAutofit/>
          </a:bodyPr>
          <a:lstStyle>
            <a:defPPr>
              <a:defRPr lang="en-US"/>
            </a:defPPr>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defTabSz="609585"/>
            <a:endParaRPr lang="en-IN" sz="3200" b="1" dirty="0">
              <a:solidFill>
                <a:prstClr val="black">
                  <a:tint val="75000"/>
                </a:prstClr>
              </a:solidFill>
              <a:latin typeface="Calibri"/>
            </a:endParaRPr>
          </a:p>
        </p:txBody>
      </p:sp>
    </p:spTree>
    <p:extLst>
      <p:ext uri="{BB962C8B-B14F-4D97-AF65-F5344CB8AC3E}">
        <p14:creationId xmlns:p14="http://schemas.microsoft.com/office/powerpoint/2010/main" val="2973002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961D56-50C8-C5CC-1110-A8D1E174AB71}"/>
              </a:ext>
            </a:extLst>
          </p:cNvPr>
          <p:cNvSpPr>
            <a:spLocks noGrp="1"/>
          </p:cNvSpPr>
          <p:nvPr>
            <p:ph type="title"/>
          </p:nvPr>
        </p:nvSpPr>
        <p:spPr>
          <a:xfrm>
            <a:off x="838200" y="365125"/>
            <a:ext cx="10515600" cy="867327"/>
          </a:xfrm>
        </p:spPr>
        <p:txBody>
          <a:bodyPr/>
          <a:lstStyle/>
          <a:p>
            <a:r>
              <a:rPr lang="en-IN" dirty="0"/>
              <a:t>This week goal: Maximise visualisation </a:t>
            </a:r>
          </a:p>
        </p:txBody>
      </p:sp>
      <p:graphicFrame>
        <p:nvGraphicFramePr>
          <p:cNvPr id="6" name="Diagram 5">
            <a:extLst>
              <a:ext uri="{FF2B5EF4-FFF2-40B4-BE49-F238E27FC236}">
                <a16:creationId xmlns:a16="http://schemas.microsoft.com/office/drawing/2014/main" id="{BA912F45-C10F-E1DA-FF6F-746879987AE9}"/>
              </a:ext>
            </a:extLst>
          </p:cNvPr>
          <p:cNvGraphicFramePr/>
          <p:nvPr/>
        </p:nvGraphicFramePr>
        <p:xfrm>
          <a:off x="1077686" y="1404257"/>
          <a:ext cx="9976757" cy="4588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8640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97FA-6F11-FC5E-28A1-1B976929B2AF}"/>
              </a:ext>
            </a:extLst>
          </p:cNvPr>
          <p:cNvSpPr>
            <a:spLocks noGrp="1"/>
          </p:cNvSpPr>
          <p:nvPr>
            <p:ph type="title"/>
          </p:nvPr>
        </p:nvSpPr>
        <p:spPr>
          <a:xfrm>
            <a:off x="227907" y="0"/>
            <a:ext cx="11736186" cy="891181"/>
          </a:xfrm>
        </p:spPr>
        <p:txBody>
          <a:bodyPr>
            <a:normAutofit/>
          </a:bodyPr>
          <a:lstStyle/>
          <a:p>
            <a:r>
              <a:rPr lang="en-IN" sz="2800" b="1" dirty="0"/>
              <a:t>Next Week: Public Transport Integration</a:t>
            </a:r>
          </a:p>
        </p:txBody>
      </p:sp>
      <p:sp>
        <p:nvSpPr>
          <p:cNvPr id="3" name="Content Placeholder 2">
            <a:extLst>
              <a:ext uri="{FF2B5EF4-FFF2-40B4-BE49-F238E27FC236}">
                <a16:creationId xmlns:a16="http://schemas.microsoft.com/office/drawing/2014/main" id="{CCCA6AE6-48E0-D6F6-B549-C29F7B894B31}"/>
              </a:ext>
            </a:extLst>
          </p:cNvPr>
          <p:cNvSpPr>
            <a:spLocks noGrp="1"/>
          </p:cNvSpPr>
          <p:nvPr>
            <p:ph idx="1"/>
          </p:nvPr>
        </p:nvSpPr>
        <p:spPr>
          <a:xfrm>
            <a:off x="838200" y="1335819"/>
            <a:ext cx="10515600" cy="4841144"/>
          </a:xfrm>
        </p:spPr>
        <p:txBody>
          <a:bodyPr/>
          <a:lstStyle/>
          <a:p>
            <a:endParaRPr lang="en-IN" dirty="0"/>
          </a:p>
          <a:p>
            <a:endParaRPr lang="en-IN" dirty="0"/>
          </a:p>
        </p:txBody>
      </p:sp>
      <p:graphicFrame>
        <p:nvGraphicFramePr>
          <p:cNvPr id="4" name="Diagram 3">
            <a:extLst>
              <a:ext uri="{FF2B5EF4-FFF2-40B4-BE49-F238E27FC236}">
                <a16:creationId xmlns:a16="http://schemas.microsoft.com/office/drawing/2014/main" id="{BDC0E3A4-283C-133B-212E-D38583769E25}"/>
              </a:ext>
            </a:extLst>
          </p:cNvPr>
          <p:cNvGraphicFramePr/>
          <p:nvPr/>
        </p:nvGraphicFramePr>
        <p:xfrm>
          <a:off x="0" y="891181"/>
          <a:ext cx="11845636" cy="463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5393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C0652-DED4-EF41-368B-868E421CAAD9}"/>
              </a:ext>
            </a:extLst>
          </p:cNvPr>
          <p:cNvSpPr>
            <a:spLocks noGrp="1"/>
          </p:cNvSpPr>
          <p:nvPr>
            <p:ph type="ctrTitle"/>
          </p:nvPr>
        </p:nvSpPr>
        <p:spPr>
          <a:xfrm>
            <a:off x="353961" y="216311"/>
            <a:ext cx="9144000" cy="1435508"/>
          </a:xfrm>
        </p:spPr>
        <p:txBody>
          <a:bodyPr>
            <a:normAutofit/>
          </a:bodyPr>
          <a:lstStyle/>
          <a:p>
            <a:pPr algn="l"/>
            <a:r>
              <a:rPr lang="en-IN" sz="3000" b="1" dirty="0">
                <a:latin typeface="Times New Roman" panose="02020603050405020304" pitchFamily="18" charset="0"/>
                <a:cs typeface="Times New Roman" panose="02020603050405020304" pitchFamily="18" charset="0"/>
              </a:rPr>
              <a:t>District profiles,</a:t>
            </a:r>
            <a:br>
              <a:rPr lang="en-IN" sz="3000" b="1" dirty="0">
                <a:latin typeface="Times New Roman" panose="02020603050405020304" pitchFamily="18" charset="0"/>
                <a:cs typeface="Times New Roman" panose="02020603050405020304" pitchFamily="18" charset="0"/>
              </a:rPr>
            </a:br>
            <a:r>
              <a:rPr lang="en-IN" sz="3000" b="1" dirty="0">
                <a:latin typeface="Times New Roman" panose="02020603050405020304" pitchFamily="18" charset="0"/>
                <a:cs typeface="Times New Roman" panose="02020603050405020304" pitchFamily="18" charset="0"/>
              </a:rPr>
              <a:t>from map to recommendation</a:t>
            </a:r>
            <a:br>
              <a:rPr lang="en-IN" sz="3000" b="1" dirty="0">
                <a:latin typeface="Times New Roman" panose="02020603050405020304" pitchFamily="18" charset="0"/>
                <a:cs typeface="Times New Roman" panose="02020603050405020304" pitchFamily="18" charset="0"/>
              </a:rPr>
            </a:br>
            <a:endParaRPr lang="en-IN" sz="3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61662E1-8601-ED55-C87B-E2FFC86C89E0}"/>
              </a:ext>
            </a:extLst>
          </p:cNvPr>
          <p:cNvPicPr>
            <a:picLocks noChangeAspect="1"/>
          </p:cNvPicPr>
          <p:nvPr/>
        </p:nvPicPr>
        <p:blipFill>
          <a:blip r:embed="rId2"/>
          <a:stretch>
            <a:fillRect/>
          </a:stretch>
        </p:blipFill>
        <p:spPr>
          <a:xfrm>
            <a:off x="5427407" y="216311"/>
            <a:ext cx="6567948" cy="6277893"/>
          </a:xfrm>
          <a:prstGeom prst="rect">
            <a:avLst/>
          </a:prstGeom>
        </p:spPr>
      </p:pic>
      <p:sp>
        <p:nvSpPr>
          <p:cNvPr id="6" name="TextBox 5">
            <a:extLst>
              <a:ext uri="{FF2B5EF4-FFF2-40B4-BE49-F238E27FC236}">
                <a16:creationId xmlns:a16="http://schemas.microsoft.com/office/drawing/2014/main" id="{186D60A1-A25A-073F-EC15-933086A6DC06}"/>
              </a:ext>
            </a:extLst>
          </p:cNvPr>
          <p:cNvSpPr txBox="1"/>
          <p:nvPr/>
        </p:nvSpPr>
        <p:spPr>
          <a:xfrm>
            <a:off x="501445" y="1524000"/>
            <a:ext cx="4709652" cy="4431983"/>
          </a:xfrm>
          <a:prstGeom prst="rect">
            <a:avLst/>
          </a:prstGeom>
          <a:noFill/>
        </p:spPr>
        <p:txBody>
          <a:bodyPr wrap="square" rtlCol="0">
            <a:spAutoFit/>
          </a:bodyPr>
          <a:lstStyle/>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An interactive profile for every Dublin district, D1–D24, now shown under each recommended area.</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Built the district explorer (map and profile card) with the team’s real data.</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Added the crime data as a heat map and safety score.</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Linked each recommendation to a map of its district.</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Deployed it to the live Azure site.</a:t>
            </a:r>
          </a:p>
          <a:p>
            <a:pPr marL="285750" indent="-28575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00424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FF81BFA-828A-C4FC-E1DD-3385AC35B1B3}"/>
              </a:ext>
            </a:extLst>
          </p:cNvPr>
          <p:cNvSpPr/>
          <p:nvPr/>
        </p:nvSpPr>
        <p:spPr>
          <a:xfrm>
            <a:off x="658760" y="1366684"/>
            <a:ext cx="3441291" cy="185829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11C2E0BC-690B-B15D-6BBC-753FCBEDD3E1}"/>
              </a:ext>
            </a:extLst>
          </p:cNvPr>
          <p:cNvSpPr/>
          <p:nvPr/>
        </p:nvSpPr>
        <p:spPr>
          <a:xfrm>
            <a:off x="4616244" y="1366683"/>
            <a:ext cx="3549447" cy="18180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A79A720-DEAF-4E87-798C-1A16C5E9F4FF}"/>
              </a:ext>
            </a:extLst>
          </p:cNvPr>
          <p:cNvSpPr/>
          <p:nvPr/>
        </p:nvSpPr>
        <p:spPr>
          <a:xfrm>
            <a:off x="8868697" y="1366684"/>
            <a:ext cx="3003756" cy="181802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2000" b="1" dirty="0">
                <a:latin typeface="Times New Roman" panose="02020603050405020304" pitchFamily="18" charset="0"/>
                <a:cs typeface="Times New Roman" panose="02020603050405020304" pitchFamily="18" charset="0"/>
              </a:rPr>
              <a:t>Crime heat map</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Safety score for 255 census areas: where 50 is the Dublin average.</a:t>
            </a:r>
          </a:p>
        </p:txBody>
      </p:sp>
      <p:sp>
        <p:nvSpPr>
          <p:cNvPr id="6" name="Rectangle: Rounded Corners 5">
            <a:extLst>
              <a:ext uri="{FF2B5EF4-FFF2-40B4-BE49-F238E27FC236}">
                <a16:creationId xmlns:a16="http://schemas.microsoft.com/office/drawing/2014/main" id="{DE6FAB4C-1EB9-E78D-FC47-9E96004C2D44}"/>
              </a:ext>
            </a:extLst>
          </p:cNvPr>
          <p:cNvSpPr/>
          <p:nvPr/>
        </p:nvSpPr>
        <p:spPr>
          <a:xfrm>
            <a:off x="658762" y="4188542"/>
            <a:ext cx="3254477" cy="185829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F6232DCD-2841-777D-AFBB-82AAA2D5E6D5}"/>
              </a:ext>
            </a:extLst>
          </p:cNvPr>
          <p:cNvSpPr/>
          <p:nvPr/>
        </p:nvSpPr>
        <p:spPr>
          <a:xfrm>
            <a:off x="4616244" y="4188543"/>
            <a:ext cx="3662519" cy="185829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DB6FA253-70C5-3F49-DD7F-3FFA1ECD498D}"/>
              </a:ext>
            </a:extLst>
          </p:cNvPr>
          <p:cNvSpPr/>
          <p:nvPr/>
        </p:nvSpPr>
        <p:spPr>
          <a:xfrm>
            <a:off x="8868698" y="4188542"/>
            <a:ext cx="3126658" cy="185829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6E87877F-AF4A-7B68-32BB-4638AD10BAC0}"/>
              </a:ext>
            </a:extLst>
          </p:cNvPr>
          <p:cNvSpPr txBox="1"/>
          <p:nvPr/>
        </p:nvSpPr>
        <p:spPr>
          <a:xfrm>
            <a:off x="757084" y="1553497"/>
            <a:ext cx="3342968" cy="163121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Live street map</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Zoom in to see neighbourhood names. Every Luas stop is clickable: line, frequency, nearby amenities.</a:t>
            </a:r>
          </a:p>
        </p:txBody>
      </p:sp>
      <p:sp>
        <p:nvSpPr>
          <p:cNvPr id="10" name="TextBox 9">
            <a:extLst>
              <a:ext uri="{FF2B5EF4-FFF2-40B4-BE49-F238E27FC236}">
                <a16:creationId xmlns:a16="http://schemas.microsoft.com/office/drawing/2014/main" id="{43596AE0-D88C-1361-27DF-63B8E50C94C7}"/>
              </a:ext>
            </a:extLst>
          </p:cNvPr>
          <p:cNvSpPr txBox="1"/>
          <p:nvPr/>
        </p:nvSpPr>
        <p:spPr>
          <a:xfrm>
            <a:off x="4699819" y="1553497"/>
            <a:ext cx="3392129" cy="163121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Six-tab profile card</a:t>
            </a:r>
          </a:p>
          <a:p>
            <a:r>
              <a:rPr lang="en-IN" sz="2000" dirty="0">
                <a:latin typeface="Times New Roman" panose="02020603050405020304" pitchFamily="18" charset="0"/>
                <a:cs typeface="Times New Roman" panose="02020603050405020304" pitchFamily="18" charset="0"/>
              </a:rPr>
              <a:t>Places, Rent, Amenities, Safety, Commute and Area for each district, with ← → to step through.</a:t>
            </a:r>
          </a:p>
        </p:txBody>
      </p:sp>
      <p:sp>
        <p:nvSpPr>
          <p:cNvPr id="11" name="TextBox 10">
            <a:extLst>
              <a:ext uri="{FF2B5EF4-FFF2-40B4-BE49-F238E27FC236}">
                <a16:creationId xmlns:a16="http://schemas.microsoft.com/office/drawing/2014/main" id="{C1EE29B7-85E2-1A53-055A-5F1CB81DD31B}"/>
              </a:ext>
            </a:extLst>
          </p:cNvPr>
          <p:cNvSpPr txBox="1"/>
          <p:nvPr/>
        </p:nvSpPr>
        <p:spPr>
          <a:xfrm>
            <a:off x="757084" y="4316361"/>
            <a:ext cx="3008671" cy="163121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Rent</a:t>
            </a:r>
          </a:p>
          <a:p>
            <a:r>
              <a:rPr lang="en-IN" sz="2000" dirty="0">
                <a:latin typeface="Times New Roman" panose="02020603050405020304" pitchFamily="18" charset="0"/>
                <a:cs typeface="Times New Roman" panose="02020603050405020304" pitchFamily="18" charset="0"/>
              </a:rPr>
              <a:t>Daft listings for rooms and whole homes, next to official RTB 2025 averages by area.</a:t>
            </a:r>
          </a:p>
        </p:txBody>
      </p:sp>
      <p:sp>
        <p:nvSpPr>
          <p:cNvPr id="12" name="TextBox 11">
            <a:extLst>
              <a:ext uri="{FF2B5EF4-FFF2-40B4-BE49-F238E27FC236}">
                <a16:creationId xmlns:a16="http://schemas.microsoft.com/office/drawing/2014/main" id="{C43C40F1-85D1-5181-06DB-AF27B7DFCC75}"/>
              </a:ext>
            </a:extLst>
          </p:cNvPr>
          <p:cNvSpPr txBox="1"/>
          <p:nvPr/>
        </p:nvSpPr>
        <p:spPr>
          <a:xfrm>
            <a:off x="4699819" y="4316361"/>
            <a:ext cx="3392129" cy="132343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Commute</a:t>
            </a:r>
          </a:p>
          <a:p>
            <a:r>
              <a:rPr lang="en-IN" sz="2000" dirty="0">
                <a:latin typeface="Times New Roman" panose="02020603050405020304" pitchFamily="18" charset="0"/>
                <a:cs typeface="Times New Roman" panose="02020603050405020304" pitchFamily="18" charset="0"/>
              </a:rPr>
              <a:t>Walking and public transport times to the student’s campus, picked from 15 universities.</a:t>
            </a:r>
          </a:p>
        </p:txBody>
      </p:sp>
      <p:sp>
        <p:nvSpPr>
          <p:cNvPr id="13" name="TextBox 12">
            <a:extLst>
              <a:ext uri="{FF2B5EF4-FFF2-40B4-BE49-F238E27FC236}">
                <a16:creationId xmlns:a16="http://schemas.microsoft.com/office/drawing/2014/main" id="{ED532F06-FBEF-9749-7281-03617B997DD3}"/>
              </a:ext>
            </a:extLst>
          </p:cNvPr>
          <p:cNvSpPr txBox="1"/>
          <p:nvPr/>
        </p:nvSpPr>
        <p:spPr>
          <a:xfrm>
            <a:off x="8981768" y="4316361"/>
            <a:ext cx="2890684" cy="132343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Places to know</a:t>
            </a:r>
          </a:p>
          <a:p>
            <a:r>
              <a:rPr lang="en-IN" sz="2000" dirty="0">
                <a:latin typeface="Times New Roman" panose="02020603050405020304" pitchFamily="18" charset="0"/>
                <a:cs typeface="Times New Roman" panose="02020603050405020304" pitchFamily="18" charset="0"/>
              </a:rPr>
              <a:t>Famous places pinned on the map with photos, for every district.</a:t>
            </a:r>
          </a:p>
        </p:txBody>
      </p:sp>
      <p:sp>
        <p:nvSpPr>
          <p:cNvPr id="14" name="TextBox 13">
            <a:extLst>
              <a:ext uri="{FF2B5EF4-FFF2-40B4-BE49-F238E27FC236}">
                <a16:creationId xmlns:a16="http://schemas.microsoft.com/office/drawing/2014/main" id="{8E824806-F5C5-63E1-98BC-F7A3B8AC8BC1}"/>
              </a:ext>
            </a:extLst>
          </p:cNvPr>
          <p:cNvSpPr txBox="1"/>
          <p:nvPr/>
        </p:nvSpPr>
        <p:spPr>
          <a:xfrm>
            <a:off x="658760" y="432619"/>
            <a:ext cx="7934634" cy="984885"/>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All 24 districts on one interactive map</a:t>
            </a:r>
            <a:endParaRPr lang="en-IN" sz="30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5817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8E08-D5AA-B9E0-3A31-E7677F6E52B3}"/>
              </a:ext>
            </a:extLst>
          </p:cNvPr>
          <p:cNvSpPr>
            <a:spLocks noGrp="1"/>
          </p:cNvSpPr>
          <p:nvPr>
            <p:ph type="ctrTitle"/>
          </p:nvPr>
        </p:nvSpPr>
        <p:spPr>
          <a:xfrm>
            <a:off x="560439" y="294970"/>
            <a:ext cx="5692876" cy="835739"/>
          </a:xfrm>
        </p:spPr>
        <p:txBody>
          <a:bodyPr>
            <a:noAutofit/>
          </a:bodyPr>
          <a:lstStyle/>
          <a:p>
            <a:pPr algn="l"/>
            <a:r>
              <a:rPr lang="en-IN" sz="3000" b="1" dirty="0">
                <a:latin typeface="Times New Roman" panose="02020603050405020304" pitchFamily="18" charset="0"/>
                <a:cs typeface="Times New Roman" panose="02020603050405020304" pitchFamily="18" charset="0"/>
              </a:rPr>
              <a:t>In </a:t>
            </a:r>
            <a:r>
              <a:rPr lang="en-IN" sz="3000" b="1" dirty="0" err="1">
                <a:latin typeface="Times New Roman" panose="02020603050405020304" pitchFamily="18" charset="0"/>
                <a:cs typeface="Times New Roman" panose="02020603050405020304" pitchFamily="18" charset="0"/>
              </a:rPr>
              <a:t>Progess</a:t>
            </a:r>
            <a:r>
              <a:rPr lang="en-IN" sz="3000" b="1" dirty="0">
                <a:latin typeface="Times New Roman" panose="02020603050405020304" pitchFamily="18" charset="0"/>
                <a:cs typeface="Times New Roman" panose="02020603050405020304" pitchFamily="18" charset="0"/>
              </a:rPr>
              <a:t>: A map of each recommended district:</a:t>
            </a:r>
            <a:endParaRPr lang="en-IN" sz="3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CBF267E-F5D3-3F10-FDF3-452B2C19BF53}"/>
              </a:ext>
            </a:extLst>
          </p:cNvPr>
          <p:cNvSpPr>
            <a:spLocks noGrp="1"/>
          </p:cNvSpPr>
          <p:nvPr>
            <p:ph type="subTitle" idx="1"/>
          </p:nvPr>
        </p:nvSpPr>
        <p:spPr>
          <a:xfrm>
            <a:off x="560439" y="1307689"/>
            <a:ext cx="6125496" cy="4837471"/>
          </a:xfrm>
        </p:spPr>
        <p:txBody>
          <a:bodyPr/>
          <a:lstStyle/>
          <a:p>
            <a:pPr algn="l"/>
            <a:r>
              <a:rPr lang="en-IN" sz="2200" b="1" dirty="0">
                <a:latin typeface="Times New Roman" panose="02020603050405020304" pitchFamily="18" charset="0"/>
                <a:cs typeface="Times New Roman" panose="02020603050405020304" pitchFamily="18" charset="0"/>
              </a:rPr>
              <a:t>Under every recommendation card:</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Zooms to that district only; everything outside is hidden</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Safety areas, Luas lines and stops, places to know, neighbourhood names</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Commute line from the recommended place to the student’s campus</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Option to explore any other district, plus a link to its full profile</a:t>
            </a:r>
          </a:p>
          <a:p>
            <a:pPr marL="342900" lvl="0" indent="-342900" algn="l">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Reads each card’s district itself: one component covers D1–D24</a:t>
            </a:r>
          </a:p>
          <a:p>
            <a:pPr algn="l"/>
            <a:endParaRPr lang="en-IN" dirty="0"/>
          </a:p>
        </p:txBody>
      </p:sp>
      <p:pic>
        <p:nvPicPr>
          <p:cNvPr id="5" name="Picture 4">
            <a:extLst>
              <a:ext uri="{FF2B5EF4-FFF2-40B4-BE49-F238E27FC236}">
                <a16:creationId xmlns:a16="http://schemas.microsoft.com/office/drawing/2014/main" id="{8F9E73A8-5EBE-DF5F-A7B1-5AB01B4CD0FD}"/>
              </a:ext>
            </a:extLst>
          </p:cNvPr>
          <p:cNvPicPr>
            <a:picLocks noChangeAspect="1"/>
          </p:cNvPicPr>
          <p:nvPr/>
        </p:nvPicPr>
        <p:blipFill>
          <a:blip r:embed="rId2"/>
          <a:stretch>
            <a:fillRect/>
          </a:stretch>
        </p:blipFill>
        <p:spPr>
          <a:xfrm>
            <a:off x="6685936" y="471950"/>
            <a:ext cx="5378246" cy="2831691"/>
          </a:xfrm>
          <a:prstGeom prst="rect">
            <a:avLst/>
          </a:prstGeom>
        </p:spPr>
      </p:pic>
      <p:pic>
        <p:nvPicPr>
          <p:cNvPr id="7" name="Picture 6">
            <a:extLst>
              <a:ext uri="{FF2B5EF4-FFF2-40B4-BE49-F238E27FC236}">
                <a16:creationId xmlns:a16="http://schemas.microsoft.com/office/drawing/2014/main" id="{DC893E66-BB09-4B6D-F0FD-C67AC9C9A8CF}"/>
              </a:ext>
            </a:extLst>
          </p:cNvPr>
          <p:cNvPicPr>
            <a:picLocks noChangeAspect="1"/>
          </p:cNvPicPr>
          <p:nvPr/>
        </p:nvPicPr>
        <p:blipFill>
          <a:blip r:embed="rId3"/>
          <a:stretch>
            <a:fillRect/>
          </a:stretch>
        </p:blipFill>
        <p:spPr>
          <a:xfrm>
            <a:off x="6685933" y="3608439"/>
            <a:ext cx="5279925" cy="2949677"/>
          </a:xfrm>
          <a:prstGeom prst="rect">
            <a:avLst/>
          </a:prstGeom>
        </p:spPr>
      </p:pic>
    </p:spTree>
    <p:extLst>
      <p:ext uri="{BB962C8B-B14F-4D97-AF65-F5344CB8AC3E}">
        <p14:creationId xmlns:p14="http://schemas.microsoft.com/office/powerpoint/2010/main" val="302929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400" b="1" dirty="0">
                <a:solidFill>
                  <a:schemeClr val="tx2"/>
                </a:solidFill>
              </a:rPr>
              <a:t>Implementations done for th</a:t>
            </a:r>
            <a:r>
              <a:rPr lang="en-US" dirty="0"/>
              <a:t>is week</a:t>
            </a:r>
            <a:endParaRPr lang="en-US" sz="3400" dirty="0"/>
          </a:p>
        </p:txBody>
      </p:sp>
      <p:sp>
        <p:nvSpPr>
          <p:cNvPr id="3" name="box-1"/>
          <p:cNvSpPr/>
          <p:nvPr/>
        </p:nvSpPr>
        <p:spPr>
          <a:xfrm>
            <a:off x="548640" y="1600200"/>
            <a:ext cx="11091672" cy="914400"/>
          </a:xfrm>
          <a:prstGeom prst="roundRect">
            <a:avLst>
              <a:gd name="adj" fmla="val 10000"/>
            </a:avLst>
          </a:prstGeom>
          <a:solidFill>
            <a:schemeClr val="bg2"/>
          </a:solidFill>
          <a:ln/>
        </p:spPr>
      </p:sp>
      <p:sp>
        <p:nvSpPr>
          <p:cNvPr id="4" name="num-2"/>
          <p:cNvSpPr/>
          <p:nvPr/>
        </p:nvSpPr>
        <p:spPr>
          <a:xfrm>
            <a:off x="822960" y="1801368"/>
            <a:ext cx="512064" cy="512064"/>
          </a:xfrm>
          <a:prstGeom prst="ellipse">
            <a:avLst/>
          </a:prstGeom>
          <a:solidFill>
            <a:schemeClr val="accent1"/>
          </a:solidFill>
          <a:ln/>
        </p:spPr>
      </p:sp>
      <p:sp>
        <p:nvSpPr>
          <p:cNvPr id="5" name="num-label-3"/>
          <p:cNvSpPr txBox="1"/>
          <p:nvPr/>
        </p:nvSpPr>
        <p:spPr>
          <a:xfrm>
            <a:off x="822960" y="180136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opic-6"/>
          <p:cNvSpPr txBox="1"/>
          <p:nvPr/>
        </p:nvSpPr>
        <p:spPr>
          <a:xfrm>
            <a:off x="1613916" y="1600200"/>
            <a:ext cx="8961120" cy="91440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Journey planner</a:t>
            </a:r>
            <a:endParaRPr lang="en-US" sz="2600" dirty="0"/>
          </a:p>
        </p:txBody>
      </p:sp>
      <p:sp>
        <p:nvSpPr>
          <p:cNvPr id="9" name="box-7"/>
          <p:cNvSpPr/>
          <p:nvPr/>
        </p:nvSpPr>
        <p:spPr>
          <a:xfrm>
            <a:off x="548640" y="2743200"/>
            <a:ext cx="11091672" cy="914400"/>
          </a:xfrm>
          <a:prstGeom prst="roundRect">
            <a:avLst>
              <a:gd name="adj" fmla="val 10000"/>
            </a:avLst>
          </a:prstGeom>
          <a:solidFill>
            <a:schemeClr val="bg2"/>
          </a:solidFill>
          <a:ln/>
        </p:spPr>
      </p:sp>
      <p:sp>
        <p:nvSpPr>
          <p:cNvPr id="10" name="num-8"/>
          <p:cNvSpPr/>
          <p:nvPr/>
        </p:nvSpPr>
        <p:spPr>
          <a:xfrm>
            <a:off x="822960" y="2944368"/>
            <a:ext cx="512064" cy="512064"/>
          </a:xfrm>
          <a:prstGeom prst="ellipse">
            <a:avLst/>
          </a:prstGeom>
          <a:solidFill>
            <a:schemeClr val="accent1"/>
          </a:solidFill>
          <a:ln/>
        </p:spPr>
      </p:sp>
      <p:sp>
        <p:nvSpPr>
          <p:cNvPr id="11" name="num-label-9"/>
          <p:cNvSpPr txBox="1"/>
          <p:nvPr/>
        </p:nvSpPr>
        <p:spPr>
          <a:xfrm>
            <a:off x="822960" y="294436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4" name="topic-12"/>
          <p:cNvSpPr txBox="1"/>
          <p:nvPr/>
        </p:nvSpPr>
        <p:spPr>
          <a:xfrm>
            <a:off x="1613916" y="2743200"/>
            <a:ext cx="8961120" cy="91440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Safety score</a:t>
            </a:r>
            <a:endParaRPr lang="en-US" sz="2600" dirty="0"/>
          </a:p>
        </p:txBody>
      </p:sp>
      <p:sp>
        <p:nvSpPr>
          <p:cNvPr id="15" name="box-13"/>
          <p:cNvSpPr/>
          <p:nvPr/>
        </p:nvSpPr>
        <p:spPr>
          <a:xfrm>
            <a:off x="548640" y="3886200"/>
            <a:ext cx="11091672" cy="914400"/>
          </a:xfrm>
          <a:prstGeom prst="roundRect">
            <a:avLst>
              <a:gd name="adj" fmla="val 10000"/>
            </a:avLst>
          </a:prstGeom>
          <a:solidFill>
            <a:schemeClr val="bg2"/>
          </a:solidFill>
          <a:ln/>
        </p:spPr>
      </p:sp>
      <p:sp>
        <p:nvSpPr>
          <p:cNvPr id="16" name="num-14"/>
          <p:cNvSpPr/>
          <p:nvPr/>
        </p:nvSpPr>
        <p:spPr>
          <a:xfrm>
            <a:off x="822960" y="4087368"/>
            <a:ext cx="512064" cy="512064"/>
          </a:xfrm>
          <a:prstGeom prst="ellipse">
            <a:avLst/>
          </a:prstGeom>
          <a:solidFill>
            <a:schemeClr val="accent1"/>
          </a:solidFill>
          <a:ln/>
        </p:spPr>
      </p:sp>
      <p:sp>
        <p:nvSpPr>
          <p:cNvPr id="17" name="num-label-15"/>
          <p:cNvSpPr txBox="1"/>
          <p:nvPr/>
        </p:nvSpPr>
        <p:spPr>
          <a:xfrm>
            <a:off x="822960" y="408736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0" name="topic-18"/>
          <p:cNvSpPr txBox="1"/>
          <p:nvPr/>
        </p:nvSpPr>
        <p:spPr>
          <a:xfrm>
            <a:off x="1613916" y="3886200"/>
            <a:ext cx="8961120" cy="91440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Property listings</a:t>
            </a:r>
            <a:endParaRPr lang="en-US" sz="2600" dirty="0"/>
          </a:p>
        </p:txBody>
      </p:sp>
      <p:sp>
        <p:nvSpPr>
          <p:cNvPr id="21" name="box-19"/>
          <p:cNvSpPr/>
          <p:nvPr/>
        </p:nvSpPr>
        <p:spPr>
          <a:xfrm>
            <a:off x="548640" y="5029200"/>
            <a:ext cx="11091672" cy="914400"/>
          </a:xfrm>
          <a:prstGeom prst="roundRect">
            <a:avLst>
              <a:gd name="adj" fmla="val 10000"/>
            </a:avLst>
          </a:prstGeom>
          <a:solidFill>
            <a:schemeClr val="bg2"/>
          </a:solidFill>
          <a:ln/>
        </p:spPr>
      </p:sp>
      <p:sp>
        <p:nvSpPr>
          <p:cNvPr id="22" name="num-20"/>
          <p:cNvSpPr/>
          <p:nvPr/>
        </p:nvSpPr>
        <p:spPr>
          <a:xfrm>
            <a:off x="822960" y="5230368"/>
            <a:ext cx="512064" cy="512064"/>
          </a:xfrm>
          <a:prstGeom prst="ellipse">
            <a:avLst/>
          </a:prstGeom>
          <a:solidFill>
            <a:schemeClr val="accent1"/>
          </a:solidFill>
          <a:ln/>
        </p:spPr>
      </p:sp>
      <p:sp>
        <p:nvSpPr>
          <p:cNvPr id="23" name="num-label-21"/>
          <p:cNvSpPr txBox="1"/>
          <p:nvPr/>
        </p:nvSpPr>
        <p:spPr>
          <a:xfrm>
            <a:off x="822960" y="523036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6" name="topic-24"/>
          <p:cNvSpPr txBox="1"/>
          <p:nvPr/>
        </p:nvSpPr>
        <p:spPr>
          <a:xfrm>
            <a:off x="1613916" y="5029200"/>
            <a:ext cx="8961120" cy="91440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Is the data legal to use?</a:t>
            </a:r>
            <a:endParaRPr lang="en-US" sz="2600" dirty="0"/>
          </a:p>
        </p:txBody>
      </p:sp>
    </p:spTree>
    <p:extLst>
      <p:ext uri="{BB962C8B-B14F-4D97-AF65-F5344CB8AC3E}">
        <p14:creationId xmlns:p14="http://schemas.microsoft.com/office/powerpoint/2010/main" val="4132458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400" b="1" dirty="0">
                <a:solidFill>
                  <a:schemeClr val="tx2"/>
                </a:solidFill>
              </a:rPr>
              <a:t>How we </a:t>
            </a:r>
            <a:r>
              <a:rPr lang="en-US" dirty="0"/>
              <a:t>calculate</a:t>
            </a:r>
            <a:r>
              <a:rPr lang="en-US" sz="3400" b="1" dirty="0">
                <a:solidFill>
                  <a:schemeClr val="tx2"/>
                </a:solidFill>
              </a:rPr>
              <a:t> travel times?</a:t>
            </a:r>
            <a:endParaRPr lang="en-US" sz="3400" dirty="0"/>
          </a:p>
        </p:txBody>
      </p:sp>
      <p:sp>
        <p:nvSpPr>
          <p:cNvPr id="4" name="num-53"/>
          <p:cNvSpPr/>
          <p:nvPr/>
        </p:nvSpPr>
        <p:spPr>
          <a:xfrm>
            <a:off x="548640" y="1801368"/>
            <a:ext cx="457200" cy="457200"/>
          </a:xfrm>
          <a:prstGeom prst="ellipse">
            <a:avLst/>
          </a:prstGeom>
          <a:solidFill>
            <a:schemeClr val="accent1"/>
          </a:solidFill>
          <a:ln/>
        </p:spPr>
      </p:sp>
      <p:sp>
        <p:nvSpPr>
          <p:cNvPr id="5" name="num-label-54"/>
          <p:cNvSpPr txBox="1"/>
          <p:nvPr/>
        </p:nvSpPr>
        <p:spPr>
          <a:xfrm>
            <a:off x="548640" y="180136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step-55"/>
          <p:cNvSpPr txBox="1"/>
          <p:nvPr/>
        </p:nvSpPr>
        <p:spPr>
          <a:xfrm>
            <a:off x="1188720" y="1783080"/>
            <a:ext cx="4480560" cy="914400"/>
          </a:xfrm>
          <a:prstGeom prst="rect">
            <a:avLst/>
          </a:prstGeom>
          <a:noFill/>
          <a:ln/>
        </p:spPr>
        <p:txBody>
          <a:bodyPr wrap="square" lIns="0" tIns="0" rIns="0" bIns="0" rtlCol="0" anchor="t"/>
          <a:lstStyle/>
          <a:p>
            <a:pPr marL="0" indent="0">
              <a:buNone/>
            </a:pPr>
            <a:r>
              <a:rPr lang="en-US" sz="1800" b="1" dirty="0">
                <a:solidFill>
                  <a:schemeClr val="tx2"/>
                </a:solidFill>
              </a:rPr>
              <a:t>You choose</a:t>
            </a:r>
            <a:endParaRPr lang="en-US" sz="1800" dirty="0"/>
          </a:p>
          <a:p>
            <a:pPr marL="0" indent="0">
              <a:buNone/>
            </a:pPr>
            <a:r>
              <a:rPr lang="en-US" sz="1500" dirty="0">
                <a:solidFill>
                  <a:schemeClr val="tx1"/>
                </a:solidFill>
              </a:rPr>
              <a:t>where from, where to, and when, e.g. leave at 8:30 or arrive by 9:00</a:t>
            </a:r>
            <a:endParaRPr lang="en-US" sz="1800" dirty="0"/>
          </a:p>
        </p:txBody>
      </p:sp>
      <p:sp>
        <p:nvSpPr>
          <p:cNvPr id="7" name="num-56"/>
          <p:cNvSpPr/>
          <p:nvPr/>
        </p:nvSpPr>
        <p:spPr>
          <a:xfrm>
            <a:off x="548640" y="2807208"/>
            <a:ext cx="457200" cy="457200"/>
          </a:xfrm>
          <a:prstGeom prst="ellipse">
            <a:avLst/>
          </a:prstGeom>
          <a:solidFill>
            <a:schemeClr val="accent1"/>
          </a:solidFill>
          <a:ln/>
        </p:spPr>
      </p:sp>
      <p:sp>
        <p:nvSpPr>
          <p:cNvPr id="8" name="num-label-57"/>
          <p:cNvSpPr txBox="1"/>
          <p:nvPr/>
        </p:nvSpPr>
        <p:spPr>
          <a:xfrm>
            <a:off x="548640" y="280720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step-58"/>
          <p:cNvSpPr txBox="1"/>
          <p:nvPr/>
        </p:nvSpPr>
        <p:spPr>
          <a:xfrm>
            <a:off x="1188720" y="2788920"/>
            <a:ext cx="4480560" cy="914400"/>
          </a:xfrm>
          <a:prstGeom prst="rect">
            <a:avLst/>
          </a:prstGeom>
          <a:noFill/>
          <a:ln/>
        </p:spPr>
        <p:txBody>
          <a:bodyPr wrap="square" lIns="0" tIns="0" rIns="0" bIns="0" rtlCol="0" anchor="t"/>
          <a:lstStyle/>
          <a:p>
            <a:pPr marL="0" indent="0">
              <a:buNone/>
            </a:pPr>
            <a:r>
              <a:rPr lang="en-US" sz="1800" b="1" dirty="0">
                <a:solidFill>
                  <a:schemeClr val="tx2"/>
                </a:solidFill>
              </a:rPr>
              <a:t>It checks the timetable</a:t>
            </a:r>
            <a:endParaRPr lang="en-US" sz="1800" dirty="0"/>
          </a:p>
          <a:p>
            <a:pPr marL="0" indent="0">
              <a:buNone/>
            </a:pPr>
            <a:r>
              <a:rPr lang="en-US" sz="1500" dirty="0">
                <a:solidFill>
                  <a:schemeClr val="tx1"/>
                </a:solidFill>
              </a:rPr>
              <a:t>finds the buses, Luas and trains that actually run at that time</a:t>
            </a:r>
            <a:endParaRPr lang="en-US" sz="1800" dirty="0"/>
          </a:p>
        </p:txBody>
      </p:sp>
      <p:sp>
        <p:nvSpPr>
          <p:cNvPr id="10" name="num-59"/>
          <p:cNvSpPr/>
          <p:nvPr/>
        </p:nvSpPr>
        <p:spPr>
          <a:xfrm>
            <a:off x="548640" y="3813048"/>
            <a:ext cx="457200" cy="457200"/>
          </a:xfrm>
          <a:prstGeom prst="ellipse">
            <a:avLst/>
          </a:prstGeom>
          <a:solidFill>
            <a:schemeClr val="accent1"/>
          </a:solidFill>
          <a:ln/>
        </p:spPr>
      </p:sp>
      <p:sp>
        <p:nvSpPr>
          <p:cNvPr id="11" name="num-label-60"/>
          <p:cNvSpPr txBox="1"/>
          <p:nvPr/>
        </p:nvSpPr>
        <p:spPr>
          <a:xfrm>
            <a:off x="548640" y="381304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step-61"/>
          <p:cNvSpPr txBox="1"/>
          <p:nvPr/>
        </p:nvSpPr>
        <p:spPr>
          <a:xfrm>
            <a:off x="1188720" y="3794760"/>
            <a:ext cx="4480560" cy="914400"/>
          </a:xfrm>
          <a:prstGeom prst="rect">
            <a:avLst/>
          </a:prstGeom>
          <a:noFill/>
          <a:ln/>
        </p:spPr>
        <p:txBody>
          <a:bodyPr wrap="square" lIns="0" tIns="0" rIns="0" bIns="0" rtlCol="0" anchor="t"/>
          <a:lstStyle/>
          <a:p>
            <a:pPr marL="0" indent="0">
              <a:buNone/>
            </a:pPr>
            <a:r>
              <a:rPr lang="en-US" sz="1800" b="1" dirty="0">
                <a:solidFill>
                  <a:schemeClr val="tx2"/>
                </a:solidFill>
              </a:rPr>
              <a:t>It shows the fastest ways</a:t>
            </a:r>
            <a:endParaRPr lang="en-US" sz="1800" dirty="0"/>
          </a:p>
          <a:p>
            <a:pPr marL="0" indent="0">
              <a:buNone/>
            </a:pPr>
            <a:r>
              <a:rPr lang="en-US" sz="1500" dirty="0">
                <a:solidFill>
                  <a:schemeClr val="tx1"/>
                </a:solidFill>
              </a:rPr>
              <a:t>up to 3 options, with the walking, waiting and changes</a:t>
            </a:r>
            <a:endParaRPr lang="en-US" sz="1800" dirty="0"/>
          </a:p>
        </p:txBody>
      </p:sp>
      <p:sp>
        <p:nvSpPr>
          <p:cNvPr id="13" name="box-62"/>
          <p:cNvSpPr/>
          <p:nvPr/>
        </p:nvSpPr>
        <p:spPr>
          <a:xfrm>
            <a:off x="548640" y="5166360"/>
            <a:ext cx="5120640" cy="1097280"/>
          </a:xfrm>
          <a:prstGeom prst="roundRect">
            <a:avLst>
              <a:gd name="adj" fmla="val 8333"/>
            </a:avLst>
          </a:prstGeom>
          <a:solidFill>
            <a:schemeClr val="bg2"/>
          </a:solidFill>
          <a:ln/>
        </p:spPr>
      </p:sp>
      <p:sp>
        <p:nvSpPr>
          <p:cNvPr id="14" name="google-note"/>
          <p:cNvSpPr txBox="1"/>
          <p:nvPr/>
        </p:nvSpPr>
        <p:spPr>
          <a:xfrm>
            <a:off x="777240" y="5212080"/>
            <a:ext cx="4663440" cy="1005840"/>
          </a:xfrm>
          <a:prstGeom prst="rect">
            <a:avLst/>
          </a:prstGeom>
          <a:noFill/>
          <a:ln/>
        </p:spPr>
        <p:txBody>
          <a:bodyPr wrap="square" lIns="0" tIns="0" rIns="0" bIns="0" rtlCol="0" anchor="ctr"/>
          <a:lstStyle/>
          <a:p>
            <a:pPr marL="0" indent="0">
              <a:buNone/>
            </a:pPr>
            <a:r>
              <a:rPr lang="en-US" sz="1500" b="1" dirty="0">
                <a:solidFill>
                  <a:schemeClr val="tx2"/>
                </a:solidFill>
              </a:rPr>
              <a:t>Why not Google Maps API?</a:t>
            </a:r>
            <a:endParaRPr lang="en-US" sz="1500" dirty="0"/>
          </a:p>
          <a:p>
            <a:pPr marL="0" indent="0">
              <a:buNone/>
            </a:pPr>
            <a:r>
              <a:rPr lang="en-US" sz="1500" dirty="0">
                <a:solidFill>
                  <a:schemeClr val="tx1"/>
                </a:solidFill>
              </a:rPr>
              <a:t>Google charges for each search and does not let us keep the results. Our planner uses the same official timetable for free.</a:t>
            </a:r>
            <a:endParaRPr lang="en-US" sz="1500" dirty="0"/>
          </a:p>
        </p:txBody>
      </p:sp>
      <p:pic>
        <p:nvPicPr>
          <p:cNvPr id="21" name="Picture 20">
            <a:extLst>
              <a:ext uri="{FF2B5EF4-FFF2-40B4-BE49-F238E27FC236}">
                <a16:creationId xmlns:a16="http://schemas.microsoft.com/office/drawing/2014/main" id="{A1C95AF3-8534-0B6A-E524-F74531D8CB91}"/>
              </a:ext>
            </a:extLst>
          </p:cNvPr>
          <p:cNvPicPr>
            <a:picLocks noChangeAspect="1"/>
          </p:cNvPicPr>
          <p:nvPr/>
        </p:nvPicPr>
        <p:blipFill>
          <a:blip r:embed="rId3"/>
          <a:stretch>
            <a:fillRect/>
          </a:stretch>
        </p:blipFill>
        <p:spPr>
          <a:xfrm>
            <a:off x="5521236" y="1290487"/>
            <a:ext cx="6496592" cy="3597199"/>
          </a:xfrm>
          <a:prstGeom prst="rect">
            <a:avLst/>
          </a:prstGeom>
        </p:spPr>
      </p:pic>
    </p:spTree>
    <p:extLst>
      <p:ext uri="{BB962C8B-B14F-4D97-AF65-F5344CB8AC3E}">
        <p14:creationId xmlns:p14="http://schemas.microsoft.com/office/powerpoint/2010/main" val="1117780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400" b="1" dirty="0">
                <a:solidFill>
                  <a:schemeClr val="tx2"/>
                </a:solidFill>
              </a:rPr>
              <a:t>How the journey planner works?</a:t>
            </a:r>
            <a:endParaRPr lang="en-US" sz="3400" dirty="0"/>
          </a:p>
        </p:txBody>
      </p:sp>
      <p:sp>
        <p:nvSpPr>
          <p:cNvPr id="3" name="node-25"/>
          <p:cNvSpPr/>
          <p:nvPr/>
        </p:nvSpPr>
        <p:spPr>
          <a:xfrm>
            <a:off x="548640" y="1737360"/>
            <a:ext cx="1463040" cy="1188720"/>
          </a:xfrm>
          <a:prstGeom prst="roundRect">
            <a:avLst>
              <a:gd name="adj" fmla="val 7692"/>
            </a:avLst>
          </a:prstGeom>
          <a:solidFill>
            <a:srgbClr val="FFF2CC"/>
          </a:solidFill>
          <a:ln w="15875">
            <a:solidFill>
              <a:srgbClr val="D6B656"/>
            </a:solidFill>
            <a:prstDash val="solid"/>
          </a:ln>
        </p:spPr>
      </p:sp>
      <p:sp>
        <p:nvSpPr>
          <p:cNvPr id="4" name="node-text-26"/>
          <p:cNvSpPr txBox="1"/>
          <p:nvPr/>
        </p:nvSpPr>
        <p:spPr>
          <a:xfrm>
            <a:off x="621792" y="1737360"/>
            <a:ext cx="1316736" cy="1188720"/>
          </a:xfrm>
          <a:prstGeom prst="rect">
            <a:avLst/>
          </a:prstGeom>
          <a:noFill/>
          <a:ln/>
        </p:spPr>
        <p:txBody>
          <a:bodyPr wrap="square" lIns="0" tIns="0" rIns="0" bIns="0" rtlCol="0" anchor="ctr"/>
          <a:lstStyle/>
          <a:p>
            <a:pPr marL="0" indent="0" algn="ctr">
              <a:buNone/>
            </a:pPr>
            <a:r>
              <a:rPr lang="en-US" sz="1500" b="1" dirty="0">
                <a:solidFill>
                  <a:srgbClr val="333333"/>
                </a:solidFill>
                <a:latin typeface="Arial" pitchFamily="34" charset="0"/>
                <a:ea typeface="Arial" pitchFamily="34" charset="-122"/>
                <a:cs typeface="Arial" pitchFamily="34" charset="-120"/>
              </a:rPr>
              <a:t>Student</a:t>
            </a:r>
            <a:endParaRPr lang="en-US" sz="1500" dirty="0"/>
          </a:p>
          <a:p>
            <a:pPr marL="0" indent="0" algn="ctr">
              <a:buNone/>
            </a:pPr>
            <a:r>
              <a:rPr lang="en-US" sz="1200" dirty="0">
                <a:solidFill>
                  <a:srgbClr val="333333"/>
                </a:solidFill>
                <a:latin typeface="Arial" pitchFamily="34" charset="0"/>
                <a:ea typeface="Arial" pitchFamily="34" charset="-122"/>
                <a:cs typeface="Arial" pitchFamily="34" charset="-120"/>
              </a:rPr>
              <a:t>phone or laptop</a:t>
            </a:r>
            <a:endParaRPr lang="en-US" sz="1500" dirty="0"/>
          </a:p>
        </p:txBody>
      </p:sp>
      <p:sp>
        <p:nvSpPr>
          <p:cNvPr id="5" name="node-27"/>
          <p:cNvSpPr/>
          <p:nvPr/>
        </p:nvSpPr>
        <p:spPr>
          <a:xfrm>
            <a:off x="3474720" y="1737360"/>
            <a:ext cx="1691640" cy="1188720"/>
          </a:xfrm>
          <a:prstGeom prst="roundRect">
            <a:avLst>
              <a:gd name="adj" fmla="val 7692"/>
            </a:avLst>
          </a:prstGeom>
          <a:solidFill>
            <a:srgbClr val="DAE8FC"/>
          </a:solidFill>
          <a:ln w="15875">
            <a:solidFill>
              <a:srgbClr val="6C8EBF"/>
            </a:solidFill>
            <a:prstDash val="solid"/>
          </a:ln>
        </p:spPr>
      </p:sp>
      <p:sp>
        <p:nvSpPr>
          <p:cNvPr id="6" name="node-text-28"/>
          <p:cNvSpPr txBox="1"/>
          <p:nvPr/>
        </p:nvSpPr>
        <p:spPr>
          <a:xfrm>
            <a:off x="3547872" y="1737360"/>
            <a:ext cx="1545336" cy="1188720"/>
          </a:xfrm>
          <a:prstGeom prst="rect">
            <a:avLst/>
          </a:prstGeom>
          <a:noFill/>
          <a:ln/>
        </p:spPr>
        <p:txBody>
          <a:bodyPr wrap="square" lIns="0" tIns="0" rIns="0" bIns="0" rtlCol="0" anchor="ctr"/>
          <a:lstStyle/>
          <a:p>
            <a:pPr marL="0" indent="0" algn="ctr">
              <a:buNone/>
            </a:pPr>
            <a:r>
              <a:rPr lang="en-US" sz="1500" b="1" dirty="0">
                <a:solidFill>
                  <a:srgbClr val="333333"/>
                </a:solidFill>
                <a:latin typeface="Arial" pitchFamily="34" charset="0"/>
                <a:ea typeface="Arial" pitchFamily="34" charset="-122"/>
                <a:cs typeface="Arial" pitchFamily="34" charset="-120"/>
              </a:rPr>
              <a:t>Website</a:t>
            </a:r>
            <a:endParaRPr lang="en-US" sz="1500" dirty="0"/>
          </a:p>
          <a:p>
            <a:pPr marL="0" indent="0" algn="ctr">
              <a:buNone/>
            </a:pPr>
            <a:r>
              <a:rPr lang="en-US" sz="1200" dirty="0">
                <a:solidFill>
                  <a:srgbClr val="333333"/>
                </a:solidFill>
                <a:latin typeface="Arial" pitchFamily="34" charset="0"/>
                <a:ea typeface="Arial" pitchFamily="34" charset="-122"/>
                <a:cs typeface="Arial" pitchFamily="34" charset="-120"/>
              </a:rPr>
              <a:t>journey planner map</a:t>
            </a:r>
            <a:endParaRPr lang="en-US" sz="1500" dirty="0"/>
          </a:p>
        </p:txBody>
      </p:sp>
      <p:sp>
        <p:nvSpPr>
          <p:cNvPr id="7" name="node-29"/>
          <p:cNvSpPr/>
          <p:nvPr/>
        </p:nvSpPr>
        <p:spPr>
          <a:xfrm>
            <a:off x="6629400" y="1737360"/>
            <a:ext cx="1691640" cy="1188720"/>
          </a:xfrm>
          <a:prstGeom prst="roundRect">
            <a:avLst>
              <a:gd name="adj" fmla="val 7692"/>
            </a:avLst>
          </a:prstGeom>
          <a:solidFill>
            <a:srgbClr val="DAE8FC"/>
          </a:solidFill>
          <a:ln w="15875">
            <a:solidFill>
              <a:srgbClr val="6C8EBF"/>
            </a:solidFill>
            <a:prstDash val="solid"/>
          </a:ln>
        </p:spPr>
      </p:sp>
      <p:sp>
        <p:nvSpPr>
          <p:cNvPr id="8" name="node-text-30"/>
          <p:cNvSpPr txBox="1"/>
          <p:nvPr/>
        </p:nvSpPr>
        <p:spPr>
          <a:xfrm>
            <a:off x="6702552" y="1737360"/>
            <a:ext cx="1545336" cy="1188720"/>
          </a:xfrm>
          <a:prstGeom prst="rect">
            <a:avLst/>
          </a:prstGeom>
          <a:noFill/>
          <a:ln/>
        </p:spPr>
        <p:txBody>
          <a:bodyPr wrap="square" lIns="0" tIns="0" rIns="0" bIns="0" rtlCol="0" anchor="ctr"/>
          <a:lstStyle/>
          <a:p>
            <a:pPr marL="0" indent="0" algn="ctr">
              <a:buNone/>
            </a:pPr>
            <a:r>
              <a:rPr lang="en-US" sz="1500" b="1" dirty="0">
                <a:solidFill>
                  <a:srgbClr val="333333"/>
                </a:solidFill>
                <a:latin typeface="Arial" pitchFamily="34" charset="0"/>
                <a:ea typeface="Arial" pitchFamily="34" charset="-122"/>
                <a:cs typeface="Arial" pitchFamily="34" charset="-120"/>
              </a:rPr>
              <a:t>Backend</a:t>
            </a:r>
            <a:endParaRPr lang="en-US" sz="1500" dirty="0"/>
          </a:p>
          <a:p>
            <a:pPr marL="0" indent="0" algn="ctr">
              <a:buNone/>
            </a:pPr>
            <a:r>
              <a:rPr lang="en-US" sz="1200" dirty="0">
                <a:solidFill>
                  <a:srgbClr val="333333"/>
                </a:solidFill>
                <a:latin typeface="Arial" pitchFamily="34" charset="0"/>
                <a:ea typeface="Arial" pitchFamily="34" charset="-122"/>
                <a:cs typeface="Arial" pitchFamily="34" charset="-120"/>
              </a:rPr>
              <a:t>FastAPI on Azure</a:t>
            </a:r>
            <a:endParaRPr lang="en-US" sz="1500" dirty="0"/>
          </a:p>
        </p:txBody>
      </p:sp>
      <p:sp>
        <p:nvSpPr>
          <p:cNvPr id="9" name="node-31"/>
          <p:cNvSpPr/>
          <p:nvPr/>
        </p:nvSpPr>
        <p:spPr>
          <a:xfrm>
            <a:off x="9784080" y="1737360"/>
            <a:ext cx="1856232" cy="1188720"/>
          </a:xfrm>
          <a:prstGeom prst="roundRect">
            <a:avLst>
              <a:gd name="adj" fmla="val 7692"/>
            </a:avLst>
          </a:prstGeom>
          <a:solidFill>
            <a:srgbClr val="D5E8D4"/>
          </a:solidFill>
          <a:ln w="15875">
            <a:solidFill>
              <a:srgbClr val="82B366"/>
            </a:solidFill>
            <a:prstDash val="solid"/>
          </a:ln>
        </p:spPr>
      </p:sp>
      <p:sp>
        <p:nvSpPr>
          <p:cNvPr id="10" name="node-text-32"/>
          <p:cNvSpPr txBox="1"/>
          <p:nvPr/>
        </p:nvSpPr>
        <p:spPr>
          <a:xfrm>
            <a:off x="9857232" y="1737360"/>
            <a:ext cx="1709928" cy="1188720"/>
          </a:xfrm>
          <a:prstGeom prst="rect">
            <a:avLst/>
          </a:prstGeom>
          <a:noFill/>
          <a:ln/>
        </p:spPr>
        <p:txBody>
          <a:bodyPr wrap="square" lIns="0" tIns="0" rIns="0" bIns="0" rtlCol="0" anchor="ctr"/>
          <a:lstStyle/>
          <a:p>
            <a:pPr marL="0" indent="0" algn="ctr">
              <a:buNone/>
            </a:pPr>
            <a:r>
              <a:rPr lang="en-US" sz="1500" b="1" dirty="0">
                <a:solidFill>
                  <a:srgbClr val="333333"/>
                </a:solidFill>
                <a:latin typeface="Arial" pitchFamily="34" charset="0"/>
                <a:ea typeface="Arial" pitchFamily="34" charset="-122"/>
                <a:cs typeface="Arial" pitchFamily="34" charset="-120"/>
              </a:rPr>
              <a:t>OpenTripPlanner</a:t>
            </a:r>
            <a:endParaRPr lang="en-US" sz="1500" dirty="0"/>
          </a:p>
          <a:p>
            <a:pPr marL="0" indent="0" algn="ctr">
              <a:buNone/>
            </a:pPr>
            <a:r>
              <a:rPr lang="en-US" sz="1200" dirty="0">
                <a:solidFill>
                  <a:srgbClr val="333333"/>
                </a:solidFill>
                <a:latin typeface="Arial" pitchFamily="34" charset="0"/>
                <a:ea typeface="Arial" pitchFamily="34" charset="-122"/>
                <a:cs typeface="Arial" pitchFamily="34" charset="-120"/>
              </a:rPr>
              <a:t>our server (Azure VM)</a:t>
            </a:r>
            <a:endParaRPr lang="en-US" sz="1500" dirty="0"/>
          </a:p>
        </p:txBody>
      </p:sp>
      <p:sp>
        <p:nvSpPr>
          <p:cNvPr id="11" name="edge-33"/>
          <p:cNvSpPr/>
          <p:nvPr/>
        </p:nvSpPr>
        <p:spPr>
          <a:xfrm>
            <a:off x="2011680" y="2194560"/>
            <a:ext cx="1463040" cy="914"/>
          </a:xfrm>
          <a:prstGeom prst="line">
            <a:avLst/>
          </a:prstGeom>
          <a:noFill/>
          <a:ln w="15875">
            <a:solidFill>
              <a:srgbClr val="333333"/>
            </a:solidFill>
            <a:prstDash val="solid"/>
            <a:tailEnd type="triangle"/>
          </a:ln>
        </p:spPr>
      </p:sp>
      <p:sp>
        <p:nvSpPr>
          <p:cNvPr id="12" name="edge-label-34"/>
          <p:cNvSpPr txBox="1"/>
          <p:nvPr/>
        </p:nvSpPr>
        <p:spPr>
          <a:xfrm>
            <a:off x="1920240" y="1874520"/>
            <a:ext cx="1645920" cy="274320"/>
          </a:xfrm>
          <a:prstGeom prst="rect">
            <a:avLst/>
          </a:prstGeom>
          <a:noFill/>
          <a:ln/>
        </p:spPr>
        <p:txBody>
          <a:bodyPr wrap="square" lIns="0" tIns="0" rIns="0" bIns="0" rtlCol="0" anchor="ctr"/>
          <a:lstStyle/>
          <a:p>
            <a:pPr marL="0" indent="0" algn="ctr">
              <a:buNone/>
            </a:pPr>
            <a:r>
              <a:rPr lang="en-US" sz="1200" dirty="0">
                <a:solidFill>
                  <a:srgbClr val="333333"/>
                </a:solidFill>
                <a:latin typeface="Arial" pitchFamily="34" charset="0"/>
                <a:ea typeface="Arial" pitchFamily="34" charset="-122"/>
                <a:cs typeface="Arial" pitchFamily="34" charset="-120"/>
              </a:rPr>
              <a:t>start, end, time</a:t>
            </a:r>
            <a:endParaRPr lang="en-US" sz="1200" dirty="0"/>
          </a:p>
        </p:txBody>
      </p:sp>
      <p:sp>
        <p:nvSpPr>
          <p:cNvPr id="13" name="edge-35"/>
          <p:cNvSpPr/>
          <p:nvPr/>
        </p:nvSpPr>
        <p:spPr>
          <a:xfrm flipH="1">
            <a:off x="2011680" y="2468880"/>
            <a:ext cx="1463040" cy="914"/>
          </a:xfrm>
          <a:prstGeom prst="line">
            <a:avLst/>
          </a:prstGeom>
          <a:noFill/>
          <a:ln w="15875">
            <a:solidFill>
              <a:srgbClr val="333333"/>
            </a:solidFill>
            <a:prstDash val="solid"/>
            <a:tailEnd type="triangle"/>
          </a:ln>
        </p:spPr>
      </p:sp>
      <p:sp>
        <p:nvSpPr>
          <p:cNvPr id="14" name="edge-label-36"/>
          <p:cNvSpPr txBox="1"/>
          <p:nvPr/>
        </p:nvSpPr>
        <p:spPr>
          <a:xfrm>
            <a:off x="1920240" y="2514600"/>
            <a:ext cx="1645920" cy="274320"/>
          </a:xfrm>
          <a:prstGeom prst="rect">
            <a:avLst/>
          </a:prstGeom>
          <a:noFill/>
          <a:ln/>
        </p:spPr>
        <p:txBody>
          <a:bodyPr wrap="square" lIns="0" tIns="0" rIns="0" bIns="0" rtlCol="0" anchor="ctr"/>
          <a:lstStyle/>
          <a:p>
            <a:pPr marL="0" indent="0" algn="ctr">
              <a:buNone/>
            </a:pPr>
            <a:r>
              <a:rPr lang="en-US" sz="1200" dirty="0">
                <a:solidFill>
                  <a:srgbClr val="333333"/>
                </a:solidFill>
                <a:latin typeface="Arial" pitchFamily="34" charset="0"/>
                <a:ea typeface="Arial" pitchFamily="34" charset="-122"/>
                <a:cs typeface="Arial" pitchFamily="34" charset="-120"/>
              </a:rPr>
              <a:t>route on map</a:t>
            </a:r>
            <a:endParaRPr lang="en-US" sz="1200" dirty="0"/>
          </a:p>
        </p:txBody>
      </p:sp>
      <p:sp>
        <p:nvSpPr>
          <p:cNvPr id="15" name="edge-37"/>
          <p:cNvSpPr/>
          <p:nvPr/>
        </p:nvSpPr>
        <p:spPr>
          <a:xfrm>
            <a:off x="5166360" y="2194560"/>
            <a:ext cx="1463040" cy="914"/>
          </a:xfrm>
          <a:prstGeom prst="line">
            <a:avLst/>
          </a:prstGeom>
          <a:noFill/>
          <a:ln w="15875">
            <a:solidFill>
              <a:srgbClr val="333333"/>
            </a:solidFill>
            <a:prstDash val="solid"/>
            <a:tailEnd type="triangle"/>
          </a:ln>
        </p:spPr>
      </p:sp>
      <p:sp>
        <p:nvSpPr>
          <p:cNvPr id="16" name="edge-label-38"/>
          <p:cNvSpPr txBox="1"/>
          <p:nvPr/>
        </p:nvSpPr>
        <p:spPr>
          <a:xfrm>
            <a:off x="5074920" y="1874520"/>
            <a:ext cx="1645920" cy="274320"/>
          </a:xfrm>
          <a:prstGeom prst="rect">
            <a:avLst/>
          </a:prstGeom>
          <a:noFill/>
          <a:ln/>
        </p:spPr>
        <p:txBody>
          <a:bodyPr wrap="square" lIns="0" tIns="0" rIns="0" bIns="0" rtlCol="0" anchor="ctr"/>
          <a:lstStyle/>
          <a:p>
            <a:pPr marL="0" indent="0" algn="ctr">
              <a:buNone/>
            </a:pPr>
            <a:r>
              <a:rPr lang="en-US" sz="1200" dirty="0">
                <a:solidFill>
                  <a:srgbClr val="333333"/>
                </a:solidFill>
                <a:latin typeface="Arial" pitchFamily="34" charset="0"/>
                <a:ea typeface="Arial" pitchFamily="34" charset="-122"/>
                <a:cs typeface="Arial" pitchFamily="34" charset="-120"/>
              </a:rPr>
              <a:t>request</a:t>
            </a:r>
            <a:endParaRPr lang="en-US" sz="1200" dirty="0"/>
          </a:p>
        </p:txBody>
      </p:sp>
      <p:sp>
        <p:nvSpPr>
          <p:cNvPr id="17" name="edge-39"/>
          <p:cNvSpPr/>
          <p:nvPr/>
        </p:nvSpPr>
        <p:spPr>
          <a:xfrm flipH="1">
            <a:off x="5166360" y="2468880"/>
            <a:ext cx="1463040" cy="914"/>
          </a:xfrm>
          <a:prstGeom prst="line">
            <a:avLst/>
          </a:prstGeom>
          <a:noFill/>
          <a:ln w="15875">
            <a:solidFill>
              <a:srgbClr val="333333"/>
            </a:solidFill>
            <a:prstDash val="solid"/>
            <a:tailEnd type="triangle"/>
          </a:ln>
        </p:spPr>
      </p:sp>
      <p:sp>
        <p:nvSpPr>
          <p:cNvPr id="18" name="edge-label-40"/>
          <p:cNvSpPr txBox="1"/>
          <p:nvPr/>
        </p:nvSpPr>
        <p:spPr>
          <a:xfrm>
            <a:off x="5074920" y="2514600"/>
            <a:ext cx="1645920" cy="274320"/>
          </a:xfrm>
          <a:prstGeom prst="rect">
            <a:avLst/>
          </a:prstGeom>
          <a:noFill/>
          <a:ln/>
        </p:spPr>
        <p:txBody>
          <a:bodyPr wrap="square" lIns="0" tIns="0" rIns="0" bIns="0" rtlCol="0" anchor="ctr"/>
          <a:lstStyle/>
          <a:p>
            <a:pPr marL="0" indent="0" algn="ctr">
              <a:buNone/>
            </a:pPr>
            <a:r>
              <a:rPr lang="en-US" sz="1200" dirty="0">
                <a:solidFill>
                  <a:srgbClr val="333333"/>
                </a:solidFill>
                <a:latin typeface="Arial" pitchFamily="34" charset="0"/>
                <a:ea typeface="Arial" pitchFamily="34" charset="-122"/>
                <a:cs typeface="Arial" pitchFamily="34" charset="-120"/>
              </a:rPr>
              <a:t>3 journeys</a:t>
            </a:r>
            <a:endParaRPr lang="en-US" sz="1200" dirty="0"/>
          </a:p>
        </p:txBody>
      </p:sp>
      <p:sp>
        <p:nvSpPr>
          <p:cNvPr id="19" name="edge-41"/>
          <p:cNvSpPr/>
          <p:nvPr/>
        </p:nvSpPr>
        <p:spPr>
          <a:xfrm>
            <a:off x="8321040" y="2194560"/>
            <a:ext cx="1463040" cy="914"/>
          </a:xfrm>
          <a:prstGeom prst="line">
            <a:avLst/>
          </a:prstGeom>
          <a:noFill/>
          <a:ln w="15875">
            <a:solidFill>
              <a:srgbClr val="333333"/>
            </a:solidFill>
            <a:prstDash val="solid"/>
            <a:tailEnd type="triangle"/>
          </a:ln>
        </p:spPr>
      </p:sp>
      <p:sp>
        <p:nvSpPr>
          <p:cNvPr id="20" name="edge-label-42"/>
          <p:cNvSpPr txBox="1"/>
          <p:nvPr/>
        </p:nvSpPr>
        <p:spPr>
          <a:xfrm>
            <a:off x="8229600" y="1874520"/>
            <a:ext cx="1645920" cy="274320"/>
          </a:xfrm>
          <a:prstGeom prst="rect">
            <a:avLst/>
          </a:prstGeom>
          <a:noFill/>
          <a:ln/>
        </p:spPr>
        <p:txBody>
          <a:bodyPr wrap="square" lIns="0" tIns="0" rIns="0" bIns="0" rtlCol="0" anchor="ctr"/>
          <a:lstStyle/>
          <a:p>
            <a:pPr marL="0" indent="0" algn="ctr">
              <a:buNone/>
            </a:pPr>
            <a:r>
              <a:rPr lang="en-US" sz="1200" dirty="0">
                <a:solidFill>
                  <a:srgbClr val="333333"/>
                </a:solidFill>
                <a:latin typeface="Arial" pitchFamily="34" charset="0"/>
                <a:ea typeface="Arial" pitchFamily="34" charset="-122"/>
                <a:cs typeface="Arial" pitchFamily="34" charset="-120"/>
              </a:rPr>
              <a:t>trip + time</a:t>
            </a:r>
            <a:endParaRPr lang="en-US" sz="1200" dirty="0"/>
          </a:p>
        </p:txBody>
      </p:sp>
      <p:sp>
        <p:nvSpPr>
          <p:cNvPr id="21" name="edge-43"/>
          <p:cNvSpPr/>
          <p:nvPr/>
        </p:nvSpPr>
        <p:spPr>
          <a:xfrm flipH="1">
            <a:off x="8321040" y="2468880"/>
            <a:ext cx="1463040" cy="914"/>
          </a:xfrm>
          <a:prstGeom prst="line">
            <a:avLst/>
          </a:prstGeom>
          <a:noFill/>
          <a:ln w="15875">
            <a:solidFill>
              <a:srgbClr val="333333"/>
            </a:solidFill>
            <a:prstDash val="solid"/>
            <a:tailEnd type="triangle"/>
          </a:ln>
        </p:spPr>
      </p:sp>
      <p:sp>
        <p:nvSpPr>
          <p:cNvPr id="22" name="edge-label-44"/>
          <p:cNvSpPr txBox="1"/>
          <p:nvPr/>
        </p:nvSpPr>
        <p:spPr>
          <a:xfrm>
            <a:off x="8229600" y="2514600"/>
            <a:ext cx="1645920" cy="274320"/>
          </a:xfrm>
          <a:prstGeom prst="rect">
            <a:avLst/>
          </a:prstGeom>
          <a:noFill/>
          <a:ln/>
        </p:spPr>
        <p:txBody>
          <a:bodyPr wrap="square" lIns="0" tIns="0" rIns="0" bIns="0" rtlCol="0" anchor="ctr"/>
          <a:lstStyle/>
          <a:p>
            <a:pPr marL="0" indent="0" algn="ctr">
              <a:buNone/>
            </a:pPr>
            <a:r>
              <a:rPr lang="en-US" sz="1200" dirty="0">
                <a:solidFill>
                  <a:srgbClr val="333333"/>
                </a:solidFill>
                <a:latin typeface="Arial" pitchFamily="34" charset="0"/>
                <a:ea typeface="Arial" pitchFamily="34" charset="-122"/>
                <a:cs typeface="Arial" pitchFamily="34" charset="-120"/>
              </a:rPr>
              <a:t>journeys</a:t>
            </a:r>
            <a:endParaRPr lang="en-US" sz="1200" dirty="0"/>
          </a:p>
        </p:txBody>
      </p:sp>
      <p:sp>
        <p:nvSpPr>
          <p:cNvPr id="23" name="node-45"/>
          <p:cNvSpPr/>
          <p:nvPr/>
        </p:nvSpPr>
        <p:spPr>
          <a:xfrm>
            <a:off x="6355080" y="4114800"/>
            <a:ext cx="2240280" cy="1371600"/>
          </a:xfrm>
          <a:prstGeom prst="roundRect">
            <a:avLst>
              <a:gd name="adj" fmla="val 6667"/>
            </a:avLst>
          </a:prstGeom>
          <a:solidFill>
            <a:srgbClr val="F5F5F5"/>
          </a:solidFill>
          <a:ln w="15875">
            <a:solidFill>
              <a:srgbClr val="666666"/>
            </a:solidFill>
            <a:prstDash val="solid"/>
          </a:ln>
        </p:spPr>
      </p:sp>
      <p:sp>
        <p:nvSpPr>
          <p:cNvPr id="24" name="node-text-46"/>
          <p:cNvSpPr txBox="1"/>
          <p:nvPr/>
        </p:nvSpPr>
        <p:spPr>
          <a:xfrm>
            <a:off x="6428232" y="4114800"/>
            <a:ext cx="2093976" cy="1371600"/>
          </a:xfrm>
          <a:prstGeom prst="rect">
            <a:avLst/>
          </a:prstGeom>
          <a:noFill/>
          <a:ln/>
        </p:spPr>
        <p:txBody>
          <a:bodyPr wrap="square" lIns="0" tIns="0" rIns="0" bIns="0" rtlCol="0" anchor="ctr"/>
          <a:lstStyle/>
          <a:p>
            <a:pPr marL="0" indent="0" algn="ctr">
              <a:buNone/>
            </a:pPr>
            <a:r>
              <a:rPr lang="en-US" sz="1500" b="1" dirty="0">
                <a:solidFill>
                  <a:srgbClr val="333333"/>
                </a:solidFill>
                <a:latin typeface="Arial" pitchFamily="34" charset="0"/>
                <a:ea typeface="Arial" pitchFamily="34" charset="-122"/>
                <a:cs typeface="Arial" pitchFamily="34" charset="-120"/>
              </a:rPr>
              <a:t>Cache</a:t>
            </a:r>
            <a:endParaRPr lang="en-US" sz="1500" dirty="0"/>
          </a:p>
          <a:p>
            <a:pPr marL="0" indent="0" algn="ctr">
              <a:buNone/>
            </a:pPr>
            <a:r>
              <a:rPr lang="en-US" sz="1200" dirty="0">
                <a:solidFill>
                  <a:srgbClr val="333333"/>
                </a:solidFill>
                <a:latin typeface="Arial" pitchFamily="34" charset="0"/>
                <a:ea typeface="Arial" pitchFamily="34" charset="-122"/>
                <a:cs typeface="Arial" pitchFamily="34" charset="-120"/>
              </a:rPr>
              <a:t>same trip in the last 5 minutes?</a:t>
            </a:r>
            <a:endParaRPr lang="en-US" sz="1500" dirty="0"/>
          </a:p>
        </p:txBody>
      </p:sp>
      <p:sp>
        <p:nvSpPr>
          <p:cNvPr id="25" name="edge-47"/>
          <p:cNvSpPr/>
          <p:nvPr/>
        </p:nvSpPr>
        <p:spPr>
          <a:xfrm>
            <a:off x="7475220" y="2926080"/>
            <a:ext cx="914" cy="1188720"/>
          </a:xfrm>
          <a:prstGeom prst="line">
            <a:avLst/>
          </a:prstGeom>
          <a:noFill/>
          <a:ln w="15875">
            <a:solidFill>
              <a:srgbClr val="333333"/>
            </a:solidFill>
            <a:prstDash val="dash"/>
            <a:headEnd type="triangle"/>
            <a:tailEnd type="triangle"/>
          </a:ln>
        </p:spPr>
      </p:sp>
      <p:sp>
        <p:nvSpPr>
          <p:cNvPr id="26" name="edge-label-48"/>
          <p:cNvSpPr txBox="1"/>
          <p:nvPr/>
        </p:nvSpPr>
        <p:spPr>
          <a:xfrm>
            <a:off x="7589520" y="3383280"/>
            <a:ext cx="1371600" cy="274320"/>
          </a:xfrm>
          <a:prstGeom prst="rect">
            <a:avLst/>
          </a:prstGeom>
          <a:noFill/>
          <a:ln/>
        </p:spPr>
        <p:txBody>
          <a:bodyPr wrap="square" lIns="0" tIns="0" rIns="0" bIns="0" rtlCol="0" anchor="ctr"/>
          <a:lstStyle/>
          <a:p>
            <a:pPr marL="0" indent="0" algn="l">
              <a:buNone/>
            </a:pPr>
            <a:r>
              <a:rPr lang="en-US" sz="1200" dirty="0">
                <a:solidFill>
                  <a:srgbClr val="333333"/>
                </a:solidFill>
                <a:latin typeface="Arial" pitchFamily="34" charset="0"/>
                <a:ea typeface="Arial" pitchFamily="34" charset="-122"/>
                <a:cs typeface="Arial" pitchFamily="34" charset="-120"/>
              </a:rPr>
              <a:t>check first</a:t>
            </a:r>
            <a:endParaRPr lang="en-US" sz="1200" dirty="0"/>
          </a:p>
        </p:txBody>
      </p:sp>
      <p:sp>
        <p:nvSpPr>
          <p:cNvPr id="27" name="node-49"/>
          <p:cNvSpPr/>
          <p:nvPr/>
        </p:nvSpPr>
        <p:spPr>
          <a:xfrm>
            <a:off x="9784080" y="4114800"/>
            <a:ext cx="1856232" cy="1371600"/>
          </a:xfrm>
          <a:prstGeom prst="can">
            <a:avLst>
              <a:gd name="adj" fmla="val 6667"/>
            </a:avLst>
          </a:prstGeom>
          <a:solidFill>
            <a:srgbClr val="F5F5F5"/>
          </a:solidFill>
          <a:ln w="15875">
            <a:solidFill>
              <a:srgbClr val="666666"/>
            </a:solidFill>
            <a:prstDash val="solid"/>
          </a:ln>
        </p:spPr>
      </p:sp>
      <p:sp>
        <p:nvSpPr>
          <p:cNvPr id="28" name="node-text-50"/>
          <p:cNvSpPr txBox="1"/>
          <p:nvPr/>
        </p:nvSpPr>
        <p:spPr>
          <a:xfrm>
            <a:off x="9857232" y="4389120"/>
            <a:ext cx="1709928" cy="1097280"/>
          </a:xfrm>
          <a:prstGeom prst="rect">
            <a:avLst/>
          </a:prstGeom>
          <a:noFill/>
          <a:ln/>
        </p:spPr>
        <p:txBody>
          <a:bodyPr wrap="square" lIns="0" tIns="0" rIns="0" bIns="0" rtlCol="0" anchor="ctr"/>
          <a:lstStyle/>
          <a:p>
            <a:pPr marL="0" indent="0" algn="ctr">
              <a:buNone/>
            </a:pPr>
            <a:r>
              <a:rPr lang="en-US" sz="1500" b="1" dirty="0">
                <a:solidFill>
                  <a:srgbClr val="333333"/>
                </a:solidFill>
                <a:latin typeface="Arial" pitchFamily="34" charset="0"/>
                <a:ea typeface="Arial" pitchFamily="34" charset="-122"/>
                <a:cs typeface="Arial" pitchFamily="34" charset="-120"/>
              </a:rPr>
              <a:t>Data</a:t>
            </a:r>
            <a:endParaRPr lang="en-US" sz="1500" dirty="0"/>
          </a:p>
          <a:p>
            <a:pPr marL="0" indent="0" algn="ctr">
              <a:buNone/>
            </a:pPr>
            <a:r>
              <a:rPr lang="en-US" sz="1200" dirty="0">
                <a:solidFill>
                  <a:srgbClr val="333333"/>
                </a:solidFill>
                <a:latin typeface="Arial" pitchFamily="34" charset="0"/>
                <a:ea typeface="Arial" pitchFamily="34" charset="-122"/>
                <a:cs typeface="Arial" pitchFamily="34" charset="-120"/>
              </a:rPr>
              <a:t>TFI timetables (every bus, Luas, train) + OpenStreetMap streets</a:t>
            </a:r>
            <a:endParaRPr lang="en-US" sz="1500" dirty="0"/>
          </a:p>
        </p:txBody>
      </p:sp>
      <p:sp>
        <p:nvSpPr>
          <p:cNvPr id="29" name="edge-51"/>
          <p:cNvSpPr/>
          <p:nvPr/>
        </p:nvSpPr>
        <p:spPr>
          <a:xfrm flipV="1">
            <a:off x="10712196" y="2926080"/>
            <a:ext cx="914" cy="1188720"/>
          </a:xfrm>
          <a:prstGeom prst="line">
            <a:avLst/>
          </a:prstGeom>
          <a:noFill/>
          <a:ln w="15875">
            <a:solidFill>
              <a:srgbClr val="333333"/>
            </a:solidFill>
            <a:prstDash val="solid"/>
            <a:tailEnd type="triangle"/>
          </a:ln>
        </p:spPr>
      </p:sp>
      <p:sp>
        <p:nvSpPr>
          <p:cNvPr id="30" name="edge-label-52"/>
          <p:cNvSpPr txBox="1"/>
          <p:nvPr/>
        </p:nvSpPr>
        <p:spPr>
          <a:xfrm>
            <a:off x="9144000" y="3383280"/>
            <a:ext cx="1463040" cy="274320"/>
          </a:xfrm>
          <a:prstGeom prst="rect">
            <a:avLst/>
          </a:prstGeom>
          <a:noFill/>
          <a:ln/>
        </p:spPr>
        <p:txBody>
          <a:bodyPr wrap="square" lIns="0" tIns="0" rIns="0" bIns="0" rtlCol="0" anchor="ctr"/>
          <a:lstStyle/>
          <a:p>
            <a:pPr marL="0" indent="0" algn="r">
              <a:buNone/>
            </a:pPr>
            <a:r>
              <a:rPr lang="en-US" sz="1200" dirty="0">
                <a:solidFill>
                  <a:srgbClr val="333333"/>
                </a:solidFill>
                <a:latin typeface="Arial" pitchFamily="34" charset="0"/>
                <a:ea typeface="Arial" pitchFamily="34" charset="-122"/>
                <a:cs typeface="Arial" pitchFamily="34" charset="-120"/>
              </a:rPr>
              <a:t>loaded at start</a:t>
            </a:r>
            <a:endParaRPr lang="en-US" sz="1200" dirty="0"/>
          </a:p>
        </p:txBody>
      </p:sp>
    </p:spTree>
    <p:extLst>
      <p:ext uri="{BB962C8B-B14F-4D97-AF65-F5344CB8AC3E}">
        <p14:creationId xmlns:p14="http://schemas.microsoft.com/office/powerpoint/2010/main" val="2853307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400" b="1" dirty="0">
                <a:solidFill>
                  <a:schemeClr val="tx2"/>
                </a:solidFill>
              </a:rPr>
              <a:t>How safe is each area?</a:t>
            </a:r>
            <a:endParaRPr lang="en-US" sz="34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buNone/>
            </a:pPr>
            <a:r>
              <a:rPr lang="en-US" sz="1800" dirty="0">
                <a:solidFill>
                  <a:schemeClr val="accent6"/>
                </a:solidFill>
              </a:rPr>
              <a:t>A score out of 100 from official Garda crime figures: 50 is the Dublin average, higher is safer</a:t>
            </a:r>
            <a:endParaRPr lang="en-US" sz="1800" dirty="0"/>
          </a:p>
        </p:txBody>
      </p:sp>
      <p:sp>
        <p:nvSpPr>
          <p:cNvPr id="4" name="num-64"/>
          <p:cNvSpPr/>
          <p:nvPr/>
        </p:nvSpPr>
        <p:spPr>
          <a:xfrm>
            <a:off x="548640" y="1801368"/>
            <a:ext cx="457200" cy="457200"/>
          </a:xfrm>
          <a:prstGeom prst="ellipse">
            <a:avLst/>
          </a:prstGeom>
          <a:solidFill>
            <a:schemeClr val="accent1"/>
          </a:solidFill>
          <a:ln/>
        </p:spPr>
      </p:sp>
      <p:sp>
        <p:nvSpPr>
          <p:cNvPr id="5" name="num-label-65"/>
          <p:cNvSpPr txBox="1"/>
          <p:nvPr/>
        </p:nvSpPr>
        <p:spPr>
          <a:xfrm>
            <a:off x="548640" y="180136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step-66"/>
          <p:cNvSpPr txBox="1"/>
          <p:nvPr/>
        </p:nvSpPr>
        <p:spPr>
          <a:xfrm>
            <a:off x="1188720" y="1783080"/>
            <a:ext cx="4937760" cy="914400"/>
          </a:xfrm>
          <a:prstGeom prst="rect">
            <a:avLst/>
          </a:prstGeom>
          <a:noFill/>
          <a:ln/>
        </p:spPr>
        <p:txBody>
          <a:bodyPr wrap="square" lIns="0" tIns="0" rIns="0" bIns="0" rtlCol="0" anchor="t"/>
          <a:lstStyle/>
          <a:p>
            <a:pPr marL="0" indent="0">
              <a:buNone/>
            </a:pPr>
            <a:r>
              <a:rPr lang="en-US" sz="1800" b="1" dirty="0">
                <a:solidFill>
                  <a:schemeClr val="tx2"/>
                </a:solidFill>
              </a:rPr>
              <a:t>Count street crimes</a:t>
            </a:r>
            <a:endParaRPr lang="en-US" sz="1800" dirty="0"/>
          </a:p>
          <a:p>
            <a:pPr marL="0" indent="0">
              <a:buNone/>
            </a:pPr>
            <a:r>
              <a:rPr lang="en-US" sz="1500" dirty="0">
                <a:solidFill>
                  <a:schemeClr val="tx1"/>
                </a:solidFill>
              </a:rPr>
              <a:t>robberies and public order offences, 2023–2025 (Garda figures from the CSO)</a:t>
            </a:r>
            <a:endParaRPr lang="en-US" sz="1800" dirty="0"/>
          </a:p>
        </p:txBody>
      </p:sp>
      <p:sp>
        <p:nvSpPr>
          <p:cNvPr id="7" name="num-67"/>
          <p:cNvSpPr/>
          <p:nvPr/>
        </p:nvSpPr>
        <p:spPr>
          <a:xfrm>
            <a:off x="548640" y="2871216"/>
            <a:ext cx="457200" cy="457200"/>
          </a:xfrm>
          <a:prstGeom prst="ellipse">
            <a:avLst/>
          </a:prstGeom>
          <a:solidFill>
            <a:schemeClr val="accent1"/>
          </a:solidFill>
          <a:ln/>
        </p:spPr>
      </p:sp>
      <p:sp>
        <p:nvSpPr>
          <p:cNvPr id="8" name="num-label-68"/>
          <p:cNvSpPr txBox="1"/>
          <p:nvPr/>
        </p:nvSpPr>
        <p:spPr>
          <a:xfrm>
            <a:off x="548640" y="2871216"/>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step-69"/>
          <p:cNvSpPr txBox="1"/>
          <p:nvPr/>
        </p:nvSpPr>
        <p:spPr>
          <a:xfrm>
            <a:off x="1188720" y="2852928"/>
            <a:ext cx="4937760" cy="914400"/>
          </a:xfrm>
          <a:prstGeom prst="rect">
            <a:avLst/>
          </a:prstGeom>
          <a:noFill/>
          <a:ln/>
        </p:spPr>
        <p:txBody>
          <a:bodyPr wrap="square" lIns="0" tIns="0" rIns="0" bIns="0" rtlCol="0" anchor="t"/>
          <a:lstStyle/>
          <a:p>
            <a:pPr marL="0" indent="0">
              <a:buNone/>
            </a:pPr>
            <a:r>
              <a:rPr lang="en-US" sz="1800" b="1" dirty="0">
                <a:solidFill>
                  <a:schemeClr val="tx2"/>
                </a:solidFill>
              </a:rPr>
              <a:t>Allow for how busy it is</a:t>
            </a:r>
            <a:endParaRPr lang="en-US" sz="1800" dirty="0"/>
          </a:p>
          <a:p>
            <a:pPr marL="0" indent="0">
              <a:buNone/>
            </a:pPr>
            <a:r>
              <a:rPr lang="en-US" sz="1500" dirty="0">
                <a:solidFill>
                  <a:schemeClr val="tx1"/>
                </a:solidFill>
              </a:rPr>
              <a:t>busy areas have more people, so we count crimes per person, including daytime visitors</a:t>
            </a:r>
            <a:endParaRPr lang="en-US" sz="1800" dirty="0"/>
          </a:p>
        </p:txBody>
      </p:sp>
      <p:sp>
        <p:nvSpPr>
          <p:cNvPr id="10" name="num-70"/>
          <p:cNvSpPr/>
          <p:nvPr/>
        </p:nvSpPr>
        <p:spPr>
          <a:xfrm>
            <a:off x="548640" y="3941064"/>
            <a:ext cx="457200" cy="457200"/>
          </a:xfrm>
          <a:prstGeom prst="ellipse">
            <a:avLst/>
          </a:prstGeom>
          <a:solidFill>
            <a:schemeClr val="accent1"/>
          </a:solidFill>
          <a:ln/>
        </p:spPr>
      </p:sp>
      <p:sp>
        <p:nvSpPr>
          <p:cNvPr id="11" name="num-label-71"/>
          <p:cNvSpPr txBox="1"/>
          <p:nvPr/>
        </p:nvSpPr>
        <p:spPr>
          <a:xfrm>
            <a:off x="548640" y="3941064"/>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step-72"/>
          <p:cNvSpPr txBox="1"/>
          <p:nvPr/>
        </p:nvSpPr>
        <p:spPr>
          <a:xfrm>
            <a:off x="1188720" y="3922776"/>
            <a:ext cx="4937760" cy="914400"/>
          </a:xfrm>
          <a:prstGeom prst="rect">
            <a:avLst/>
          </a:prstGeom>
          <a:noFill/>
          <a:ln/>
        </p:spPr>
        <p:txBody>
          <a:bodyPr wrap="square" lIns="0" tIns="0" rIns="0" bIns="0" rtlCol="0" anchor="t"/>
          <a:lstStyle/>
          <a:p>
            <a:pPr marL="0" indent="0">
              <a:buNone/>
            </a:pPr>
            <a:r>
              <a:rPr lang="en-US" sz="1800" b="1" dirty="0">
                <a:solidFill>
                  <a:schemeClr val="tx2"/>
                </a:solidFill>
              </a:rPr>
              <a:t>Score each small area </a:t>
            </a:r>
          </a:p>
          <a:p>
            <a:pPr marL="0" indent="0">
              <a:buNone/>
            </a:pPr>
            <a:r>
              <a:rPr lang="en-US" sz="1500" dirty="0">
                <a:solidFill>
                  <a:schemeClr val="tx2"/>
                </a:solidFill>
              </a:rPr>
              <a:t>every Census area gets its own score, so one district can show safer and less safe parts</a:t>
            </a:r>
            <a:endParaRPr lang="en-US" sz="1500" dirty="0"/>
          </a:p>
        </p:txBody>
      </p:sp>
      <p:sp>
        <p:nvSpPr>
          <p:cNvPr id="13" name="num-73"/>
          <p:cNvSpPr/>
          <p:nvPr/>
        </p:nvSpPr>
        <p:spPr>
          <a:xfrm>
            <a:off x="548640" y="5010912"/>
            <a:ext cx="457200" cy="457200"/>
          </a:xfrm>
          <a:prstGeom prst="ellipse">
            <a:avLst/>
          </a:prstGeom>
          <a:solidFill>
            <a:schemeClr val="accent1"/>
          </a:solidFill>
          <a:ln/>
        </p:spPr>
      </p:sp>
      <p:sp>
        <p:nvSpPr>
          <p:cNvPr id="14" name="num-label-74"/>
          <p:cNvSpPr txBox="1"/>
          <p:nvPr/>
        </p:nvSpPr>
        <p:spPr>
          <a:xfrm>
            <a:off x="548640" y="501091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5" name="step-75"/>
          <p:cNvSpPr txBox="1"/>
          <p:nvPr/>
        </p:nvSpPr>
        <p:spPr>
          <a:xfrm>
            <a:off x="1188720" y="4992624"/>
            <a:ext cx="4937760" cy="914400"/>
          </a:xfrm>
          <a:prstGeom prst="rect">
            <a:avLst/>
          </a:prstGeom>
          <a:noFill/>
          <a:ln/>
        </p:spPr>
        <p:txBody>
          <a:bodyPr wrap="square" lIns="0" tIns="0" rIns="0" bIns="0" rtlCol="0" anchor="t"/>
          <a:lstStyle/>
          <a:p>
            <a:pPr marL="0" indent="0">
              <a:buNone/>
            </a:pPr>
            <a:r>
              <a:rPr lang="en-US" sz="1800" b="1" dirty="0">
                <a:solidFill>
                  <a:schemeClr val="tx2"/>
                </a:solidFill>
              </a:rPr>
              <a:t>Show it </a:t>
            </a:r>
            <a:r>
              <a:rPr lang="en-US" b="1" dirty="0">
                <a:solidFill>
                  <a:schemeClr val="tx2"/>
                </a:solidFill>
              </a:rPr>
              <a:t>as </a:t>
            </a:r>
            <a:r>
              <a:rPr lang="en-US" sz="1800" b="1" dirty="0">
                <a:solidFill>
                  <a:schemeClr val="tx2"/>
                </a:solidFill>
              </a:rPr>
              <a:t>a heatmap</a:t>
            </a:r>
            <a:endParaRPr lang="en-US" sz="1800" dirty="0"/>
          </a:p>
          <a:p>
            <a:pPr marL="0" indent="0">
              <a:buNone/>
            </a:pPr>
            <a:r>
              <a:rPr lang="en-US" sz="1500" dirty="0">
                <a:solidFill>
                  <a:schemeClr val="tx1"/>
                </a:solidFill>
              </a:rPr>
              <a:t>each district map is coloured area by area, from red to green</a:t>
            </a:r>
            <a:endParaRPr lang="en-US" sz="1800" dirty="0"/>
          </a:p>
        </p:txBody>
      </p:sp>
      <p:pic>
        <p:nvPicPr>
          <p:cNvPr id="19" name="Picture 18">
            <a:extLst>
              <a:ext uri="{FF2B5EF4-FFF2-40B4-BE49-F238E27FC236}">
                <a16:creationId xmlns:a16="http://schemas.microsoft.com/office/drawing/2014/main" id="{131CBBD1-2C59-9C3E-C7CB-206EBC71E47F}"/>
              </a:ext>
            </a:extLst>
          </p:cNvPr>
          <p:cNvPicPr>
            <a:picLocks noChangeAspect="1"/>
          </p:cNvPicPr>
          <p:nvPr/>
        </p:nvPicPr>
        <p:blipFill>
          <a:blip r:embed="rId3"/>
          <a:stretch>
            <a:fillRect/>
          </a:stretch>
        </p:blipFill>
        <p:spPr>
          <a:xfrm>
            <a:off x="7668079" y="1300353"/>
            <a:ext cx="3443091" cy="3141726"/>
          </a:xfrm>
          <a:prstGeom prst="rect">
            <a:avLst/>
          </a:prstGeom>
        </p:spPr>
      </p:pic>
      <p:pic>
        <p:nvPicPr>
          <p:cNvPr id="21" name="Picture 20">
            <a:extLst>
              <a:ext uri="{FF2B5EF4-FFF2-40B4-BE49-F238E27FC236}">
                <a16:creationId xmlns:a16="http://schemas.microsoft.com/office/drawing/2014/main" id="{9A8A5479-C0C4-3FFE-89CD-92734607EFDD}"/>
              </a:ext>
            </a:extLst>
          </p:cNvPr>
          <p:cNvPicPr>
            <a:picLocks noChangeAspect="1"/>
          </p:cNvPicPr>
          <p:nvPr/>
        </p:nvPicPr>
        <p:blipFill>
          <a:blip r:embed="rId4"/>
          <a:stretch>
            <a:fillRect/>
          </a:stretch>
        </p:blipFill>
        <p:spPr>
          <a:xfrm>
            <a:off x="7192389" y="4442079"/>
            <a:ext cx="4605548" cy="2251601"/>
          </a:xfrm>
          <a:prstGeom prst="rect">
            <a:avLst/>
          </a:prstGeom>
        </p:spPr>
      </p:pic>
    </p:spTree>
    <p:extLst>
      <p:ext uri="{BB962C8B-B14F-4D97-AF65-F5344CB8AC3E}">
        <p14:creationId xmlns:p14="http://schemas.microsoft.com/office/powerpoint/2010/main" val="229799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400" b="1" dirty="0">
                <a:solidFill>
                  <a:schemeClr val="tx2"/>
                </a:solidFill>
              </a:rPr>
              <a:t>Property listings: where can students live?</a:t>
            </a:r>
            <a:endParaRPr lang="en-US" sz="3400" dirty="0"/>
          </a:p>
        </p:txBody>
      </p:sp>
      <p:sp>
        <p:nvSpPr>
          <p:cNvPr id="4" name="num-76"/>
          <p:cNvSpPr/>
          <p:nvPr/>
        </p:nvSpPr>
        <p:spPr>
          <a:xfrm>
            <a:off x="548640" y="1801368"/>
            <a:ext cx="457200" cy="457200"/>
          </a:xfrm>
          <a:prstGeom prst="ellipse">
            <a:avLst/>
          </a:prstGeom>
          <a:solidFill>
            <a:schemeClr val="accent1"/>
          </a:solidFill>
          <a:ln/>
        </p:spPr>
      </p:sp>
      <p:sp>
        <p:nvSpPr>
          <p:cNvPr id="5" name="num-label-77"/>
          <p:cNvSpPr txBox="1"/>
          <p:nvPr/>
        </p:nvSpPr>
        <p:spPr>
          <a:xfrm>
            <a:off x="548640" y="180136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step-78"/>
          <p:cNvSpPr txBox="1"/>
          <p:nvPr/>
        </p:nvSpPr>
        <p:spPr>
          <a:xfrm>
            <a:off x="1188720" y="1783080"/>
            <a:ext cx="4937760" cy="914400"/>
          </a:xfrm>
          <a:prstGeom prst="rect">
            <a:avLst/>
          </a:prstGeom>
          <a:noFill/>
          <a:ln/>
        </p:spPr>
        <p:txBody>
          <a:bodyPr wrap="square" lIns="0" tIns="0" rIns="0" bIns="0" rtlCol="0" anchor="t"/>
          <a:lstStyle/>
          <a:p>
            <a:pPr marL="0" indent="0">
              <a:buNone/>
            </a:pPr>
            <a:r>
              <a:rPr lang="en-US" sz="1800" b="1" dirty="0">
                <a:solidFill>
                  <a:schemeClr val="tx2"/>
                </a:solidFill>
              </a:rPr>
              <a:t>Rental searches</a:t>
            </a:r>
            <a:endParaRPr lang="en-US" sz="1800" dirty="0"/>
          </a:p>
          <a:p>
            <a:pPr marL="0" indent="0">
              <a:buNone/>
            </a:pPr>
            <a:r>
              <a:rPr lang="en-US" sz="1500" dirty="0">
                <a:solidFill>
                  <a:schemeClr val="tx1"/>
                </a:solidFill>
              </a:rPr>
              <a:t>one click opens Daft.ie or Rent.ie, already filtered to the area, room type and budget</a:t>
            </a:r>
            <a:endParaRPr lang="en-US" sz="1800" dirty="0"/>
          </a:p>
        </p:txBody>
      </p:sp>
      <p:sp>
        <p:nvSpPr>
          <p:cNvPr id="7" name="num-79"/>
          <p:cNvSpPr/>
          <p:nvPr/>
        </p:nvSpPr>
        <p:spPr>
          <a:xfrm>
            <a:off x="548640" y="3035808"/>
            <a:ext cx="457200" cy="457200"/>
          </a:xfrm>
          <a:prstGeom prst="ellipse">
            <a:avLst/>
          </a:prstGeom>
          <a:solidFill>
            <a:schemeClr val="accent1"/>
          </a:solidFill>
          <a:ln/>
        </p:spPr>
      </p:sp>
      <p:sp>
        <p:nvSpPr>
          <p:cNvPr id="8" name="num-label-80"/>
          <p:cNvSpPr txBox="1"/>
          <p:nvPr/>
        </p:nvSpPr>
        <p:spPr>
          <a:xfrm>
            <a:off x="548640" y="303580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step-81"/>
          <p:cNvSpPr txBox="1"/>
          <p:nvPr/>
        </p:nvSpPr>
        <p:spPr>
          <a:xfrm>
            <a:off x="1188720" y="3017520"/>
            <a:ext cx="4937760" cy="914400"/>
          </a:xfrm>
          <a:prstGeom prst="rect">
            <a:avLst/>
          </a:prstGeom>
          <a:noFill/>
          <a:ln/>
        </p:spPr>
        <p:txBody>
          <a:bodyPr wrap="square" lIns="0" tIns="0" rIns="0" bIns="0" rtlCol="0" anchor="t"/>
          <a:lstStyle/>
          <a:p>
            <a:pPr marL="0" indent="0">
              <a:buNone/>
            </a:pPr>
            <a:r>
              <a:rPr lang="en-US" sz="1800" b="1" dirty="0">
                <a:solidFill>
                  <a:schemeClr val="tx2"/>
                </a:solidFill>
              </a:rPr>
              <a:t>Student residences</a:t>
            </a:r>
            <a:endParaRPr lang="en-US" sz="1800" dirty="0"/>
          </a:p>
          <a:p>
            <a:pPr marL="0" indent="0">
              <a:buNone/>
            </a:pPr>
            <a:r>
              <a:rPr lang="en-US" sz="1500" dirty="0">
                <a:solidFill>
                  <a:schemeClr val="tx1"/>
                </a:solidFill>
              </a:rPr>
              <a:t>49 residences, each linked to its own website</a:t>
            </a:r>
            <a:endParaRPr lang="en-US" sz="1800" dirty="0"/>
          </a:p>
        </p:txBody>
      </p:sp>
      <p:sp>
        <p:nvSpPr>
          <p:cNvPr id="10" name="num-82"/>
          <p:cNvSpPr/>
          <p:nvPr/>
        </p:nvSpPr>
        <p:spPr>
          <a:xfrm>
            <a:off x="548640" y="4270248"/>
            <a:ext cx="457200" cy="457200"/>
          </a:xfrm>
          <a:prstGeom prst="ellipse">
            <a:avLst/>
          </a:prstGeom>
          <a:solidFill>
            <a:schemeClr val="accent1"/>
          </a:solidFill>
          <a:ln/>
        </p:spPr>
      </p:sp>
      <p:sp>
        <p:nvSpPr>
          <p:cNvPr id="11" name="num-label-83"/>
          <p:cNvSpPr txBox="1"/>
          <p:nvPr/>
        </p:nvSpPr>
        <p:spPr>
          <a:xfrm>
            <a:off x="548640" y="427024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step-84"/>
          <p:cNvSpPr txBox="1"/>
          <p:nvPr/>
        </p:nvSpPr>
        <p:spPr>
          <a:xfrm>
            <a:off x="1188720" y="4251960"/>
            <a:ext cx="4937760" cy="914400"/>
          </a:xfrm>
          <a:prstGeom prst="rect">
            <a:avLst/>
          </a:prstGeom>
          <a:noFill/>
          <a:ln/>
        </p:spPr>
        <p:txBody>
          <a:bodyPr wrap="square" lIns="0" tIns="0" rIns="0" bIns="0" rtlCol="0" anchor="t"/>
          <a:lstStyle/>
          <a:p>
            <a:pPr marL="0" indent="0">
              <a:buNone/>
            </a:pPr>
            <a:r>
              <a:rPr lang="en-US" sz="1800" b="1" dirty="0">
                <a:solidFill>
                  <a:schemeClr val="tx2"/>
                </a:solidFill>
              </a:rPr>
              <a:t>On the map</a:t>
            </a:r>
            <a:endParaRPr lang="en-US" sz="1800" dirty="0"/>
          </a:p>
          <a:p>
            <a:pPr marL="0" indent="0">
              <a:buNone/>
            </a:pPr>
            <a:r>
              <a:rPr lang="en-US" sz="1500" dirty="0">
                <a:solidFill>
                  <a:schemeClr val="tx1"/>
                </a:solidFill>
              </a:rPr>
              <a:t>switch on “Student homes” to see where they are on the safety map</a:t>
            </a:r>
            <a:endParaRPr lang="en-US" sz="1800" dirty="0"/>
          </a:p>
        </p:txBody>
      </p:sp>
      <p:pic>
        <p:nvPicPr>
          <p:cNvPr id="36" name="Picture 35">
            <a:extLst>
              <a:ext uri="{FF2B5EF4-FFF2-40B4-BE49-F238E27FC236}">
                <a16:creationId xmlns:a16="http://schemas.microsoft.com/office/drawing/2014/main" id="{467CBFF3-1C44-71BB-B985-AE660223336D}"/>
              </a:ext>
            </a:extLst>
          </p:cNvPr>
          <p:cNvPicPr>
            <a:picLocks noChangeAspect="1"/>
          </p:cNvPicPr>
          <p:nvPr/>
        </p:nvPicPr>
        <p:blipFill>
          <a:blip r:embed="rId3"/>
          <a:stretch>
            <a:fillRect/>
          </a:stretch>
        </p:blipFill>
        <p:spPr>
          <a:xfrm>
            <a:off x="6422571" y="1445852"/>
            <a:ext cx="5438188" cy="3720508"/>
          </a:xfrm>
          <a:prstGeom prst="rect">
            <a:avLst/>
          </a:prstGeom>
        </p:spPr>
      </p:pic>
      <p:sp>
        <p:nvSpPr>
          <p:cNvPr id="37" name="TextBox 36">
            <a:extLst>
              <a:ext uri="{FF2B5EF4-FFF2-40B4-BE49-F238E27FC236}">
                <a16:creationId xmlns:a16="http://schemas.microsoft.com/office/drawing/2014/main" id="{607343E9-982C-F151-5245-50739B9CDCA6}"/>
              </a:ext>
            </a:extLst>
          </p:cNvPr>
          <p:cNvSpPr txBox="1"/>
          <p:nvPr/>
        </p:nvSpPr>
        <p:spPr>
          <a:xfrm>
            <a:off x="1534886" y="407125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723030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400" b="1" dirty="0">
                <a:solidFill>
                  <a:schemeClr val="tx2"/>
                </a:solidFill>
              </a:rPr>
              <a:t>Is the data legal to use?</a:t>
            </a:r>
            <a:endParaRPr lang="en-US" sz="34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buNone/>
            </a:pPr>
            <a:r>
              <a:rPr lang="en-US" sz="1800" dirty="0">
                <a:solidFill>
                  <a:schemeClr val="accent6"/>
                </a:solidFill>
              </a:rPr>
              <a:t>Yes. The data is free and official and our links pass on no personal data</a:t>
            </a:r>
            <a:endParaRPr lang="en-US" sz="1800" dirty="0"/>
          </a:p>
        </p:txBody>
      </p:sp>
      <p:sp>
        <p:nvSpPr>
          <p:cNvPr id="4" name="box-102"/>
          <p:cNvSpPr/>
          <p:nvPr/>
        </p:nvSpPr>
        <p:spPr>
          <a:xfrm>
            <a:off x="548640" y="1783080"/>
            <a:ext cx="5349240" cy="3566160"/>
          </a:xfrm>
          <a:prstGeom prst="roundRect">
            <a:avLst>
              <a:gd name="adj" fmla="val 2564"/>
            </a:avLst>
          </a:prstGeom>
          <a:solidFill>
            <a:schemeClr val="bg2"/>
          </a:solidFill>
          <a:ln/>
        </p:spPr>
      </p:sp>
      <p:sp>
        <p:nvSpPr>
          <p:cNvPr id="5" name="badge-103"/>
          <p:cNvSpPr/>
          <p:nvPr/>
        </p:nvSpPr>
        <p:spPr>
          <a:xfrm>
            <a:off x="822960" y="2057400"/>
            <a:ext cx="640080" cy="640080"/>
          </a:xfrm>
          <a:prstGeom prst="ellipse">
            <a:avLst/>
          </a:prstGeom>
          <a:solidFill>
            <a:schemeClr val="accent5"/>
          </a:solidFill>
          <a:ln/>
        </p:spPr>
      </p:sp>
      <p:pic>
        <p:nvPicPr>
          <p:cNvPr id="6" name="badge-icon-104" descr="preencoded.png"/>
          <p:cNvPicPr>
            <a:picLocks noChangeAspect="1"/>
          </p:cNvPicPr>
          <p:nvPr/>
        </p:nvPicPr>
        <p:blipFill>
          <a:blip r:embed="rId3"/>
          <a:stretch>
            <a:fillRect/>
          </a:stretch>
        </p:blipFill>
        <p:spPr>
          <a:xfrm>
            <a:off x="950976" y="2185416"/>
            <a:ext cx="384048" cy="384048"/>
          </a:xfrm>
          <a:prstGeom prst="rect">
            <a:avLst/>
          </a:prstGeom>
        </p:spPr>
      </p:pic>
      <p:sp>
        <p:nvSpPr>
          <p:cNvPr id="7" name="legal-head-105"/>
          <p:cNvSpPr txBox="1"/>
          <p:nvPr/>
        </p:nvSpPr>
        <p:spPr>
          <a:xfrm>
            <a:off x="1645920" y="2103120"/>
            <a:ext cx="4069080"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Free to use, with credit</a:t>
            </a:r>
            <a:endParaRPr lang="en-US" sz="2200" dirty="0"/>
          </a:p>
        </p:txBody>
      </p:sp>
      <p:sp>
        <p:nvSpPr>
          <p:cNvPr id="8" name="legal-list-106"/>
          <p:cNvSpPr txBox="1"/>
          <p:nvPr/>
        </p:nvSpPr>
        <p:spPr>
          <a:xfrm>
            <a:off x="868680" y="2971800"/>
            <a:ext cx="480060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Bus, Luas and train timetables (TFI)</a:t>
            </a:r>
            <a:endParaRPr lang="en-US" sz="1600" dirty="0"/>
          </a:p>
          <a:p>
            <a:pPr marL="342900" indent="-342900">
              <a:spcAft>
                <a:spcPts val="800"/>
              </a:spcAft>
              <a:buSzPct val="100000"/>
              <a:buChar char="•"/>
            </a:pPr>
            <a:r>
              <a:rPr lang="en-US" sz="1600" dirty="0">
                <a:solidFill>
                  <a:schemeClr val="tx1"/>
                </a:solidFill>
              </a:rPr>
              <a:t>Crime figures and Census (CSO)</a:t>
            </a:r>
            <a:endParaRPr lang="en-US" sz="1600" dirty="0"/>
          </a:p>
          <a:p>
            <a:pPr marL="342900" indent="-342900">
              <a:spcAft>
                <a:spcPts val="800"/>
              </a:spcAft>
              <a:buSzPct val="100000"/>
              <a:buChar char="•"/>
            </a:pPr>
            <a:r>
              <a:rPr lang="en-US" sz="1600" dirty="0">
                <a:solidFill>
                  <a:schemeClr val="tx1"/>
                </a:solidFill>
              </a:rPr>
              <a:t>Rents (RTB, via the CSO)</a:t>
            </a:r>
            <a:endParaRPr lang="en-US" sz="1600" dirty="0"/>
          </a:p>
          <a:p>
            <a:pPr marL="342900" indent="-342900">
              <a:spcAft>
                <a:spcPts val="800"/>
              </a:spcAft>
              <a:buSzPct val="100000"/>
              <a:buChar char="•"/>
            </a:pPr>
            <a:r>
              <a:rPr lang="en-US" sz="1600" dirty="0">
                <a:solidFill>
                  <a:schemeClr val="tx1"/>
                </a:solidFill>
              </a:rPr>
              <a:t>Street maps (OpenStreetMap)</a:t>
            </a:r>
            <a:endParaRPr lang="en-US" sz="1600" dirty="0"/>
          </a:p>
          <a:p>
            <a:pPr marL="342900" indent="-342900">
              <a:spcAft>
                <a:spcPts val="800"/>
              </a:spcAft>
              <a:buSzPct val="100000"/>
              <a:buChar char="•"/>
            </a:pPr>
            <a:r>
              <a:rPr lang="en-US" sz="1600" dirty="0">
                <a:solidFill>
                  <a:schemeClr val="tx1"/>
                </a:solidFill>
              </a:rPr>
              <a:t>We name every source on the website</a:t>
            </a:r>
            <a:endParaRPr lang="en-US" sz="1600" dirty="0"/>
          </a:p>
        </p:txBody>
      </p:sp>
      <p:sp>
        <p:nvSpPr>
          <p:cNvPr id="9" name="box-107"/>
          <p:cNvSpPr/>
          <p:nvPr/>
        </p:nvSpPr>
        <p:spPr>
          <a:xfrm>
            <a:off x="6291072" y="1783080"/>
            <a:ext cx="5349240" cy="3566160"/>
          </a:xfrm>
          <a:prstGeom prst="roundRect">
            <a:avLst>
              <a:gd name="adj" fmla="val 2564"/>
            </a:avLst>
          </a:prstGeom>
          <a:solidFill>
            <a:schemeClr val="bg2"/>
          </a:solidFill>
          <a:ln/>
        </p:spPr>
      </p:sp>
      <p:sp>
        <p:nvSpPr>
          <p:cNvPr id="10" name="badge-108"/>
          <p:cNvSpPr/>
          <p:nvPr/>
        </p:nvSpPr>
        <p:spPr>
          <a:xfrm>
            <a:off x="6565392" y="2057400"/>
            <a:ext cx="640080" cy="640080"/>
          </a:xfrm>
          <a:prstGeom prst="ellipse">
            <a:avLst/>
          </a:prstGeom>
          <a:solidFill>
            <a:schemeClr val="accent1"/>
          </a:solidFill>
          <a:ln/>
        </p:spPr>
      </p:sp>
      <p:pic>
        <p:nvPicPr>
          <p:cNvPr id="11" name="badge-icon-109" descr="preencoded.png"/>
          <p:cNvPicPr>
            <a:picLocks noChangeAspect="1"/>
          </p:cNvPicPr>
          <p:nvPr/>
        </p:nvPicPr>
        <p:blipFill>
          <a:blip r:embed="rId4"/>
          <a:stretch>
            <a:fillRect/>
          </a:stretch>
        </p:blipFill>
        <p:spPr>
          <a:xfrm>
            <a:off x="6693408" y="2185416"/>
            <a:ext cx="384048" cy="384048"/>
          </a:xfrm>
          <a:prstGeom prst="rect">
            <a:avLst/>
          </a:prstGeom>
        </p:spPr>
      </p:pic>
      <p:sp>
        <p:nvSpPr>
          <p:cNvPr id="12" name="legal-head-110"/>
          <p:cNvSpPr txBox="1"/>
          <p:nvPr/>
        </p:nvSpPr>
        <p:spPr>
          <a:xfrm>
            <a:off x="7388352" y="2103120"/>
            <a:ext cx="4069080"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Links</a:t>
            </a:r>
            <a:endParaRPr lang="en-US" sz="2200" dirty="0"/>
          </a:p>
        </p:txBody>
      </p:sp>
      <p:sp>
        <p:nvSpPr>
          <p:cNvPr id="13" name="links-law"/>
          <p:cNvSpPr txBox="1"/>
          <p:nvPr/>
        </p:nvSpPr>
        <p:spPr>
          <a:xfrm>
            <a:off x="6611112" y="2971800"/>
            <a:ext cx="4800600" cy="219456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solidFill>
                  <a:schemeClr val="tx1"/>
                </a:solidFill>
              </a:rPr>
              <a:t>We have added links for </a:t>
            </a:r>
            <a:r>
              <a:rPr lang="en-US" sz="1600" dirty="0" err="1">
                <a:solidFill>
                  <a:schemeClr val="tx1"/>
                </a:solidFill>
              </a:rPr>
              <a:t>daft.ie</a:t>
            </a:r>
            <a:r>
              <a:rPr lang="en-US" sz="1600" dirty="0">
                <a:solidFill>
                  <a:schemeClr val="tx1"/>
                </a:solidFill>
              </a:rPr>
              <a:t>, </a:t>
            </a:r>
            <a:r>
              <a:rPr lang="en-US" sz="1600" dirty="0" err="1">
                <a:solidFill>
                  <a:schemeClr val="tx1"/>
                </a:solidFill>
              </a:rPr>
              <a:t>rent.ie</a:t>
            </a:r>
            <a:r>
              <a:rPr lang="en-US" sz="1600" dirty="0">
                <a:solidFill>
                  <a:schemeClr val="tx1"/>
                </a:solidFill>
              </a:rPr>
              <a:t> and student residences.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chemeClr val="tx1"/>
                </a:solidFill>
              </a:rPr>
              <a:t>Under EU law, linking to other websites is legal (EU Court of Justice, Svensson, C-466/12, 2014), and our links carry no personal data under GDPR Article 4(1).</a:t>
            </a:r>
            <a:endParaRPr lang="en-US" sz="1600" dirty="0"/>
          </a:p>
        </p:txBody>
      </p:sp>
    </p:spTree>
    <p:extLst>
      <p:ext uri="{BB962C8B-B14F-4D97-AF65-F5344CB8AC3E}">
        <p14:creationId xmlns:p14="http://schemas.microsoft.com/office/powerpoint/2010/main" val="2692033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DB4578-8D58-CE63-85B9-89FAC7B61066}"/>
              </a:ext>
            </a:extLst>
          </p:cNvPr>
          <p:cNvPicPr>
            <a:picLocks noChangeAspect="1"/>
          </p:cNvPicPr>
          <p:nvPr/>
        </p:nvPicPr>
        <p:blipFill>
          <a:blip r:embed="rId2"/>
          <a:stretch>
            <a:fillRect/>
          </a:stretch>
        </p:blipFill>
        <p:spPr>
          <a:xfrm>
            <a:off x="9661980" y="582307"/>
            <a:ext cx="2072820" cy="1790855"/>
          </a:xfrm>
          <a:prstGeom prst="rect">
            <a:avLst/>
          </a:prstGeom>
        </p:spPr>
      </p:pic>
      <p:pic>
        <p:nvPicPr>
          <p:cNvPr id="7" name="Picture 6">
            <a:extLst>
              <a:ext uri="{FF2B5EF4-FFF2-40B4-BE49-F238E27FC236}">
                <a16:creationId xmlns:a16="http://schemas.microsoft.com/office/drawing/2014/main" id="{B9621991-ED82-20BD-9DC5-0ED0D7E71F07}"/>
              </a:ext>
            </a:extLst>
          </p:cNvPr>
          <p:cNvPicPr>
            <a:picLocks noChangeAspect="1"/>
          </p:cNvPicPr>
          <p:nvPr/>
        </p:nvPicPr>
        <p:blipFill>
          <a:blip r:embed="rId3"/>
          <a:stretch>
            <a:fillRect/>
          </a:stretch>
        </p:blipFill>
        <p:spPr>
          <a:xfrm>
            <a:off x="8946697" y="3026308"/>
            <a:ext cx="3245303" cy="2596242"/>
          </a:xfrm>
          <a:prstGeom prst="rect">
            <a:avLst/>
          </a:prstGeom>
        </p:spPr>
      </p:pic>
      <p:sp>
        <p:nvSpPr>
          <p:cNvPr id="9" name="TextBox 8">
            <a:extLst>
              <a:ext uri="{FF2B5EF4-FFF2-40B4-BE49-F238E27FC236}">
                <a16:creationId xmlns:a16="http://schemas.microsoft.com/office/drawing/2014/main" id="{77882274-A106-2BD8-6FD0-BE916AFEA864}"/>
              </a:ext>
            </a:extLst>
          </p:cNvPr>
          <p:cNvSpPr txBox="1"/>
          <p:nvPr/>
        </p:nvSpPr>
        <p:spPr>
          <a:xfrm>
            <a:off x="130628" y="831403"/>
            <a:ext cx="9682843" cy="1200329"/>
          </a:xfrm>
          <a:prstGeom prst="rect">
            <a:avLst/>
          </a:prstGeom>
          <a:noFill/>
        </p:spPr>
        <p:txBody>
          <a:bodyPr wrap="square">
            <a:spAutoFit/>
          </a:bodyPr>
          <a:lstStyle/>
          <a:p>
            <a:r>
              <a:rPr lang="en-IN" sz="3600" dirty="0">
                <a:latin typeface="Times New Roman" panose="02020603050405020304" pitchFamily="18" charset="0"/>
                <a:cs typeface="Times New Roman" panose="02020603050405020304" pitchFamily="18" charset="0"/>
              </a:rPr>
              <a:t>Set up </a:t>
            </a:r>
            <a:r>
              <a:rPr lang="en-IN" sz="3600" dirty="0" err="1">
                <a:latin typeface="Times New Roman" panose="02020603050405020304" pitchFamily="18" charset="0"/>
                <a:cs typeface="Times New Roman" panose="02020603050405020304" pitchFamily="18" charset="0"/>
              </a:rPr>
              <a:t>OpenTripPlanner</a:t>
            </a:r>
            <a:r>
              <a:rPr lang="en-IN" sz="3600" dirty="0">
                <a:latin typeface="Times New Roman" panose="02020603050405020304" pitchFamily="18" charset="0"/>
                <a:cs typeface="Times New Roman" panose="02020603050405020304" pitchFamily="18" charset="0"/>
              </a:rPr>
              <a:t> API on an Azure virtual machine:</a:t>
            </a:r>
          </a:p>
        </p:txBody>
      </p:sp>
      <p:sp>
        <p:nvSpPr>
          <p:cNvPr id="11" name="TextBox 10">
            <a:extLst>
              <a:ext uri="{FF2B5EF4-FFF2-40B4-BE49-F238E27FC236}">
                <a16:creationId xmlns:a16="http://schemas.microsoft.com/office/drawing/2014/main" id="{7808ED75-E0D1-7067-720A-AB0FDB858E49}"/>
              </a:ext>
            </a:extLst>
          </p:cNvPr>
          <p:cNvSpPr txBox="1"/>
          <p:nvPr/>
        </p:nvSpPr>
        <p:spPr>
          <a:xfrm>
            <a:off x="130628" y="2622259"/>
            <a:ext cx="8816069" cy="3416320"/>
          </a:xfrm>
          <a:prstGeom prst="rect">
            <a:avLst/>
          </a:prstGeom>
          <a:noFill/>
        </p:spPr>
        <p:txBody>
          <a:bodyPr wrap="square">
            <a:spAutoFit/>
          </a:bodyPr>
          <a:lstStyle/>
          <a:p>
            <a:pPr marL="342900" lvl="0" indent="-342900" rt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Uses Transport for Ireland timetables: bus, Luas, DART and rail</a:t>
            </a: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lvl="0" indent="-342900" rt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Combined with OpenStreetMap to calculate real commute time by walking and cycling.</a:t>
            </a: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lvl="0" indent="-342900" rt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 Calculated the distance and time using </a:t>
            </a:r>
            <a:r>
              <a:rPr lang="en-IN" sz="2400" dirty="0" err="1">
                <a:latin typeface="Times New Roman" panose="02020603050405020304" pitchFamily="18" charset="0"/>
                <a:cs typeface="Times New Roman" panose="02020603050405020304" pitchFamily="18" charset="0"/>
              </a:rPr>
              <a:t>OpenTripPlanner</a:t>
            </a:r>
            <a:r>
              <a:rPr lang="en-IN" sz="2400" dirty="0">
                <a:latin typeface="Times New Roman" panose="02020603050405020304" pitchFamily="18" charset="0"/>
                <a:cs typeface="Times New Roman" panose="02020603050405020304" pitchFamily="18" charset="0"/>
              </a:rPr>
              <a:t> API and used in the recommendation system</a:t>
            </a: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1537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9D268-A255-9104-8D39-E482189969D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93BBAA5-5C45-3BE7-6D9D-9EF1602D33DA}"/>
              </a:ext>
            </a:extLst>
          </p:cNvPr>
          <p:cNvSpPr txBox="1"/>
          <p:nvPr/>
        </p:nvSpPr>
        <p:spPr>
          <a:xfrm>
            <a:off x="130628" y="831403"/>
            <a:ext cx="9682843" cy="646331"/>
          </a:xfrm>
          <a:prstGeom prst="rect">
            <a:avLst/>
          </a:prstGeom>
          <a:noFill/>
        </p:spPr>
        <p:txBody>
          <a:bodyPr wrap="square">
            <a:spAutoFit/>
          </a:bodyPr>
          <a:lstStyle/>
          <a:p>
            <a:r>
              <a:rPr lang="en-IN" sz="3600" dirty="0">
                <a:latin typeface="Times New Roman" panose="02020603050405020304" pitchFamily="18" charset="0"/>
                <a:cs typeface="Times New Roman" panose="02020603050405020304" pitchFamily="18" charset="0"/>
              </a:rPr>
              <a:t>Journey Planner:</a:t>
            </a:r>
          </a:p>
        </p:txBody>
      </p:sp>
      <p:sp>
        <p:nvSpPr>
          <p:cNvPr id="11" name="TextBox 10">
            <a:extLst>
              <a:ext uri="{FF2B5EF4-FFF2-40B4-BE49-F238E27FC236}">
                <a16:creationId xmlns:a16="http://schemas.microsoft.com/office/drawing/2014/main" id="{600B6129-EB31-6300-C103-5E6A8F43021C}"/>
              </a:ext>
            </a:extLst>
          </p:cNvPr>
          <p:cNvSpPr txBox="1"/>
          <p:nvPr/>
        </p:nvSpPr>
        <p:spPr>
          <a:xfrm>
            <a:off x="0" y="2715103"/>
            <a:ext cx="3735421" cy="4893647"/>
          </a:xfrm>
          <a:prstGeom prst="rect">
            <a:avLst/>
          </a:prstGeom>
          <a:noFill/>
        </p:spPr>
        <p:txBody>
          <a:bodyPr wrap="square">
            <a:spAutoFit/>
          </a:bodyPr>
          <a:lstStyle/>
          <a:p>
            <a:pPr marL="342900" lvl="0" indent="-342900" rt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Added all 15 universities and famous places across Dublin.</a:t>
            </a: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lvl="0" indent="-342900" rtl="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Students can plan a route to or from any marker</a:t>
            </a: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same API is also used to calculate live delays for Journey Planner</a:t>
            </a: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6330498-36EB-CF4D-DF83-B132C65F7EE6}"/>
              </a:ext>
            </a:extLst>
          </p:cNvPr>
          <p:cNvPicPr>
            <a:picLocks noChangeAspect="1"/>
          </p:cNvPicPr>
          <p:nvPr/>
        </p:nvPicPr>
        <p:blipFill>
          <a:blip r:embed="rId2"/>
          <a:stretch>
            <a:fillRect/>
          </a:stretch>
        </p:blipFill>
        <p:spPr>
          <a:xfrm>
            <a:off x="3941057" y="1799664"/>
            <a:ext cx="8250943" cy="4875822"/>
          </a:xfrm>
          <a:prstGeom prst="rect">
            <a:avLst/>
          </a:prstGeom>
        </p:spPr>
      </p:pic>
    </p:spTree>
    <p:extLst>
      <p:ext uri="{BB962C8B-B14F-4D97-AF65-F5344CB8AC3E}">
        <p14:creationId xmlns:p14="http://schemas.microsoft.com/office/powerpoint/2010/main" val="1817734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AF16-C0A1-33A4-D4B8-93A99863CFA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6D5B873-B4B5-BF80-3FF1-3696D876E273}"/>
              </a:ext>
            </a:extLst>
          </p:cNvPr>
          <p:cNvSpPr txBox="1"/>
          <p:nvPr/>
        </p:nvSpPr>
        <p:spPr>
          <a:xfrm>
            <a:off x="130628" y="831403"/>
            <a:ext cx="9682843" cy="646331"/>
          </a:xfrm>
          <a:prstGeom prst="rect">
            <a:avLst/>
          </a:prstGeom>
          <a:noFill/>
        </p:spPr>
        <p:txBody>
          <a:bodyPr wrap="square">
            <a:spAutoFit/>
          </a:bodyPr>
          <a:lstStyle/>
          <a:p>
            <a:r>
              <a:rPr lang="en-IN" sz="3600" dirty="0">
                <a:latin typeface="Times New Roman" panose="02020603050405020304" pitchFamily="18" charset="0"/>
                <a:cs typeface="Times New Roman" panose="02020603050405020304" pitchFamily="18" charset="0"/>
              </a:rPr>
              <a:t>Journey Planner Evaluation:</a:t>
            </a:r>
          </a:p>
        </p:txBody>
      </p:sp>
      <p:pic>
        <p:nvPicPr>
          <p:cNvPr id="4" name="Picture 3">
            <a:extLst>
              <a:ext uri="{FF2B5EF4-FFF2-40B4-BE49-F238E27FC236}">
                <a16:creationId xmlns:a16="http://schemas.microsoft.com/office/drawing/2014/main" id="{84B2C2DE-DE37-8685-CFA0-AE0EA0FD06C6}"/>
              </a:ext>
            </a:extLst>
          </p:cNvPr>
          <p:cNvPicPr>
            <a:picLocks noChangeAspect="1"/>
          </p:cNvPicPr>
          <p:nvPr/>
        </p:nvPicPr>
        <p:blipFill>
          <a:blip r:embed="rId2"/>
          <a:stretch>
            <a:fillRect/>
          </a:stretch>
        </p:blipFill>
        <p:spPr>
          <a:xfrm>
            <a:off x="130628" y="1915308"/>
            <a:ext cx="5790806" cy="4111289"/>
          </a:xfrm>
          <a:prstGeom prst="rect">
            <a:avLst/>
          </a:prstGeom>
        </p:spPr>
      </p:pic>
      <p:pic>
        <p:nvPicPr>
          <p:cNvPr id="7" name="Picture 6">
            <a:extLst>
              <a:ext uri="{FF2B5EF4-FFF2-40B4-BE49-F238E27FC236}">
                <a16:creationId xmlns:a16="http://schemas.microsoft.com/office/drawing/2014/main" id="{5C8D1AC4-699D-5055-80E4-7E4B5C9584EF}"/>
              </a:ext>
            </a:extLst>
          </p:cNvPr>
          <p:cNvPicPr>
            <a:picLocks noChangeAspect="1"/>
          </p:cNvPicPr>
          <p:nvPr/>
        </p:nvPicPr>
        <p:blipFill>
          <a:blip r:embed="rId3"/>
          <a:stretch>
            <a:fillRect/>
          </a:stretch>
        </p:blipFill>
        <p:spPr>
          <a:xfrm>
            <a:off x="6270566" y="1863037"/>
            <a:ext cx="5790806" cy="4163560"/>
          </a:xfrm>
          <a:prstGeom prst="rect">
            <a:avLst/>
          </a:prstGeom>
        </p:spPr>
      </p:pic>
    </p:spTree>
    <p:extLst>
      <p:ext uri="{BB962C8B-B14F-4D97-AF65-F5344CB8AC3E}">
        <p14:creationId xmlns:p14="http://schemas.microsoft.com/office/powerpoint/2010/main" val="218059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0041-02E8-4359-B481-E0A853020AD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86E5C37-4083-CEE5-FD20-C6769333520C}"/>
              </a:ext>
            </a:extLst>
          </p:cNvPr>
          <p:cNvSpPr txBox="1"/>
          <p:nvPr/>
        </p:nvSpPr>
        <p:spPr>
          <a:xfrm>
            <a:off x="130628" y="831403"/>
            <a:ext cx="9682843" cy="646331"/>
          </a:xfrm>
          <a:prstGeom prst="rect">
            <a:avLst/>
          </a:prstGeom>
          <a:noFill/>
        </p:spPr>
        <p:txBody>
          <a:bodyPr wrap="square">
            <a:spAutoFit/>
          </a:bodyPr>
          <a:lstStyle/>
          <a:p>
            <a:r>
              <a:rPr lang="en-IN" sz="3600" dirty="0">
                <a:latin typeface="Times New Roman" panose="02020603050405020304" pitchFamily="18" charset="0"/>
                <a:cs typeface="Times New Roman" panose="02020603050405020304" pitchFamily="18" charset="0"/>
              </a:rPr>
              <a:t>Journey Planner Evaluated against Google map:</a:t>
            </a:r>
          </a:p>
        </p:txBody>
      </p:sp>
      <p:pic>
        <p:nvPicPr>
          <p:cNvPr id="3" name="Picture 2">
            <a:extLst>
              <a:ext uri="{FF2B5EF4-FFF2-40B4-BE49-F238E27FC236}">
                <a16:creationId xmlns:a16="http://schemas.microsoft.com/office/drawing/2014/main" id="{06AF9BB6-9DB5-5D16-C7B8-70CB008BC21D}"/>
              </a:ext>
            </a:extLst>
          </p:cNvPr>
          <p:cNvPicPr>
            <a:picLocks noChangeAspect="1"/>
          </p:cNvPicPr>
          <p:nvPr/>
        </p:nvPicPr>
        <p:blipFill>
          <a:blip r:embed="rId2"/>
          <a:stretch>
            <a:fillRect/>
          </a:stretch>
        </p:blipFill>
        <p:spPr>
          <a:xfrm>
            <a:off x="1" y="2901701"/>
            <a:ext cx="12192000" cy="2354288"/>
          </a:xfrm>
          <a:prstGeom prst="rect">
            <a:avLst/>
          </a:prstGeom>
        </p:spPr>
      </p:pic>
    </p:spTree>
    <p:extLst>
      <p:ext uri="{BB962C8B-B14F-4D97-AF65-F5344CB8AC3E}">
        <p14:creationId xmlns:p14="http://schemas.microsoft.com/office/powerpoint/2010/main" val="2202325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DF929-E6B5-83CC-B166-B3C62A710C3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00D98DA-914F-5798-3AB7-F65E7E933164}"/>
              </a:ext>
            </a:extLst>
          </p:cNvPr>
          <p:cNvSpPr txBox="1"/>
          <p:nvPr/>
        </p:nvSpPr>
        <p:spPr>
          <a:xfrm>
            <a:off x="161108" y="252283"/>
            <a:ext cx="9682843" cy="646331"/>
          </a:xfrm>
          <a:prstGeom prst="rect">
            <a:avLst/>
          </a:prstGeom>
          <a:noFill/>
        </p:spPr>
        <p:txBody>
          <a:bodyPr wrap="square">
            <a:spAutoFit/>
          </a:bodyPr>
          <a:lstStyle/>
          <a:p>
            <a:r>
              <a:rPr lang="en-IN" sz="3600" dirty="0">
                <a:latin typeface="Times New Roman" panose="02020603050405020304" pitchFamily="18" charset="0"/>
                <a:cs typeface="Times New Roman" panose="02020603050405020304" pitchFamily="18" charset="0"/>
              </a:rPr>
              <a:t>Automated Amenities Dataset.</a:t>
            </a:r>
          </a:p>
        </p:txBody>
      </p:sp>
      <p:pic>
        <p:nvPicPr>
          <p:cNvPr id="4" name="Picture 3">
            <a:extLst>
              <a:ext uri="{FF2B5EF4-FFF2-40B4-BE49-F238E27FC236}">
                <a16:creationId xmlns:a16="http://schemas.microsoft.com/office/drawing/2014/main" id="{91D29C63-0730-FECA-63E7-D1C105F97136}"/>
              </a:ext>
            </a:extLst>
          </p:cNvPr>
          <p:cNvPicPr>
            <a:picLocks noChangeAspect="1"/>
          </p:cNvPicPr>
          <p:nvPr/>
        </p:nvPicPr>
        <p:blipFill>
          <a:blip r:embed="rId2"/>
          <a:stretch>
            <a:fillRect/>
          </a:stretch>
        </p:blipFill>
        <p:spPr>
          <a:xfrm>
            <a:off x="7749327" y="898614"/>
            <a:ext cx="3543514" cy="1683992"/>
          </a:xfrm>
          <a:prstGeom prst="rect">
            <a:avLst/>
          </a:prstGeom>
        </p:spPr>
      </p:pic>
      <p:sp>
        <p:nvSpPr>
          <p:cNvPr id="8" name="TextBox 7">
            <a:extLst>
              <a:ext uri="{FF2B5EF4-FFF2-40B4-BE49-F238E27FC236}">
                <a16:creationId xmlns:a16="http://schemas.microsoft.com/office/drawing/2014/main" id="{7771B03F-152C-F8B5-A4B6-412A2029A077}"/>
              </a:ext>
            </a:extLst>
          </p:cNvPr>
          <p:cNvSpPr txBox="1"/>
          <p:nvPr/>
        </p:nvSpPr>
        <p:spPr>
          <a:xfrm>
            <a:off x="312420" y="1659276"/>
            <a:ext cx="7277100" cy="3416320"/>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Amenities: OpenStreetMap via the Overpass API:</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Overpass API queries OpenStreetMap and collect the amenity data across Dublin every week,</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All the amenities counts are sorted by Postal Districts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Whenever it spots any changes in the count it saves the files and redeploys automatically.</a:t>
            </a:r>
          </a:p>
        </p:txBody>
      </p:sp>
      <p:pic>
        <p:nvPicPr>
          <p:cNvPr id="11" name="Picture 10">
            <a:extLst>
              <a:ext uri="{FF2B5EF4-FFF2-40B4-BE49-F238E27FC236}">
                <a16:creationId xmlns:a16="http://schemas.microsoft.com/office/drawing/2014/main" id="{2163B290-D180-3480-D495-C993D25F5010}"/>
              </a:ext>
            </a:extLst>
          </p:cNvPr>
          <p:cNvPicPr>
            <a:picLocks noChangeAspect="1"/>
          </p:cNvPicPr>
          <p:nvPr/>
        </p:nvPicPr>
        <p:blipFill>
          <a:blip r:embed="rId3"/>
          <a:stretch>
            <a:fillRect/>
          </a:stretch>
        </p:blipFill>
        <p:spPr>
          <a:xfrm>
            <a:off x="4084321" y="5532120"/>
            <a:ext cx="8107679" cy="1193388"/>
          </a:xfrm>
          <a:prstGeom prst="rect">
            <a:avLst/>
          </a:prstGeom>
        </p:spPr>
      </p:pic>
      <p:pic>
        <p:nvPicPr>
          <p:cNvPr id="13" name="Picture 12">
            <a:extLst>
              <a:ext uri="{FF2B5EF4-FFF2-40B4-BE49-F238E27FC236}">
                <a16:creationId xmlns:a16="http://schemas.microsoft.com/office/drawing/2014/main" id="{25C22B7F-11B6-3708-F994-B5FB64B7966B}"/>
              </a:ext>
            </a:extLst>
          </p:cNvPr>
          <p:cNvPicPr>
            <a:picLocks noChangeAspect="1"/>
          </p:cNvPicPr>
          <p:nvPr/>
        </p:nvPicPr>
        <p:blipFill>
          <a:blip r:embed="rId4"/>
          <a:stretch>
            <a:fillRect/>
          </a:stretch>
        </p:blipFill>
        <p:spPr>
          <a:xfrm>
            <a:off x="4617721" y="4700410"/>
            <a:ext cx="7726679" cy="750372"/>
          </a:xfrm>
          <a:prstGeom prst="rect">
            <a:avLst/>
          </a:prstGeom>
        </p:spPr>
      </p:pic>
    </p:spTree>
    <p:extLst>
      <p:ext uri="{BB962C8B-B14F-4D97-AF65-F5344CB8AC3E}">
        <p14:creationId xmlns:p14="http://schemas.microsoft.com/office/powerpoint/2010/main" val="4153057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a:bodyPr>
          <a:lstStyle/>
          <a:p>
            <a:r>
              <a:rPr lang="en-US" dirty="0"/>
              <a:t>Rent data for Dublin 15 to Dublin 24</a:t>
            </a:r>
          </a:p>
        </p:txBody>
      </p:sp>
      <p:graphicFrame>
        <p:nvGraphicFramePr>
          <p:cNvPr id="3" name="rent-chart"/>
          <p:cNvGraphicFramePr/>
          <p:nvPr/>
        </p:nvGraphicFramePr>
        <p:xfrm>
          <a:off x="487680" y="1341120"/>
          <a:ext cx="65836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559040" y="1463040"/>
            <a:ext cx="4023360" cy="853440"/>
          </a:xfrm>
          <a:prstGeom prst="rect">
            <a:avLst/>
          </a:prstGeom>
          <a:noFill/>
          <a:ln/>
        </p:spPr>
        <p:txBody>
          <a:bodyPr wrap="square" lIns="0" tIns="0" rIns="0" bIns="0" rtlCol="0" anchor="ctr"/>
          <a:lstStyle/>
          <a:p>
            <a:endParaRPr lang="en-US" sz="5333" dirty="0"/>
          </a:p>
        </p:txBody>
      </p:sp>
      <p:sp>
        <p:nvSpPr>
          <p:cNvPr id="5" name="Text 2"/>
          <p:cNvSpPr txBox="1"/>
          <p:nvPr/>
        </p:nvSpPr>
        <p:spPr>
          <a:xfrm>
            <a:off x="7559040" y="2316480"/>
            <a:ext cx="4023360" cy="609600"/>
          </a:xfrm>
          <a:prstGeom prst="rect">
            <a:avLst/>
          </a:prstGeom>
          <a:noFill/>
          <a:ln/>
        </p:spPr>
        <p:txBody>
          <a:bodyPr wrap="square" lIns="0" tIns="0" rIns="0" bIns="0" rtlCol="0" anchor="t"/>
          <a:lstStyle/>
          <a:p>
            <a:r>
              <a:rPr lang="en-US" sz="1867" dirty="0"/>
              <a:t>All the listings are collected from Daft.ie across 7 districts</a:t>
            </a:r>
          </a:p>
        </p:txBody>
      </p:sp>
      <p:sp>
        <p:nvSpPr>
          <p:cNvPr id="6" name="rent-notes"/>
          <p:cNvSpPr txBox="1"/>
          <p:nvPr/>
        </p:nvSpPr>
        <p:spPr>
          <a:xfrm>
            <a:off x="7559040" y="3169920"/>
            <a:ext cx="4023360" cy="3048000"/>
          </a:xfrm>
          <a:prstGeom prst="rect">
            <a:avLst/>
          </a:prstGeom>
          <a:noFill/>
          <a:ln/>
        </p:spPr>
        <p:txBody>
          <a:bodyPr wrap="square" lIns="0" tIns="0" rIns="0" bIns="0" rtlCol="0" anchor="t"/>
          <a:lstStyle/>
          <a:p>
            <a:pPr marL="457189" indent="-457189">
              <a:spcAft>
                <a:spcPts val="800"/>
              </a:spcAft>
              <a:buSzPct val="100000"/>
              <a:buChar char="•"/>
            </a:pPr>
            <a:r>
              <a:rPr lang="en-US" sz="1733" dirty="0"/>
              <a:t>D15, D16, D17, D18, D20, D22 and D24 </a:t>
            </a:r>
          </a:p>
          <a:p>
            <a:pPr marL="457189" indent="-457189">
              <a:spcAft>
                <a:spcPts val="800"/>
              </a:spcAft>
              <a:buSzPct val="100000"/>
              <a:buChar char="•"/>
            </a:pPr>
            <a:r>
              <a:rPr lang="en-US" sz="1733" dirty="0"/>
              <a:t>D18 was the most expensive for rooms; D22 the cheapest</a:t>
            </a:r>
          </a:p>
          <a:p>
            <a:pPr marL="457189" indent="-457189">
              <a:spcAft>
                <a:spcPts val="800"/>
              </a:spcAft>
              <a:buSzPct val="100000"/>
              <a:buChar char="•"/>
            </a:pPr>
            <a:r>
              <a:rPr lang="en-US" sz="1733" dirty="0"/>
              <a:t>D17 and D20 had fewer listings, so their figures are less certain</a:t>
            </a:r>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3421610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a:bodyPr>
          <a:lstStyle/>
          <a:p>
            <a:r>
              <a:rPr lang="en-US" dirty="0"/>
              <a:t>Letting agents mentioned</a:t>
            </a:r>
          </a:p>
        </p:txBody>
      </p:sp>
      <p:sp>
        <p:nvSpPr>
          <p:cNvPr id="4" name="Text 1"/>
          <p:cNvSpPr txBox="1"/>
          <p:nvPr/>
        </p:nvSpPr>
        <p:spPr>
          <a:xfrm>
            <a:off x="6949440" y="1415144"/>
            <a:ext cx="4145280" cy="426720"/>
          </a:xfrm>
          <a:prstGeom prst="rect">
            <a:avLst/>
          </a:prstGeom>
          <a:noFill/>
          <a:ln/>
        </p:spPr>
        <p:txBody>
          <a:bodyPr wrap="square" lIns="0" tIns="0" rIns="0" bIns="0" rtlCol="0" anchor="ctr"/>
          <a:lstStyle/>
          <a:p>
            <a:r>
              <a:rPr lang="en-US" sz="2133" b="1" dirty="0">
                <a:solidFill>
                  <a:schemeClr val="tx2"/>
                </a:solidFill>
              </a:rPr>
              <a:t>What's included?</a:t>
            </a:r>
            <a:endParaRPr lang="en-US" sz="2133" dirty="0"/>
          </a:p>
        </p:txBody>
      </p:sp>
      <p:sp>
        <p:nvSpPr>
          <p:cNvPr id="5" name="agents-what"/>
          <p:cNvSpPr txBox="1"/>
          <p:nvPr/>
        </p:nvSpPr>
        <p:spPr>
          <a:xfrm>
            <a:off x="6949440" y="1950720"/>
            <a:ext cx="4145280" cy="2438400"/>
          </a:xfrm>
          <a:prstGeom prst="rect">
            <a:avLst/>
          </a:prstGeom>
          <a:noFill/>
          <a:ln/>
        </p:spPr>
        <p:txBody>
          <a:bodyPr wrap="square" lIns="0" tIns="0" rIns="0" bIns="0" rtlCol="0" anchor="t"/>
          <a:lstStyle/>
          <a:p>
            <a:pPr marL="457189" indent="-457189">
              <a:spcAft>
                <a:spcPts val="800"/>
              </a:spcAft>
              <a:buSzPct val="100000"/>
              <a:buChar char="•"/>
            </a:pPr>
            <a:r>
              <a:rPr lang="en-US" sz="1733" dirty="0"/>
              <a:t>A dropdown under the results opens a list of Dublin letting agents</a:t>
            </a:r>
          </a:p>
          <a:p>
            <a:pPr marL="457189" indent="-457189">
              <a:spcAft>
                <a:spcPts val="800"/>
              </a:spcAft>
              <a:buSzPct val="100000"/>
              <a:buChar char="•"/>
            </a:pPr>
            <a:r>
              <a:rPr lang="en-US" sz="1733" dirty="0"/>
              <a:t>Each card shows the area, address, website and PSRA license number</a:t>
            </a:r>
          </a:p>
        </p:txBody>
      </p:sp>
      <p:sp>
        <p:nvSpPr>
          <p:cNvPr id="7" name="agents-neutral"/>
          <p:cNvSpPr txBox="1"/>
          <p:nvPr/>
        </p:nvSpPr>
        <p:spPr>
          <a:xfrm>
            <a:off x="6949440" y="3248296"/>
            <a:ext cx="4145280" cy="1463040"/>
          </a:xfrm>
          <a:prstGeom prst="rect">
            <a:avLst/>
          </a:prstGeom>
          <a:noFill/>
          <a:ln/>
        </p:spPr>
        <p:txBody>
          <a:bodyPr wrap="square" lIns="0" tIns="0" rIns="0" bIns="0" rtlCol="0" anchor="t"/>
          <a:lstStyle/>
          <a:p>
            <a:pPr marL="457189" indent="-457189">
              <a:spcAft>
                <a:spcPts val="800"/>
              </a:spcAft>
              <a:buSzPct val="100000"/>
              <a:buChar char="•"/>
            </a:pPr>
            <a:r>
              <a:rPr lang="en-US" sz="1733" dirty="0"/>
              <a:t>Listed alphabetically, not as recommendations</a:t>
            </a:r>
          </a:p>
          <a:p>
            <a:pPr marL="457189" indent="-457189">
              <a:spcAft>
                <a:spcPts val="800"/>
              </a:spcAft>
              <a:buSzPct val="100000"/>
              <a:buChar char="•"/>
            </a:pPr>
            <a:r>
              <a:rPr lang="en-US" sz="1733" dirty="0"/>
              <a:t>Note that we’re not affiliated, plus a tip to check the licence before paying a deposit</a:t>
            </a:r>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19</a:t>
            </a:fld>
            <a:endParaRPr lang="en-US"/>
          </a:p>
        </p:txBody>
      </p:sp>
      <p:pic>
        <p:nvPicPr>
          <p:cNvPr id="9" name="Picture 8">
            <a:extLst>
              <a:ext uri="{FF2B5EF4-FFF2-40B4-BE49-F238E27FC236}">
                <a16:creationId xmlns:a16="http://schemas.microsoft.com/office/drawing/2014/main" id="{53222D3E-7EE6-4BDC-D19E-40EADA4FA9B4}"/>
              </a:ext>
            </a:extLst>
          </p:cNvPr>
          <p:cNvPicPr>
            <a:picLocks noChangeAspect="1"/>
          </p:cNvPicPr>
          <p:nvPr/>
        </p:nvPicPr>
        <p:blipFill>
          <a:blip r:embed="rId3"/>
          <a:stretch>
            <a:fillRect/>
          </a:stretch>
        </p:blipFill>
        <p:spPr>
          <a:xfrm>
            <a:off x="609600" y="1049383"/>
            <a:ext cx="5892299" cy="5638800"/>
          </a:xfrm>
          <a:prstGeom prst="rect">
            <a:avLst/>
          </a:prstGeom>
        </p:spPr>
      </p:pic>
    </p:spTree>
    <p:extLst>
      <p:ext uri="{BB962C8B-B14F-4D97-AF65-F5344CB8AC3E}">
        <p14:creationId xmlns:p14="http://schemas.microsoft.com/office/powerpoint/2010/main" val="3756601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a:bodyPr>
          <a:lstStyle/>
          <a:p>
            <a:r>
              <a:rPr lang="en-US" dirty="0"/>
              <a:t>Comparing the results</a:t>
            </a:r>
          </a:p>
        </p:txBody>
      </p:sp>
      <p:sp>
        <p:nvSpPr>
          <p:cNvPr id="4" name="Text 1"/>
          <p:cNvSpPr txBox="1"/>
          <p:nvPr/>
        </p:nvSpPr>
        <p:spPr>
          <a:xfrm>
            <a:off x="7785463" y="1447800"/>
            <a:ext cx="4145280" cy="426720"/>
          </a:xfrm>
          <a:prstGeom prst="rect">
            <a:avLst/>
          </a:prstGeom>
          <a:noFill/>
          <a:ln/>
        </p:spPr>
        <p:txBody>
          <a:bodyPr wrap="square" lIns="0" tIns="0" rIns="0" bIns="0" rtlCol="0" anchor="ctr"/>
          <a:lstStyle/>
          <a:p>
            <a:r>
              <a:rPr lang="en-US" sz="2133" b="1" dirty="0">
                <a:solidFill>
                  <a:schemeClr val="tx2"/>
                </a:solidFill>
              </a:rPr>
              <a:t>What it does?</a:t>
            </a:r>
            <a:endParaRPr lang="en-US" sz="2133" dirty="0"/>
          </a:p>
        </p:txBody>
      </p:sp>
      <p:sp>
        <p:nvSpPr>
          <p:cNvPr id="5" name="compare-what"/>
          <p:cNvSpPr txBox="1"/>
          <p:nvPr/>
        </p:nvSpPr>
        <p:spPr>
          <a:xfrm>
            <a:off x="7785463" y="1996440"/>
            <a:ext cx="4145280" cy="3413760"/>
          </a:xfrm>
          <a:prstGeom prst="rect">
            <a:avLst/>
          </a:prstGeom>
          <a:noFill/>
          <a:ln/>
        </p:spPr>
        <p:txBody>
          <a:bodyPr wrap="square" lIns="0" tIns="0" rIns="0" bIns="0" rtlCol="0" anchor="t"/>
          <a:lstStyle/>
          <a:p>
            <a:pPr marL="457189" indent="-457189">
              <a:spcAft>
                <a:spcPts val="800"/>
              </a:spcAft>
              <a:buSzPct val="100000"/>
              <a:buChar char="•"/>
            </a:pPr>
            <a:r>
              <a:rPr lang="en-US" sz="1733" dirty="0"/>
              <a:t>A “Compare these 3 areas” dropdown under the results</a:t>
            </a:r>
          </a:p>
          <a:p>
            <a:pPr marL="457189" indent="-457189">
              <a:spcAft>
                <a:spcPts val="800"/>
              </a:spcAft>
              <a:buSzPct val="100000"/>
              <a:buChar char="•"/>
            </a:pPr>
            <a:r>
              <a:rPr lang="en-US" sz="1733" dirty="0"/>
              <a:t>Shows match score, rent, commute, walking time and safety for each area</a:t>
            </a:r>
          </a:p>
          <a:p>
            <a:pPr marL="457189" indent="-457189">
              <a:spcAft>
                <a:spcPts val="800"/>
              </a:spcAft>
              <a:buSzPct val="100000"/>
              <a:buChar char="•"/>
            </a:pPr>
            <a:r>
              <a:rPr lang="en-US" sz="1733" dirty="0"/>
              <a:t>The best area in each row is highlighted, and rent shows if it’s within budget</a:t>
            </a:r>
          </a:p>
        </p:txBody>
      </p:sp>
      <p:sp>
        <p:nvSpPr>
          <p:cNvPr id="6" name="Text 3"/>
          <p:cNvSpPr txBox="1"/>
          <p:nvPr/>
        </p:nvSpPr>
        <p:spPr>
          <a:xfrm>
            <a:off x="7437120" y="5059680"/>
            <a:ext cx="4145280" cy="426720"/>
          </a:xfrm>
          <a:prstGeom prst="rect">
            <a:avLst/>
          </a:prstGeom>
          <a:noFill/>
          <a:ln/>
        </p:spPr>
        <p:txBody>
          <a:bodyPr wrap="square" lIns="0" tIns="0" rIns="0" bIns="0" rtlCol="0" anchor="ctr"/>
          <a:lstStyle/>
          <a:p>
            <a:endParaRPr lang="en-US" sz="2133" dirty="0"/>
          </a:p>
        </p:txBody>
      </p:sp>
      <p:sp>
        <p:nvSpPr>
          <p:cNvPr id="7" name="next"/>
          <p:cNvSpPr txBox="1"/>
          <p:nvPr/>
        </p:nvSpPr>
        <p:spPr>
          <a:xfrm>
            <a:off x="7437120" y="5608320"/>
            <a:ext cx="4145280" cy="609600"/>
          </a:xfrm>
          <a:prstGeom prst="rect">
            <a:avLst/>
          </a:prstGeom>
          <a:noFill/>
          <a:ln/>
        </p:spPr>
        <p:txBody>
          <a:bodyPr wrap="square" lIns="0" tIns="0" rIns="0" bIns="0" rtlCol="0" anchor="t"/>
          <a:lstStyle/>
          <a:p>
            <a:pPr marL="457189" indent="-457189">
              <a:spcAft>
                <a:spcPts val="800"/>
              </a:spcAft>
              <a:buSzPct val="100000"/>
              <a:buChar char="•"/>
            </a:pPr>
            <a:endParaRPr lang="en-US" sz="1733"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20</a:t>
            </a:fld>
            <a:endParaRPr lang="en-US"/>
          </a:p>
        </p:txBody>
      </p:sp>
      <p:pic>
        <p:nvPicPr>
          <p:cNvPr id="9" name="Picture 8">
            <a:extLst>
              <a:ext uri="{FF2B5EF4-FFF2-40B4-BE49-F238E27FC236}">
                <a16:creationId xmlns:a16="http://schemas.microsoft.com/office/drawing/2014/main" id="{69018B90-C171-5E2C-8512-59CFBDA15BF5}"/>
              </a:ext>
            </a:extLst>
          </p:cNvPr>
          <p:cNvPicPr>
            <a:picLocks noChangeAspect="1"/>
          </p:cNvPicPr>
          <p:nvPr/>
        </p:nvPicPr>
        <p:blipFill>
          <a:blip r:embed="rId3"/>
          <a:stretch>
            <a:fillRect/>
          </a:stretch>
        </p:blipFill>
        <p:spPr>
          <a:xfrm>
            <a:off x="261258" y="1169126"/>
            <a:ext cx="7262095" cy="5177245"/>
          </a:xfrm>
          <a:prstGeom prst="rect">
            <a:avLst/>
          </a:prstGeom>
        </p:spPr>
      </p:pic>
    </p:spTree>
    <p:extLst>
      <p:ext uri="{BB962C8B-B14F-4D97-AF65-F5344CB8AC3E}">
        <p14:creationId xmlns:p14="http://schemas.microsoft.com/office/powerpoint/2010/main" val="3606522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1629</Words>
  <Application>Microsoft Office PowerPoint</Application>
  <PresentationFormat>Widescreen</PresentationFormat>
  <Paragraphs>188</Paragraphs>
  <Slides>20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Cambria</vt:lpstr>
      <vt:lpstr>Times New Roman</vt:lpstr>
      <vt:lpstr>Office Theme</vt:lpstr>
      <vt:lpstr>PowerPoint Presentation</vt:lpstr>
      <vt:lpstr>This week goal: Maximise visualisation </vt:lpstr>
      <vt:lpstr>Next Week: Public Transport Integration</vt:lpstr>
      <vt:lpstr>District profiles, from map to recommendation </vt:lpstr>
      <vt:lpstr>PowerPoint Presentation</vt:lpstr>
      <vt:lpstr>In Progess: A map of each recommended district:</vt:lpstr>
      <vt:lpstr>Implementations done for this week</vt:lpstr>
      <vt:lpstr>How we calculate travel times?</vt:lpstr>
      <vt:lpstr>How the journey planner works?</vt:lpstr>
      <vt:lpstr>How safe is each area?</vt:lpstr>
      <vt:lpstr>Property listings: where can students live?</vt:lpstr>
      <vt:lpstr>Is the data legal to use?</vt:lpstr>
      <vt:lpstr>PowerPoint Presentation</vt:lpstr>
      <vt:lpstr>PowerPoint Presentation</vt:lpstr>
      <vt:lpstr>PowerPoint Presentation</vt:lpstr>
      <vt:lpstr>PowerPoint Presentation</vt:lpstr>
      <vt:lpstr>PowerPoint Presentation</vt:lpstr>
      <vt:lpstr>Rent data for Dublin 15 to Dublin 24</vt:lpstr>
      <vt:lpstr>Letting agents mentioned</vt:lpstr>
      <vt:lpstr>Comparing the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Santhosh Sekar</dc:creator>
  <cp:lastModifiedBy>Santhosh Sekar</cp:lastModifiedBy>
  <cp:revision>1</cp:revision>
  <dcterms:created xsi:type="dcterms:W3CDTF">2026-10-30T09:31:49Z</dcterms:created>
  <dcterms:modified xsi:type="dcterms:W3CDTF">2026-10-30T10:00:21Z</dcterms:modified>
</cp:coreProperties>
</file>