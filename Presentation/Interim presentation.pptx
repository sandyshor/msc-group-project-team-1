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4" r:id="rId1"/>
    <p:sldMasterId id="2147483925" r:id="rId2"/>
  </p:sldMasterIdLst>
  <p:notesMasterIdLst>
    <p:notesMasterId r:id="rId27"/>
  </p:notesMasterIdLst>
  <p:sldIdLst>
    <p:sldId id="275" r:id="rId3"/>
    <p:sldId id="277" r:id="rId4"/>
    <p:sldId id="256" r:id="rId5"/>
    <p:sldId id="279" r:id="rId6"/>
    <p:sldId id="258" r:id="rId7"/>
    <p:sldId id="269" r:id="rId8"/>
    <p:sldId id="270" r:id="rId9"/>
    <p:sldId id="271" r:id="rId10"/>
    <p:sldId id="272" r:id="rId11"/>
    <p:sldId id="273" r:id="rId12"/>
    <p:sldId id="260" r:id="rId13"/>
    <p:sldId id="276" r:id="rId14"/>
    <p:sldId id="268" r:id="rId15"/>
    <p:sldId id="267" r:id="rId16"/>
    <p:sldId id="266" r:id="rId17"/>
    <p:sldId id="265" r:id="rId18"/>
    <p:sldId id="264" r:id="rId19"/>
    <p:sldId id="263" r:id="rId20"/>
    <p:sldId id="280" r:id="rId21"/>
    <p:sldId id="259" r:id="rId22"/>
    <p:sldId id="261" r:id="rId23"/>
    <p:sldId id="257" r:id="rId24"/>
    <p:sldId id="278" r:id="rId25"/>
    <p:sldId id="281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23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401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B6093-2670-4192-81BA-2ECEADC9ADCA}" type="datetime1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EDF25-4A79-43CC-8379-7A50F793B1B0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97818"/>
            <a:ext cx="5829300" cy="11025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EA6A-FC20-4FF9-8CC7-33D989FE24DB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F2F5-F035-2444-A9BA-E058CA192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B7F01-3532-5340-80A5-02AAC4C2F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3E536-FCE8-3F9F-1861-3A6B3018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04560-E669-3987-5332-C8EBD19B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C1F8F-2E85-01B5-5C7F-9C03ECE6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9696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6B8B-9F23-53C7-EFF7-EA5EB7479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45795-AA8B-2089-0EE9-F53BAF7A6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17F2-6C23-1053-087B-D21AA38A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653EC-FF61-15BE-E3A1-667A58DE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7D55A-7E51-D727-F172-87312D75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3210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E1E4-FCFB-0150-6263-70ECEA2AF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77C98-6DED-25B5-ADE8-ABF4C1E2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10843-CF69-844F-1B16-44158B9A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8BE75-1B46-1581-6A58-8E9DAC90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69E1E-1A66-CAF0-441E-D2B803E6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0661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69B2-28D5-F536-C2EB-E0FD86FE3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4F843-305A-9482-1DFD-DC30B765D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FF0BF-1703-477D-9E83-56202BCB5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A79A3-C24A-9BFC-94F8-32A412D55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857B9-4CBC-538D-E71E-53C355DE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F3051-C25D-313D-4911-70274E3F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0232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9F6D-C354-A06D-4062-1F74926D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3E416-0AB2-69B6-3D32-F4895A949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CC1F5-4957-30CD-D01E-CCE490796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A608-9FA1-A78C-CC7C-7A060D1407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C40EF-8CBA-79BB-5DF3-A1D2C3BFB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F626C-0C57-FC8E-024A-0E6854863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4D805-FDA6-D37B-AB03-F204CE05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F9901-3469-57FE-FA70-3A2088063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097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38BE-E4A5-D241-CCC6-B4D850A4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D53BB-FBD8-EA89-88D4-A223F83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AE6BD-A15C-BDE1-BEEB-19C87819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4DB83-FBC8-D60E-AE1D-9AF2A456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2767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7C97E-260C-A4F9-9331-32C8BD167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9125D-931F-BDFD-9EE8-606B0548C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B40DA-726B-FE5E-8491-BDCB1995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8977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15C9-D5AA-4EA2-C173-8E4B88B89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2E582-5882-796F-168C-39FF00FE2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4AC71-983E-3D0C-2916-67C7631F1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FF92F-203A-E9C1-DEAF-EDAE7D81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B142A-58A2-8C50-A3B1-DCF6D434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9B961-1EEF-BA64-29DC-2BF467F9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7244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88D25-AD5E-344A-1E90-399DD643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C564B-20B5-8C4C-2617-67C8AB9C30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906B8-6544-ADB8-DCC6-AD8056025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B2F83-820C-4BD4-9A83-653C4840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C33B9-DE0D-6769-BE1F-EA04BD47A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44AEA-717E-A723-5EF4-37013044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9179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201E-8B4B-1D47-2AD6-96737B51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0D563-477A-1BBC-BB0C-76964B712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6A7DC-E7FB-DCFD-7F6C-51F24E7D3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E36E5-097D-BD98-F90F-234E1735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FAAB8-8720-83D1-51ED-397E672B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30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76D8DB-A372-3372-663C-228C4FD47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E7632-C736-8149-CB42-0273CB7D2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4F5B1-E934-FF83-9707-4F7810E4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5B045-17E2-4C39-9416-2AEA34EF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9A6EC-557B-C10A-26D0-91CCE32C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1819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2"/>
            <a:ext cx="16002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2"/>
            <a:ext cx="21717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2"/>
            <a:ext cx="1600200" cy="2738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713E8D-3A62-3CA5-CE7E-E1CE3204F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2E683-049D-871D-CCE0-C3553D95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72718-87C5-1DAF-682A-EFF3570AA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B8FFE-9494-4CD7-8EF2-D0F3C6CA0F5F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85748-40D0-D9BA-6369-521425046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ED2E5-EDBB-9377-933D-B02882316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3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8.jpe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hyperlink" Target="https://crib-crew-api-1-ccbhhfhvcff5exd6.francecentral-01.azurewebsites.net/#explore-dublin" TargetMode="External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C252A8-ABF4-56DF-4427-ABAC67049E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1" r="3001"/>
          <a:stretch/>
        </p:blipFill>
        <p:spPr>
          <a:xfrm>
            <a:off x="0" y="7"/>
            <a:ext cx="6930555" cy="51434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51435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884C6-5951-3834-AFA7-549A4ED5B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6187" y="444765"/>
            <a:ext cx="2584323" cy="2769021"/>
          </a:xfrm>
          <a:noFill/>
        </p:spPr>
        <p:txBody>
          <a:bodyPr>
            <a:normAutofit/>
          </a:bodyPr>
          <a:lstStyle/>
          <a:p>
            <a:pPr algn="l"/>
            <a:r>
              <a:rPr lang="en-IN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Your Dublin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B0856-748F-F30D-6E88-DA9AD6E65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1374" y="2786973"/>
            <a:ext cx="2980397" cy="1229882"/>
          </a:xfrm>
          <a:noFill/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 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Interim presentation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5DC519-DEFB-1968-5695-CBC21940EC8D}"/>
              </a:ext>
            </a:extLst>
          </p:cNvPr>
          <p:cNvSpPr txBox="1">
            <a:spLocks/>
          </p:cNvSpPr>
          <p:nvPr/>
        </p:nvSpPr>
        <p:spPr>
          <a:xfrm>
            <a:off x="2129955" y="3064233"/>
            <a:ext cx="4800600" cy="675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69972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48FA3-C1EE-A360-9A86-B8B6D64B4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449826"/>
            <a:ext cx="6858000" cy="258097"/>
          </a:xfrm>
        </p:spPr>
        <p:txBody>
          <a:bodyPr>
            <a:noAutofit/>
          </a:bodyPr>
          <a:lstStyle/>
          <a:p>
            <a:r>
              <a:rPr lang="en-IE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Vision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028A6-BA7C-1BB1-5EE6-ED1217B48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55855"/>
            <a:ext cx="3945194" cy="3919385"/>
          </a:xfrm>
        </p:spPr>
        <p:txBody>
          <a:bodyPr>
            <a:normAutofit fontScale="62500" lnSpcReduction="20000"/>
          </a:bodyPr>
          <a:lstStyle/>
          <a:p>
            <a:pPr marL="342900" indent="-257175" algn="l">
              <a:spcAft>
                <a:spcPts val="90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Dublin District Recommendation System for international students choosing where to live.</a:t>
            </a:r>
          </a:p>
          <a:p>
            <a:pPr marL="342900" indent="-257175" algn="l">
              <a:spcAft>
                <a:spcPts val="90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enter their university, monthly budget, accommodation type and priorities.</a:t>
            </a:r>
          </a:p>
          <a:p>
            <a:pPr marL="342900" indent="-257175" algn="l">
              <a:spcAft>
                <a:spcPts val="90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ranks suitable Dublin districts with a match score and clear reasons.</a:t>
            </a:r>
          </a:p>
          <a:p>
            <a:pPr marL="342900" indent="-257175" algn="l">
              <a:spcAft>
                <a:spcPts val="90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brings rent, commute, amenities and lifestyle information together in one place.</a:t>
            </a:r>
          </a:p>
          <a:p>
            <a:pPr marL="342900" indent="-257175" algn="l">
              <a:spcAft>
                <a:spcPts val="90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help students compare areas confidently before contacting landlords.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96B03-A127-FB1E-AD8C-789273BEE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595" y="963185"/>
            <a:ext cx="5239265" cy="37755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3A4A87-4D87-EC2D-DC6D-CAC1F58BB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86" y="368899"/>
            <a:ext cx="541108" cy="51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7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A9C78-14B3-5B85-3CC6-469AFB28F2C5}"/>
              </a:ext>
            </a:extLst>
          </p:cNvPr>
          <p:cNvSpPr txBox="1"/>
          <p:nvPr/>
        </p:nvSpPr>
        <p:spPr>
          <a:xfrm>
            <a:off x="256764" y="850129"/>
            <a:ext cx="1687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4CFFB5-4CD8-EEA7-3583-78B597BE5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296" y="1360770"/>
            <a:ext cx="1202546" cy="1141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A09FF4-9807-4755-7A09-B6194AD26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410" y="1360770"/>
            <a:ext cx="1163233" cy="11418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229090-30AB-9377-5A26-033AA4D97E1F}"/>
              </a:ext>
            </a:extLst>
          </p:cNvPr>
          <p:cNvSpPr txBox="1"/>
          <p:nvPr/>
        </p:nvSpPr>
        <p:spPr>
          <a:xfrm>
            <a:off x="4202296" y="1631613"/>
            <a:ext cx="3946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/>
              <a:t>+</a:t>
            </a:r>
            <a:endParaRPr lang="en-IN" sz="33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04C3F8-0B7E-A9A5-FAAE-A38A777005FD}"/>
              </a:ext>
            </a:extLst>
          </p:cNvPr>
          <p:cNvSpPr txBox="1"/>
          <p:nvPr/>
        </p:nvSpPr>
        <p:spPr>
          <a:xfrm>
            <a:off x="996373" y="2854135"/>
            <a:ext cx="68065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in → Your situation → Your priorities → Your matches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cards show match score, rent vs budget, commute, walking distance and why the area ranked there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 profile page with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MapLibre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OpenFreeMap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F62F20-7519-1944-9418-F38D90AF4B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578" y="38873"/>
            <a:ext cx="1211795" cy="9703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2ABCE6-D5EB-0176-8312-4074276292AF}"/>
              </a:ext>
            </a:extLst>
          </p:cNvPr>
          <p:cNvSpPr txBox="1"/>
          <p:nvPr/>
        </p:nvSpPr>
        <p:spPr>
          <a:xfrm>
            <a:off x="2866225" y="240212"/>
            <a:ext cx="30668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968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0E8AA-1DA9-E4BB-E354-2B0A6797C287}"/>
              </a:ext>
            </a:extLst>
          </p:cNvPr>
          <p:cNvSpPr txBox="1"/>
          <p:nvPr/>
        </p:nvSpPr>
        <p:spPr>
          <a:xfrm>
            <a:off x="350520" y="431550"/>
            <a:ext cx="7132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and Recommendation logic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60943F-F17D-6386-374F-AC4285754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11" y="1473408"/>
            <a:ext cx="1562743" cy="10983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727B7D-E7AA-F113-E97E-75375E66D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432" y="1403680"/>
            <a:ext cx="2703356" cy="1343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6F4FED-9031-9E6E-2E05-616A88881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" y="3285142"/>
            <a:ext cx="8945880" cy="11573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F03DD7-C338-7F17-89A0-1B7842932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1867" y="1219538"/>
            <a:ext cx="1674522" cy="160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70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1868-9B46-55B1-9402-ADAC77CF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0D275-F0E2-2527-3C2E-1A7BB52128C0}"/>
              </a:ext>
            </a:extLst>
          </p:cNvPr>
          <p:cNvSpPr txBox="1"/>
          <p:nvPr/>
        </p:nvSpPr>
        <p:spPr>
          <a:xfrm>
            <a:off x="350520" y="431550"/>
            <a:ext cx="26060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BB7A0-8CF4-6E5A-9C23-2337BD1AE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08" y="1457550"/>
            <a:ext cx="2594258" cy="666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BCE751-E817-D530-3102-2F512C8A6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715" y="1292317"/>
            <a:ext cx="1977561" cy="1000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5E3624-132F-76A1-E358-4E082C3E4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642" y="2718365"/>
            <a:ext cx="8784716" cy="16117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8723EF-BC0B-26B8-8BE6-0D21229B3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426" y="1178877"/>
            <a:ext cx="1499266" cy="122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672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937C7-5753-9785-C525-3226495FB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872" y="231689"/>
            <a:ext cx="6858000" cy="85261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74AF5-B889-A9E6-BA0D-EF7AB5706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214051"/>
            <a:ext cx="6858000" cy="2729298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4 main data for our recommendation engine.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3BBD55-438F-257E-30E3-39072A36D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0301"/>
            <a:ext cx="7772400" cy="259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35140D-CDF5-E4B9-1C9B-2CD7BF04F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559" y="424455"/>
            <a:ext cx="639977" cy="64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26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5B850-03D9-CF6B-2E19-4AC15E22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4D80D-A4E7-3D51-17F2-25FF2154D4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RTB dataset was used to collect 1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apartment type rent data from D1 to D24.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Daft.ie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Rent.ie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collect single sharing and double sharing room rents from D1 to D10 manually and organized it into an excel file.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C1D059-9E1D-FBC2-B6AE-21A41713F9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69193" y="70130"/>
            <a:ext cx="3886200" cy="1823947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B03CA5-B0EB-DFFC-BDC9-A22B4A463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25" y="2097791"/>
            <a:ext cx="2889936" cy="13421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C0DB4D-743C-109F-6BC3-5FABB6CA6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111" y="3794522"/>
            <a:ext cx="26289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85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BB0B-4D68-E09C-F066-9C062CF78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1" y="285171"/>
            <a:ext cx="7886700" cy="99417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7A7A9-7BAE-7C9C-AD6C-50E9D0EBC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0660" y="1279343"/>
            <a:ext cx="4267200" cy="386415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Landmark Selection: Selected five landmark coordinates within each Dublin postal district and validated them against the Dublin postal district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GeoJSON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boundaries.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Calculation: Passed the validated coordinates to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OpenTripPlanner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(OTP) using Python code to calculate routes and travel times.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TFI GTFS: Provides public transport routes, stops and schedules.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 (OSM): Provides the street and pedestrian network for walking routes.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76763F-7EDE-8F7E-0E9C-2D4D463AFB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51893" y="653278"/>
            <a:ext cx="2097434" cy="1918472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3070B4-7CAB-1986-06BE-A81E3E0F7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140" y="3144472"/>
            <a:ext cx="3154210" cy="124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05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A8AB-B8EC-140E-4754-91A46E30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3CC2-EE6D-DEA8-2837-83373ACB56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 was used to scrap amenities from D1 to D24 that includes: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Supermarkets &amp; groceries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Cafes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Asian restaurants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Gyms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Pharmacies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malls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D71A09A-8BC6-2D7B-BB98-C6F87976FE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29150" y="1824973"/>
            <a:ext cx="3886200" cy="2350804"/>
          </a:xfrm>
        </p:spPr>
      </p:pic>
    </p:spTree>
    <p:extLst>
      <p:ext uri="{BB962C8B-B14F-4D97-AF65-F5344CB8AC3E}">
        <p14:creationId xmlns:p14="http://schemas.microsoft.com/office/powerpoint/2010/main" val="2065680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908F-039E-B19B-575D-A5C423D0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CSO Census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AA92-1713-BA87-A2B4-5F7605A393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20–29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population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Ethnicity/community profile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A938A9-7622-635E-087F-EE5F41067D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29152" y="1491701"/>
            <a:ext cx="3886200" cy="1616915"/>
          </a:xfrm>
        </p:spPr>
      </p:pic>
    </p:spTree>
    <p:extLst>
      <p:ext uri="{BB962C8B-B14F-4D97-AF65-F5344CB8AC3E}">
        <p14:creationId xmlns:p14="http://schemas.microsoft.com/office/powerpoint/2010/main" val="3508649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485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I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idx="1"/>
          </p:nvPr>
        </p:nvSpPr>
        <p:spPr>
          <a:xfrm>
            <a:off x="1485900" y="1200151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students find out about areas from Daft.ie, Rent.ie, Reddit, Facebook groups and YouTube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takes time, and the advice is based on other people’s preferences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will be successful if it gives the same information faster and more reliably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evaluate it in four parts. Data, Algorithm, Performance and User testing.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EA7BD0-F4CA-B4E5-2AC3-C0D6240C3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916" y="329350"/>
            <a:ext cx="637687" cy="61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82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485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I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Success Looks Like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9" name="Table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134324"/>
              </p:ext>
            </p:extLst>
          </p:nvPr>
        </p:nvGraphicFramePr>
        <p:xfrm>
          <a:off x="1485900" y="1200150"/>
          <a:ext cx="6172200" cy="31889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</a:t>
                      </a:r>
                      <a:r>
                        <a:rPr lang="en-IE" sz="12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users time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taken to reach a decision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least 30% faster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Staying within budget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3 recommendations close to the user’s budget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of test cases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data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Displayed data checked against official sources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Commute within ±5 min, rent within 10%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ranking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cases with known answers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test cases pass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agreement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Participants agree with the top recommendation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least 75–80%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use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Usability Scale (SUS) score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Above 68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Responsive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 response time on Azure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Around 2 seconds</a:t>
                      </a:r>
                    </a:p>
                  </a:txBody>
                  <a:tcPr marL="68580" marR="68580" marT="34290" marB="34290">
                    <a:lnL w="9525">
                      <a:solidFill>
                        <a:srgbClr val="7F7F7F"/>
                      </a:solidFill>
                    </a:lnL>
                    <a:lnR w="9525">
                      <a:solidFill>
                        <a:srgbClr val="7F7F7F"/>
                      </a:solidFill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171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485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I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Survey on transport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idx="1"/>
          </p:nvPr>
        </p:nvSpPr>
        <p:spPr>
          <a:xfrm>
            <a:off x="1485900" y="925830"/>
            <a:ext cx="6172200" cy="11658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surveyed 59 students across TUD campus.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Asked where they live, how they get to college and what amenities are nearby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56%, Luas 53%, train 30%, so we use TFI journey times for commutes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Picture 109" descr="imag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434590"/>
            <a:ext cx="4663440" cy="259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76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485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I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Survey on commute time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idx="1"/>
          </p:nvPr>
        </p:nvSpPr>
        <p:spPr>
          <a:xfrm>
            <a:off x="1485900" y="925830"/>
            <a:ext cx="6172200" cy="11658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commute is 50 minutes (56 answers)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of 56 students travel more than 45 minutes.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 student lives has a big effect on their day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Picture 109" descr="ima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434590"/>
            <a:ext cx="4663440" cy="259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09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485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I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the Data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idx="1"/>
          </p:nvPr>
        </p:nvSpPr>
        <p:spPr>
          <a:xfrm>
            <a:off x="1485900" y="1200151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Commute times: compare sample routes with TFI and Google Maps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Landmarks: corrected the ones that were placed in the wrong district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Rent: compare Daft.ie averages with RTB figures where there are few listings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Amenities: spot check counts in person or on Google Street 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605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485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I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the Algorithm and API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idx="1"/>
          </p:nvPr>
        </p:nvSpPr>
        <p:spPr>
          <a:xfrm>
            <a:off x="1485900" y="1200151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with known answers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4375" lvl="1" indent="-28575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IE" sz="1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rent is top priority then cheapest area should comes first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4375" lvl="1" indent="-28575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IE" sz="1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commute is top priority then closest area comes first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4375" lvl="1" indent="-28575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IE" sz="1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area within budget then user should gets a warning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4375" lvl="1" indent="-28575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IE" sz="1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explanation must match the score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 on the Azure API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4375" lvl="1" indent="-28575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IE" sz="1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50–60 requests and record fastest, average and slowest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4375" lvl="1" indent="-28575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IE" sz="1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is around 2 seconds; cold start will be measured separately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101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485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I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Testing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idx="1"/>
          </p:nvPr>
        </p:nvSpPr>
        <p:spPr>
          <a:xfrm>
            <a:off x="1485900" y="1200151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who are new to Dublin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gets a scenario, or uses their own budget and university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1: find an area using their usual sources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GB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2: find an area using Find Your Dublin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Afterwards: SUS questionnaire, do they agree with our top pick, how confident they feel, and what they would change or add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92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485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I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Do With the Results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idx="1"/>
          </p:nvPr>
        </p:nvSpPr>
        <p:spPr>
          <a:xfrm>
            <a:off x="1485900" y="1200151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average decision time with and without our system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out the % of students who agree with our top recommendation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the feedback into common issues, missing factors, unclear explanations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Bef>
                <a:spcPts val="675"/>
              </a:spcBef>
              <a:buClr>
                <a:schemeClr val="dk1"/>
              </a:buClr>
              <a:buSzPct val="100000"/>
            </a:pPr>
            <a:r>
              <a:rPr lang="en-IE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these before the final demo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220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9CE0-6F77-8939-F40A-C216F67AC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33968"/>
            <a:ext cx="7886700" cy="6922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Sprint 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5220F-FCD2-4542-1815-B469D8A0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2836131" cy="3263504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Finalised our project idea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target users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initial prototypes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E135DC-CF2B-6F66-7189-A396ADCD6363}"/>
              </a:ext>
            </a:extLst>
          </p:cNvPr>
          <p:cNvSpPr/>
          <p:nvPr/>
        </p:nvSpPr>
        <p:spPr>
          <a:xfrm>
            <a:off x="1097280" y="1611630"/>
            <a:ext cx="1848678" cy="9601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350" b="1" dirty="0">
                <a:solidFill>
                  <a:schemeClr val="bg1"/>
                </a:solidFill>
              </a:rPr>
              <a:t>Sprint 1 - Planning and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8561A8-6D5B-5887-E726-49BCFCB3DA8C}"/>
              </a:ext>
            </a:extLst>
          </p:cNvPr>
          <p:cNvSpPr/>
          <p:nvPr/>
        </p:nvSpPr>
        <p:spPr>
          <a:xfrm>
            <a:off x="3647661" y="1611630"/>
            <a:ext cx="1848678" cy="9601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350" b="1" dirty="0">
                <a:solidFill>
                  <a:schemeClr val="bg1"/>
                </a:solidFill>
              </a:rPr>
              <a:t>Sprint 2 – Data and Logic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307D73-2437-629C-5D9F-8813F00A43BD}"/>
              </a:ext>
            </a:extLst>
          </p:cNvPr>
          <p:cNvSpPr/>
          <p:nvPr/>
        </p:nvSpPr>
        <p:spPr>
          <a:xfrm>
            <a:off x="6198042" y="1611630"/>
            <a:ext cx="1848678" cy="9601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350" b="1" dirty="0">
                <a:solidFill>
                  <a:schemeClr val="bg1"/>
                </a:solidFill>
              </a:rPr>
              <a:t>Sprint 3 – Build and Deploy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07F5D18-D2E7-1685-0B1A-DAE91778E6D2}"/>
              </a:ext>
            </a:extLst>
          </p:cNvPr>
          <p:cNvSpPr txBox="1">
            <a:spLocks/>
          </p:cNvSpPr>
          <p:nvPr/>
        </p:nvSpPr>
        <p:spPr>
          <a:xfrm>
            <a:off x="5847191" y="1369219"/>
            <a:ext cx="2836131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district data coverage 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 frontend and backend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and Deployed in Azure</a:t>
            </a:r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5096773-DDDD-1A4A-E4A8-188F0ABDFB7F}"/>
              </a:ext>
            </a:extLst>
          </p:cNvPr>
          <p:cNvSpPr txBox="1">
            <a:spLocks/>
          </p:cNvSpPr>
          <p:nvPr/>
        </p:nvSpPr>
        <p:spPr>
          <a:xfrm>
            <a:off x="3153935" y="1384728"/>
            <a:ext cx="2836131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rent, amenities, commute and census data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initial recommendation logic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student survey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E4149E-54B6-864F-1430-018F528F4D39}"/>
              </a:ext>
            </a:extLst>
          </p:cNvPr>
          <p:cNvCxnSpPr>
            <a:cxnSpLocks/>
          </p:cNvCxnSpPr>
          <p:nvPr/>
        </p:nvCxnSpPr>
        <p:spPr>
          <a:xfrm>
            <a:off x="2945958" y="2097653"/>
            <a:ext cx="701703" cy="745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9DCBBD-1ED2-F6A1-8D79-78D742CC7E25}"/>
              </a:ext>
            </a:extLst>
          </p:cNvPr>
          <p:cNvCxnSpPr>
            <a:cxnSpLocks/>
          </p:cNvCxnSpPr>
          <p:nvPr/>
        </p:nvCxnSpPr>
        <p:spPr>
          <a:xfrm>
            <a:off x="5496339" y="2087963"/>
            <a:ext cx="701703" cy="7454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053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F0D7-1FC7-D9BC-1557-7F9007A4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558914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Dublin Data to Useful Recommendations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75CB51-4B24-6E18-08D1-B0A49924F73A}"/>
              </a:ext>
            </a:extLst>
          </p:cNvPr>
          <p:cNvSpPr/>
          <p:nvPr/>
        </p:nvSpPr>
        <p:spPr>
          <a:xfrm>
            <a:off x="2557463" y="1212397"/>
            <a:ext cx="4029075" cy="1089932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 data – RTB, Daft.ie, Rent.ie</a:t>
            </a:r>
          </a:p>
          <a:p>
            <a:pPr algn="ctr"/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Amenities data – OpenStreetMap</a:t>
            </a:r>
          </a:p>
          <a:p>
            <a:pPr algn="ctr"/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Commute data – Google Maps, TFI GTFS</a:t>
            </a:r>
          </a:p>
          <a:p>
            <a:pPr algn="ctr"/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Census data – CSO demographics</a:t>
            </a:r>
          </a:p>
          <a:p>
            <a:pPr algn="ctr"/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D9DB70-747C-1824-C6E4-32BDE2B0B22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572000" y="2302328"/>
            <a:ext cx="0" cy="5021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CF5E59-A9A8-8AE5-C8C4-08F10B48A9FE}"/>
              </a:ext>
            </a:extLst>
          </p:cNvPr>
          <p:cNvSpPr/>
          <p:nvPr/>
        </p:nvSpPr>
        <p:spPr>
          <a:xfrm>
            <a:off x="3132025" y="2804433"/>
            <a:ext cx="2879951" cy="587828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ctr"/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preferences + district datasets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86BF4E-0877-D4B5-B6F2-42F226418DFA}"/>
              </a:ext>
            </a:extLst>
          </p:cNvPr>
          <p:cNvCxnSpPr/>
          <p:nvPr/>
        </p:nvCxnSpPr>
        <p:spPr>
          <a:xfrm>
            <a:off x="4572000" y="3392261"/>
            <a:ext cx="0" cy="5021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7A289E-3E78-801B-98D6-1F0E9E2CB22F}"/>
              </a:ext>
            </a:extLst>
          </p:cNvPr>
          <p:cNvSpPr/>
          <p:nvPr/>
        </p:nvSpPr>
        <p:spPr>
          <a:xfrm>
            <a:off x="3132025" y="3894365"/>
            <a:ext cx="2879951" cy="587828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</a:t>
            </a:r>
          </a:p>
          <a:p>
            <a:pPr algn="ctr"/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scores, ranks and recommends suitable areas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882061-1B3A-F3E7-F975-EC8669FDB4DF}"/>
              </a:ext>
            </a:extLst>
          </p:cNvPr>
          <p:cNvSpPr/>
          <p:nvPr/>
        </p:nvSpPr>
        <p:spPr>
          <a:xfrm>
            <a:off x="6586537" y="2363560"/>
            <a:ext cx="865412" cy="734786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B940F-B5E4-0999-5127-F582A3AE43C1}"/>
              </a:ext>
            </a:extLst>
          </p:cNvPr>
          <p:cNvSpPr txBox="1"/>
          <p:nvPr/>
        </p:nvSpPr>
        <p:spPr>
          <a:xfrm>
            <a:off x="6506860" y="2592454"/>
            <a:ext cx="10247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3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 TO D24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691227-80DF-FFF5-2CE8-27437F318D3F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6011975" y="2975882"/>
            <a:ext cx="686822" cy="12246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5937A964-6899-F5E7-2D31-BE55A7BEDE73}"/>
              </a:ext>
            </a:extLst>
          </p:cNvPr>
          <p:cNvSpPr/>
          <p:nvPr/>
        </p:nvSpPr>
        <p:spPr>
          <a:xfrm>
            <a:off x="1025168" y="2308292"/>
            <a:ext cx="1353705" cy="1121134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Rent, Commute, Groceries, Restaurants,</a:t>
            </a:r>
          </a:p>
          <a:p>
            <a:pPr algn="ctr"/>
            <a:r>
              <a:rPr lang="en-I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Parks, Gyms, Pharmacies, etc 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F3DE22-6922-CCF4-C4DE-CEF44112BC60}"/>
              </a:ext>
            </a:extLst>
          </p:cNvPr>
          <p:cNvCxnSpPr>
            <a:stCxn id="19" idx="5"/>
            <a:endCxn id="9" idx="1"/>
          </p:cNvCxnSpPr>
          <p:nvPr/>
        </p:nvCxnSpPr>
        <p:spPr>
          <a:xfrm flipV="1">
            <a:off x="2180627" y="3098347"/>
            <a:ext cx="951398" cy="16689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701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D72C-9B7D-F025-B749-EEE598FD3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5688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web application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902F2-6247-4034-FC87-51630ECA9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673" y="1993745"/>
            <a:ext cx="2065565" cy="536802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- React</a:t>
            </a:r>
          </a:p>
        </p:txBody>
      </p:sp>
      <p:pic>
        <p:nvPicPr>
          <p:cNvPr id="6" name="Picture 5" descr="File:React-icon.svg - Wikimedia Commons">
            <a:extLst>
              <a:ext uri="{FF2B5EF4-FFF2-40B4-BE49-F238E27FC236}">
                <a16:creationId xmlns:a16="http://schemas.microsoft.com/office/drawing/2014/main" id="{63B5176A-CD97-066E-D91D-DFAD47049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817" y="1150505"/>
            <a:ext cx="759278" cy="675638"/>
          </a:xfrm>
          <a:prstGeom prst="rect">
            <a:avLst/>
          </a:prstGeom>
        </p:spPr>
      </p:pic>
      <p:pic>
        <p:nvPicPr>
          <p:cNvPr id="8" name="Picture 7" descr="Microsoft Azure - Wikipedia">
            <a:extLst>
              <a:ext uri="{FF2B5EF4-FFF2-40B4-BE49-F238E27FC236}">
                <a16:creationId xmlns:a16="http://schemas.microsoft.com/office/drawing/2014/main" id="{1B1F4E3A-A47B-D7E6-34D7-C1A4BB1D2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153" y="1040309"/>
            <a:ext cx="896030" cy="89603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1062998-5886-8191-A56A-FAD975425489}"/>
              </a:ext>
            </a:extLst>
          </p:cNvPr>
          <p:cNvSpPr txBox="1">
            <a:spLocks/>
          </p:cNvSpPr>
          <p:nvPr/>
        </p:nvSpPr>
        <p:spPr>
          <a:xfrm>
            <a:off x="5709385" y="1993745"/>
            <a:ext cx="2065565" cy="53680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– Azure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C7B5E3-9FB2-00DB-2E7F-81F174E403E6}"/>
              </a:ext>
            </a:extLst>
          </p:cNvPr>
          <p:cNvSpPr txBox="1">
            <a:spLocks/>
          </p:cNvSpPr>
          <p:nvPr/>
        </p:nvSpPr>
        <p:spPr>
          <a:xfrm>
            <a:off x="628649" y="4320607"/>
            <a:ext cx="8101523" cy="53680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Here’s the link to our website -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Find-your-Dublin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6677D6-F8AC-F40B-3CDE-44DE4E854619}"/>
              </a:ext>
            </a:extLst>
          </p:cNvPr>
          <p:cNvSpPr/>
          <p:nvPr/>
        </p:nvSpPr>
        <p:spPr>
          <a:xfrm>
            <a:off x="595993" y="2736312"/>
            <a:ext cx="3976007" cy="54545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3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Homepage</a:t>
            </a:r>
          </a:p>
          <a:p>
            <a:pPr algn="ctr"/>
            <a:r>
              <a:rPr lang="en-IN" sz="13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Landing page and video</a:t>
            </a:r>
          </a:p>
          <a:p>
            <a:pPr algn="ctr"/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Graphic 12" descr="Home1 outline">
            <a:extLst>
              <a:ext uri="{FF2B5EF4-FFF2-40B4-BE49-F238E27FC236}">
                <a16:creationId xmlns:a16="http://schemas.microsoft.com/office/drawing/2014/main" id="{96B1F7D2-E0B7-8172-A655-F90653101C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293" y="2785297"/>
            <a:ext cx="379640" cy="37964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7D60A80-8D63-6574-902C-9ABC5DF83147}"/>
              </a:ext>
            </a:extLst>
          </p:cNvPr>
          <p:cNvSpPr/>
          <p:nvPr/>
        </p:nvSpPr>
        <p:spPr>
          <a:xfrm>
            <a:off x="595993" y="3391349"/>
            <a:ext cx="3976007" cy="53680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3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/ Sign-up</a:t>
            </a:r>
          </a:p>
          <a:p>
            <a:pPr algn="ctr"/>
            <a:r>
              <a:rPr lang="en-IN" sz="13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access interface</a:t>
            </a:r>
          </a:p>
          <a:p>
            <a:pPr algn="ctr"/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FEE8B22-DF77-E5C4-6484-B0E5609D79DB}"/>
              </a:ext>
            </a:extLst>
          </p:cNvPr>
          <p:cNvSpPr/>
          <p:nvPr/>
        </p:nvSpPr>
        <p:spPr>
          <a:xfrm>
            <a:off x="4754165" y="2736312"/>
            <a:ext cx="3976007" cy="54545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3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</a:t>
            </a:r>
          </a:p>
          <a:p>
            <a:pPr algn="ctr"/>
            <a:r>
              <a:rPr lang="en-IN" sz="13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preferences</a:t>
            </a:r>
          </a:p>
          <a:p>
            <a:pPr algn="ctr"/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055FD91-C266-9CC2-E209-6F15D300625E}"/>
              </a:ext>
            </a:extLst>
          </p:cNvPr>
          <p:cNvSpPr/>
          <p:nvPr/>
        </p:nvSpPr>
        <p:spPr>
          <a:xfrm>
            <a:off x="4754165" y="3391349"/>
            <a:ext cx="3976007" cy="54545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3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District Explorer</a:t>
            </a:r>
          </a:p>
          <a:p>
            <a:pPr algn="ctr"/>
            <a:r>
              <a:rPr lang="en-IN" sz="13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Maps and area profiles</a:t>
            </a:r>
          </a:p>
          <a:p>
            <a:pPr algn="ctr"/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Graphic 20" descr="User outline">
            <a:extLst>
              <a:ext uri="{FF2B5EF4-FFF2-40B4-BE49-F238E27FC236}">
                <a16:creationId xmlns:a16="http://schemas.microsoft.com/office/drawing/2014/main" id="{18473D2D-0E41-BCF2-15B2-0A371F7716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315" y="3439580"/>
            <a:ext cx="439596" cy="439596"/>
          </a:xfrm>
          <a:prstGeom prst="rect">
            <a:avLst/>
          </a:prstGeom>
        </p:spPr>
      </p:pic>
      <p:pic>
        <p:nvPicPr>
          <p:cNvPr id="23" name="Graphic 22" descr="Question Mark with solid fill">
            <a:extLst>
              <a:ext uri="{FF2B5EF4-FFF2-40B4-BE49-F238E27FC236}">
                <a16:creationId xmlns:a16="http://schemas.microsoft.com/office/drawing/2014/main" id="{F5638A70-70AB-E365-9505-AAAF743924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264" y="2841976"/>
            <a:ext cx="322961" cy="322961"/>
          </a:xfrm>
          <a:prstGeom prst="rect">
            <a:avLst/>
          </a:prstGeom>
        </p:spPr>
      </p:pic>
      <p:pic>
        <p:nvPicPr>
          <p:cNvPr id="25" name="Graphic 24" descr="Map with pin outline">
            <a:extLst>
              <a:ext uri="{FF2B5EF4-FFF2-40B4-BE49-F238E27FC236}">
                <a16:creationId xmlns:a16="http://schemas.microsoft.com/office/drawing/2014/main" id="{54752716-0A58-DFA7-32D4-5EA2CF8BBF3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88876" y="3387434"/>
            <a:ext cx="448015" cy="44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91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5F4E-4414-7D84-5148-FC6B8BB3A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236934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75733-4C91-D81B-F134-5D59F5E90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8" y="926424"/>
            <a:ext cx="7886700" cy="4299155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all components: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recommendation algorithm, student input form, district profiles and interactive map.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recommendations: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match scores, district rankings, rent values and automatically generated explanations.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and test the interface: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navigation, district information, famous-place images and Luas connections.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user testing: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realistic student scenarios and prepare feedback questions for international students.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database integration: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Migrate and organise existing datasets in PostgreSQL to support structured storage, efficient querying and integration with the recommendation system.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development: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an AI-powered chatbot to answer student queries, explain district recommendations and help international students compare suitable areas.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and testing: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the PostgreSQL database and AI chatbot with the existing components and test the complete system for functionality and usability.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906FE-D41B-98A4-94BF-5EB082AA5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501" y="105812"/>
            <a:ext cx="937569" cy="66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06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CD777B-016F-2534-6BC1-B6F863E3E6BB}"/>
              </a:ext>
            </a:extLst>
          </p:cNvPr>
          <p:cNvSpPr/>
          <p:nvPr/>
        </p:nvSpPr>
        <p:spPr>
          <a:xfrm>
            <a:off x="575070" y="1037474"/>
            <a:ext cx="1972713" cy="306029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DAE034-CC66-FBEA-CB46-52FEFD3C7A8B}"/>
              </a:ext>
            </a:extLst>
          </p:cNvPr>
          <p:cNvSpPr/>
          <p:nvPr/>
        </p:nvSpPr>
        <p:spPr>
          <a:xfrm>
            <a:off x="3636682" y="1035081"/>
            <a:ext cx="1885384" cy="314140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0BCE9E-2D34-3B14-C95D-982D8ECAA333}"/>
              </a:ext>
            </a:extLst>
          </p:cNvPr>
          <p:cNvSpPr/>
          <p:nvPr/>
        </p:nvSpPr>
        <p:spPr>
          <a:xfrm>
            <a:off x="6532971" y="1043963"/>
            <a:ext cx="2035959" cy="310085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D166E-A5B5-887B-75FF-E490F5492ED9}"/>
              </a:ext>
            </a:extLst>
          </p:cNvPr>
          <p:cNvSpPr txBox="1"/>
          <p:nvPr/>
        </p:nvSpPr>
        <p:spPr>
          <a:xfrm>
            <a:off x="2547784" y="58993"/>
            <a:ext cx="39599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ROADMAP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FE0918-EAB6-832F-4908-5DE715E0C79E}"/>
              </a:ext>
            </a:extLst>
          </p:cNvPr>
          <p:cNvSpPr/>
          <p:nvPr/>
        </p:nvSpPr>
        <p:spPr>
          <a:xfrm>
            <a:off x="280219" y="4336027"/>
            <a:ext cx="8598311" cy="67842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CC00BB-88B8-7E35-FFE3-CDAD04BD34B3}"/>
              </a:ext>
            </a:extLst>
          </p:cNvPr>
          <p:cNvSpPr txBox="1"/>
          <p:nvPr/>
        </p:nvSpPr>
        <p:spPr>
          <a:xfrm>
            <a:off x="608024" y="1133096"/>
            <a:ext cx="1870756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4: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with 10-15 international students.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recommendation quality and usability.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feedback on usefulness explanations and interface.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CD6008-9193-CCEE-E1BB-F4FFE6789592}"/>
              </a:ext>
            </a:extLst>
          </p:cNvPr>
          <p:cNvSpPr txBox="1"/>
          <p:nvPr/>
        </p:nvSpPr>
        <p:spPr>
          <a:xfrm>
            <a:off x="3681636" y="1133096"/>
            <a:ext cx="1692238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5: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system based on feedback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Finalise documentation and presentation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final submission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A549E8-7529-EEE0-0C71-0204C0E8BAA2}"/>
              </a:ext>
            </a:extLst>
          </p:cNvPr>
          <p:cNvSpPr txBox="1"/>
          <p:nvPr/>
        </p:nvSpPr>
        <p:spPr>
          <a:xfrm>
            <a:off x="368710" y="4336026"/>
            <a:ext cx="840658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GOAL: 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working tested and explainable district recommendation system that helps international students find the right area to live in Dublin.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336469-CA25-D741-853D-206FD91FEF9D}"/>
              </a:ext>
            </a:extLst>
          </p:cNvPr>
          <p:cNvSpPr txBox="1"/>
          <p:nvPr/>
        </p:nvSpPr>
        <p:spPr>
          <a:xfrm>
            <a:off x="457201" y="589908"/>
            <a:ext cx="7993625" cy="30008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two-week sprints to deliver a tested recommendation system for international students.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85BA7B-C72E-7662-26DD-FA491AB7D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276" y="82492"/>
            <a:ext cx="477106" cy="4742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F31F1A-55E6-7932-9AA3-0A6BFB1254F0}"/>
              </a:ext>
            </a:extLst>
          </p:cNvPr>
          <p:cNvSpPr txBox="1"/>
          <p:nvPr/>
        </p:nvSpPr>
        <p:spPr>
          <a:xfrm>
            <a:off x="6532971" y="1133096"/>
            <a:ext cx="2127399" cy="2977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6: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AI chatbot to answer students questions about Dublin districts.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chatbot with the recommendation system to provide guidance on suitable areas.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chatbot responses and improve usability based on feedback.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523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2ED8-88BA-B661-6C99-13F9BDCF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233C31-0D1A-9B75-1D43-47DBCE949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4244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78045-7722-D48C-6C25-2E50BA0E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51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</TotalTime>
  <Words>1227</Words>
  <Application>Microsoft Macintosh PowerPoint</Application>
  <PresentationFormat>On-screen Show (16:9)</PresentationFormat>
  <Paragraphs>187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1_Office Theme</vt:lpstr>
      <vt:lpstr>Find Your Dublin</vt:lpstr>
      <vt:lpstr>Project Vision</vt:lpstr>
      <vt:lpstr>PowerPoint Presentation</vt:lpstr>
      <vt:lpstr>PowerPoint Presentation</vt:lpstr>
      <vt:lpstr>PowerPoint Presentation</vt:lpstr>
      <vt:lpstr>Data Stack</vt:lpstr>
      <vt:lpstr>Rent </vt:lpstr>
      <vt:lpstr>Commute</vt:lpstr>
      <vt:lpstr>Amenities</vt:lpstr>
      <vt:lpstr>CSO Census</vt:lpstr>
      <vt:lpstr>Evaluation</vt:lpstr>
      <vt:lpstr>What Success Looks Like</vt:lpstr>
      <vt:lpstr>Student Survey on transport</vt:lpstr>
      <vt:lpstr>Student Survey on commute time</vt:lpstr>
      <vt:lpstr>Checking the Data</vt:lpstr>
      <vt:lpstr>Testing the Algorithm and API</vt:lpstr>
      <vt:lpstr>User Testing</vt:lpstr>
      <vt:lpstr>What We Do With the Results</vt:lpstr>
      <vt:lpstr>Our Sprint Journey</vt:lpstr>
      <vt:lpstr>From Dublin Data to Useful Recommendations</vt:lpstr>
      <vt:lpstr>A working web application </vt:lpstr>
      <vt:lpstr>Immediate Next Steps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Vikneshwaran</cp:lastModifiedBy>
  <cp:revision>20</cp:revision>
  <dcterms:created xsi:type="dcterms:W3CDTF">2026-10-01T17:20:08Z</dcterms:created>
  <dcterms:modified xsi:type="dcterms:W3CDTF">2026-10-22T16:44:43Z</dcterms:modified>
</cp:coreProperties>
</file>