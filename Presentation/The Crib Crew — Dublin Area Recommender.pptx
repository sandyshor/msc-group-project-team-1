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The Crib Crew. Our project: an explainable, multi-criteria recommendation system that helps international students identify their Dublin residential area by financial, commuting and lifestyle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international students arrive in Dublin, they have limited reliable, personal information to decide where to live. Advice is shared on forums, by word of mouth and in property listings — but none of it answers the question that really matters: given my budget, my campus and the things I care about day to day, which part of the city will suit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first fills in their university, monthly spending and accommodation type. Then they rate how important accommodation, commute time, grocery access, international food, gyms, parks, public transport and healthcare are to them. These preferences are compared against a dataset collated for every Dublin district, and the student gets a shortlist of areas, each with a match score and a plain-language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criteria each student rates for importance. The weights they choose drive the match score for every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from our plan: a student with a €900 monthly budget who does not want to share a house, wants to eat South Asian food, uses public transport and wants nearby parks could be matched to Dublin 7, because its characteristics fit her needs. The map is a stylised illustration, not real district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has a focus on explanation. If there is no reasoning, the ranking is not actionable. A student should see that Dublin 7 didn't have a bad score — it was third; the campus is only an 18-minute walk away and there are 14 supermarkets in the district. We augment property-listing sites rather than replace them. Primary users: incoming international students planning accommodation before arriving. Secondary users: university accommodation offices and student unions.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deployable version takes a single university, five districts and four criteria — rent, commute time, grocery access and public transport — scored with a weighted-sum model on a fixed dataset, and returns a ranked list with explanations. It is intentionally limited: it tests the core idea that students do better when areas match their preferences and the explanations are believable. After deployment we ask three questions: do they agree with the rankings, does the explanation increase their confidence, and which criteria did they rely on most? We measure how many areas the test group mentions unprompted that appear in our top three, pre- and post-use confidence ratings, and the weights users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end: a React single-page app with a preference form, ranked results, an expandable explanation panel for each area, and a Leaflet map highlighting Dublin postal districts. Back end: a FastAPI REST layer, chosen because the engine is Python and FastAPI validates requests and generates API docs automatically, so front and back end can be built in parallel. The recommendation engine applies hard constraints first (budget, accommodation type), normalises attributes so low rent and high amenity counts score well, then computes a match score from the student's weights. The explanation generator is separate from the scoring logic so either can change independently. PostgreSQL with PostGIS stores one row per district with a column per scored feature. The ETL process runs separately from user sessions, with one script per source so one outage doesn't block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Rent: the RTB Average Rent dataset, reporting rents from registered tenancies by Dublin postal district. Amenities: OpenStreetMap via the Overpass API — supermarkets, restaurants with cuisine tags, gyms, parks and pharmacies per district. Commute: the Transport for Ireland GTFS schedule feed, used to compute travel times from each district to each major campus. Community: CSO Census 2022 small-area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we raise or lower each weight by 20 percent and count how often the top three areas change. If small changes flip the result, the model is not reliable. We also compare against an alternative scoring approach and analyse the differences. User testing: 10–15 international students first choose areas without the app, then fill in the preference form. We measure how often their choice was in our top three and ask how persuasive the reasoning was. Results feed straight into the next sprint: poor agreement means revisiting criteria and weights; low marks on phrasing means fixing the explanations; UI problems become front-end backlog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Scrum with two-week sprints, managed on GitHub Projects for the backlog, issues, code and task progress. Each sprint starts with planning and ends with a review and a retrospective. The Scrum Master role rotates each sprint; one person is Product Owner for the whole project to keep the backlog consistent. Sprint 1: GitHub repo and board, synthetic fixture, start data collection. Sprint 2: collect real Dublin data and finalise features and criteria. Sprint 3: build and deploy the MVP. Sprint 4: user evaluation with international students — no new features from this point. Sprint 5: improve based on evaluation results and complete documentation. Success means a deployed system that takes valid preferences and returns a justified list of Dublin areas with understandable explanations, plus an evaluation showing the recommendations help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meet in person every Friday after class for about two hours to plan and make decisions, plus a short online stand-up on Tuesday or Wednesday evening covering progress, blockers and next steps. A Microsoft Teams group carries project updates, kept up to date by that week's team lead. One member works night shifts, so meeting minutes are shared with him after each meeting, or he listens to the recording — nobody is excluded from decisions because of their work schedule. The team lead rotates at the start of each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disagreements are healthy — we would rather spend an hour testing which approach is better than an afternoon arguing. Suggestions or disagreements go to the whole team, not one member, and the team decides together; no single person has a veto. If we can't agree, the team lead or the person who knows that area best decides. If someone starts affecting the team (missing meetings, pushing code late), we talk to them first; if it continues, the team agrees a specific change in a meeting; if it's still unresolved after a full sprint, it goes to our mentor. Clear ownership of every task avoids most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Our success criteria: a deployed system that accepts a valid combination of preferences from international students and returns a justified list of Dublin neighbourhoods with understandable explanations, plus an evaluation showing these recommendations are genuinely helpful.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D"/>
        </a:solidFill>
      </p:bgPr>
    </p:bg>
    <p:spTree>
      <p:nvGrpSpPr>
        <p:cNvPr id="1" name=""/>
        <p:cNvGrpSpPr/>
        <p:nvPr/>
      </p:nvGrpSpPr>
      <p:grpSpPr>
        <a:xfrm>
          <a:off x="0" y="0"/>
          <a:ext cx="0" cy="0"/>
          <a:chOff x="0" y="0"/>
          <a:chExt cx="0" cy="0"/>
        </a:xfrm>
      </p:grpSpPr>
      <p:pic>
        <p:nvPicPr>
          <p:cNvPr id="2" name="Image 0" descr="Illustrated Dublin skyline with Georgian doors, the Spire, the Ha'penny Bridge and the Poolbeg chimneys">    </p:cNvPr>
          <p:cNvPicPr>
            <a:picLocks noChangeAspect="1"/>
          </p:cNvPicPr>
          <p:nvPr/>
        </p:nvPicPr>
        <p:blipFill>
          <a:blip r:embed="rId1"/>
          <a:srcRect l="-30" r="-30" t="0" b="0"/>
          <a:stretch/>
        </p:blipFill>
        <p:spPr>
          <a:xfrm>
            <a:off x="0" y="3556000"/>
            <a:ext cx="12192000" cy="3302000"/>
          </a:xfrm>
          <a:prstGeom prst="rect">
            <a:avLst/>
          </a:prstGeom>
        </p:spPr>
      </p:pic>
      <p:sp>
        <p:nvSpPr>
          <p:cNvPr id="3" name="Shape 0"/>
          <p:cNvSpPr/>
          <p:nvPr/>
        </p:nvSpPr>
        <p:spPr>
          <a:xfrm>
            <a:off x="812800" y="812800"/>
            <a:ext cx="3290650" cy="358140"/>
          </a:xfrm>
          <a:prstGeom prst="roundRect">
            <a:avLst>
              <a:gd name="adj" fmla="val 50000"/>
            </a:avLst>
          </a:prstGeom>
          <a:solidFill>
            <a:srgbClr val="F2C14E"/>
          </a:solidFill>
          <a:ln/>
        </p:spPr>
      </p:sp>
      <p:sp>
        <p:nvSpPr>
          <p:cNvPr id="4" name="Text 1"/>
          <p:cNvSpPr/>
          <p:nvPr/>
        </p:nvSpPr>
        <p:spPr>
          <a:xfrm>
            <a:off x="965200" y="876300"/>
            <a:ext cx="307542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303D"/>
                </a:solidFill>
                <a:latin typeface="DM Sans" pitchFamily="34" charset="0"/>
                <a:ea typeface="DM Sans" pitchFamily="34" charset="-122"/>
                <a:cs typeface="DM Sans" pitchFamily="34" charset="-120"/>
              </a:rPr>
              <a:t>MSc Computer Science · Team Project</a:t>
            </a:r>
            <a:endParaRPr lang="en-US" sz="1300" dirty="0"/>
          </a:p>
        </p:txBody>
      </p:sp>
      <p:sp>
        <p:nvSpPr>
          <p:cNvPr id="5" name="Text 2"/>
          <p:cNvSpPr/>
          <p:nvPr/>
        </p:nvSpPr>
        <p:spPr>
          <a:xfrm>
            <a:off x="812800" y="1348740"/>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F5F1E8"/>
                </a:solidFill>
                <a:latin typeface="Fraunces" pitchFamily="34" charset="0"/>
                <a:ea typeface="Fraunces" pitchFamily="34" charset="-122"/>
                <a:cs typeface="Fraunces" pitchFamily="34" charset="-120"/>
              </a:rPr>
              <a:t>Find your Dublin</a:t>
            </a:r>
            <a:endParaRPr lang="en-US" sz="6400" dirty="0"/>
          </a:p>
        </p:txBody>
      </p:sp>
      <p:sp>
        <p:nvSpPr>
          <p:cNvPr id="6" name="Text 3"/>
          <p:cNvSpPr/>
          <p:nvPr/>
        </p:nvSpPr>
        <p:spPr>
          <a:xfrm>
            <a:off x="812800" y="237998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FDCDF"/>
                </a:solidFill>
                <a:latin typeface="DM Sans" pitchFamily="34" charset="0"/>
                <a:ea typeface="DM Sans" pitchFamily="34" charset="-122"/>
                <a:cs typeface="DM Sans" pitchFamily="34" charset="-120"/>
              </a:rPr>
              <a:t>Matching international students to the right Dublin area — by budget, commute and lifestyle.</a:t>
            </a:r>
            <a:endParaRPr lang="en-US" sz="1800" dirty="0"/>
          </a:p>
        </p:txBody>
      </p:sp>
      <p:sp>
        <p:nvSpPr>
          <p:cNvPr id="7" name="Shape 4"/>
          <p:cNvSpPr/>
          <p:nvPr/>
        </p:nvSpPr>
        <p:spPr>
          <a:xfrm>
            <a:off x="9347200" y="812800"/>
            <a:ext cx="2032000" cy="1270000"/>
          </a:xfrm>
          <a:prstGeom prst="roundRect">
            <a:avLst>
              <a:gd name="adj" fmla="val 12000"/>
            </a:avLst>
          </a:prstGeom>
          <a:solidFill>
            <a:srgbClr val="FFFDF8"/>
          </a:solidFill>
          <a:ln/>
        </p:spPr>
      </p:sp>
      <p:pic>
        <p:nvPicPr>
          <p:cNvPr id="8" name="Image 1" descr="TU Dublin logo">    </p:cNvPr>
          <p:cNvPicPr>
            <a:picLocks noChangeAspect="1"/>
          </p:cNvPicPr>
          <p:nvPr/>
        </p:nvPicPr>
        <p:blipFill>
          <a:blip r:embed="rId2"/>
          <a:srcRect l="-64" r="-64" t="0" b="0"/>
          <a:stretch/>
        </p:blipFill>
        <p:spPr>
          <a:xfrm>
            <a:off x="9474200" y="895350"/>
            <a:ext cx="1778000" cy="1104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1755140"/>
            <a:ext cx="575564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07A3F"/>
                </a:solidFill>
                <a:latin typeface="DM Sans" pitchFamily="34" charset="0"/>
                <a:ea typeface="DM Sans" pitchFamily="34" charset="-122"/>
                <a:cs typeface="DM Sans" pitchFamily="34" charset="-120"/>
              </a:rPr>
              <a:t>THE PROBLEM</a:t>
            </a:r>
            <a:endParaRPr lang="en-US" sz="1300" dirty="0"/>
          </a:p>
        </p:txBody>
      </p:sp>
      <p:sp>
        <p:nvSpPr>
          <p:cNvPr id="3" name="Text 1"/>
          <p:cNvSpPr/>
          <p:nvPr/>
        </p:nvSpPr>
        <p:spPr>
          <a:xfrm>
            <a:off x="812800" y="2240280"/>
            <a:ext cx="5755640" cy="142748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“Given my budget, my campus and what I care about — which part of the city suits me?”</a:t>
            </a:r>
            <a:endParaRPr lang="en-US" sz="3200" dirty="0"/>
          </a:p>
        </p:txBody>
      </p:sp>
      <p:sp>
        <p:nvSpPr>
          <p:cNvPr id="4" name="Text 2"/>
          <p:cNvSpPr/>
          <p:nvPr/>
        </p:nvSpPr>
        <p:spPr>
          <a:xfrm>
            <a:off x="812800" y="3896360"/>
            <a:ext cx="57556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0"/>
                </a:solidFill>
                <a:latin typeface="DM Sans" pitchFamily="34" charset="0"/>
                <a:ea typeface="DM Sans" pitchFamily="34" charset="-122"/>
                <a:cs typeface="DM Sans" pitchFamily="34" charset="-120"/>
              </a:rPr>
              <a:t>Today, the answer is scattered across:</a:t>
            </a:r>
            <a:endParaRPr lang="en-US" sz="1500" dirty="0"/>
          </a:p>
        </p:txBody>
      </p:sp>
      <p:sp>
        <p:nvSpPr>
          <p:cNvPr id="5" name="Shape 3"/>
          <p:cNvSpPr/>
          <p:nvPr/>
        </p:nvSpPr>
        <p:spPr>
          <a:xfrm>
            <a:off x="812800" y="4417060"/>
            <a:ext cx="1307624" cy="482600"/>
          </a:xfrm>
          <a:prstGeom prst="roundRect">
            <a:avLst>
              <a:gd name="adj" fmla="val 23684"/>
            </a:avLst>
          </a:prstGeom>
          <a:solidFill>
            <a:srgbClr val="FFFDF8"/>
          </a:solidFill>
          <a:ln/>
          <a:effectLst>
            <a:outerShdw sx="100000" sy="100000" kx="0" ky="0" algn="bl" rotWithShape="0" blurRad="114300" dist="38100" dir="5400000">
              <a:srgbClr val="12303D">
                <a:alpha val="8000"/>
              </a:srgbClr>
            </a:outerShdw>
          </a:effectLst>
        </p:spPr>
      </p:sp>
      <p:pic>
        <p:nvPicPr>
          <p:cNvPr id="6" name="Image 0" descr="Chat">    </p:cNvPr>
          <p:cNvPicPr>
            <a:picLocks noChangeAspect="1"/>
          </p:cNvPicPr>
          <p:nvPr/>
        </p:nvPicPr>
        <p:blipFill>
          <a:blip r:embed="rId1"/>
          <a:srcRect l="0" r="0" t="0" b="0"/>
          <a:stretch/>
        </p:blipFill>
        <p:spPr>
          <a:xfrm>
            <a:off x="977900" y="4531360"/>
            <a:ext cx="254000" cy="254000"/>
          </a:xfrm>
          <a:prstGeom prst="rect">
            <a:avLst/>
          </a:prstGeom>
        </p:spPr>
      </p:pic>
      <p:sp>
        <p:nvSpPr>
          <p:cNvPr id="7" name="Text 4"/>
          <p:cNvSpPr/>
          <p:nvPr/>
        </p:nvSpPr>
        <p:spPr>
          <a:xfrm>
            <a:off x="1333500" y="4533900"/>
            <a:ext cx="67262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Forums</a:t>
            </a:r>
            <a:endParaRPr lang="en-US" sz="1400" dirty="0"/>
          </a:p>
        </p:txBody>
      </p:sp>
      <p:sp>
        <p:nvSpPr>
          <p:cNvPr id="8" name="Shape 5"/>
          <p:cNvSpPr/>
          <p:nvPr/>
        </p:nvSpPr>
        <p:spPr>
          <a:xfrm>
            <a:off x="2247424" y="4417060"/>
            <a:ext cx="1935877" cy="482600"/>
          </a:xfrm>
          <a:prstGeom prst="roundRect">
            <a:avLst>
              <a:gd name="adj" fmla="val 23684"/>
            </a:avLst>
          </a:prstGeom>
          <a:solidFill>
            <a:srgbClr val="FFFDF8"/>
          </a:solidFill>
          <a:ln/>
          <a:effectLst>
            <a:outerShdw sx="100000" sy="100000" kx="0" ky="0" algn="bl" rotWithShape="0" blurRad="114300" dist="38100" dir="5400000">
              <a:srgbClr val="12303D">
                <a:alpha val="8000"/>
              </a:srgbClr>
            </a:outerShdw>
          </a:effectLst>
        </p:spPr>
      </p:sp>
      <p:pic>
        <p:nvPicPr>
          <p:cNvPr id="9" name="Image 1" descr="Users">    </p:cNvPr>
          <p:cNvPicPr>
            <a:picLocks noChangeAspect="1"/>
          </p:cNvPicPr>
          <p:nvPr/>
        </p:nvPicPr>
        <p:blipFill>
          <a:blip r:embed="rId2"/>
          <a:srcRect l="0" r="0" t="0" b="0"/>
          <a:stretch/>
        </p:blipFill>
        <p:spPr>
          <a:xfrm>
            <a:off x="2412524" y="4531360"/>
            <a:ext cx="254000" cy="254000"/>
          </a:xfrm>
          <a:prstGeom prst="rect">
            <a:avLst/>
          </a:prstGeom>
        </p:spPr>
      </p:pic>
      <p:sp>
        <p:nvSpPr>
          <p:cNvPr id="10" name="Text 6"/>
          <p:cNvSpPr/>
          <p:nvPr/>
        </p:nvSpPr>
        <p:spPr>
          <a:xfrm>
            <a:off x="2768124" y="4533900"/>
            <a:ext cx="130087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Word of mouth</a:t>
            </a:r>
            <a:endParaRPr lang="en-US" sz="1400" dirty="0"/>
          </a:p>
        </p:txBody>
      </p:sp>
      <p:sp>
        <p:nvSpPr>
          <p:cNvPr id="11" name="Shape 7"/>
          <p:cNvSpPr/>
          <p:nvPr/>
        </p:nvSpPr>
        <p:spPr>
          <a:xfrm>
            <a:off x="4310301" y="4417060"/>
            <a:ext cx="2050812" cy="482600"/>
          </a:xfrm>
          <a:prstGeom prst="roundRect">
            <a:avLst>
              <a:gd name="adj" fmla="val 23684"/>
            </a:avLst>
          </a:prstGeom>
          <a:solidFill>
            <a:srgbClr val="FFFDF8"/>
          </a:solidFill>
          <a:ln/>
          <a:effectLst>
            <a:outerShdw sx="100000" sy="100000" kx="0" ky="0" algn="bl" rotWithShape="0" blurRad="114300" dist="38100" dir="5400000">
              <a:srgbClr val="12303D">
                <a:alpha val="8000"/>
              </a:srgbClr>
            </a:outerShdw>
          </a:effectLst>
        </p:spPr>
      </p:sp>
      <p:pic>
        <p:nvPicPr>
          <p:cNvPr id="12" name="Image 2" descr="Home">    </p:cNvPr>
          <p:cNvPicPr>
            <a:picLocks noChangeAspect="1"/>
          </p:cNvPicPr>
          <p:nvPr/>
        </p:nvPicPr>
        <p:blipFill>
          <a:blip r:embed="rId3"/>
          <a:srcRect l="0" r="0" t="0" b="0"/>
          <a:stretch/>
        </p:blipFill>
        <p:spPr>
          <a:xfrm>
            <a:off x="4475401" y="4531360"/>
            <a:ext cx="254000" cy="254000"/>
          </a:xfrm>
          <a:prstGeom prst="rect">
            <a:avLst/>
          </a:prstGeom>
        </p:spPr>
      </p:pic>
      <p:sp>
        <p:nvSpPr>
          <p:cNvPr id="13" name="Text 8"/>
          <p:cNvSpPr/>
          <p:nvPr/>
        </p:nvSpPr>
        <p:spPr>
          <a:xfrm>
            <a:off x="4831001" y="4533900"/>
            <a:ext cx="141581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Property listings</a:t>
            </a:r>
            <a:endParaRPr lang="en-US" sz="1400" dirty="0"/>
          </a:p>
        </p:txBody>
      </p:sp>
      <p:pic>
        <p:nvPicPr>
          <p:cNvPr id="14" name="Image 3" descr="A new international student with a suitcase, surrounded by question marks and map pins">    </p:cNvPr>
          <p:cNvPicPr>
            <a:picLocks noChangeAspect="1"/>
          </p:cNvPicPr>
          <p:nvPr/>
        </p:nvPicPr>
        <p:blipFill>
          <a:blip r:embed="rId4"/>
          <a:srcRect l="0" r="0" t="0" b="0"/>
          <a:stretch/>
        </p:blipFill>
        <p:spPr>
          <a:xfrm>
            <a:off x="6807200" y="1358900"/>
            <a:ext cx="4572000" cy="3937000"/>
          </a:xfrm>
          <a:prstGeom prst="rect">
            <a:avLst/>
          </a:prstGeom>
        </p:spPr>
      </p:pic>
      <p:sp>
        <p:nvSpPr>
          <p:cNvPr id="15" name="Text 9"/>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How it works, in three steps</a:t>
            </a:r>
            <a:endParaRPr lang="en-US" sz="3200" dirty="0"/>
          </a:p>
        </p:txBody>
      </p:sp>
      <p:sp>
        <p:nvSpPr>
          <p:cNvPr id="3" name="Shape 1"/>
          <p:cNvSpPr/>
          <p:nvPr/>
        </p:nvSpPr>
        <p:spPr>
          <a:xfrm>
            <a:off x="812800" y="1584961"/>
            <a:ext cx="3352800" cy="3121660"/>
          </a:xfrm>
          <a:prstGeom prst="roundRect">
            <a:avLst>
              <a:gd name="adj" fmla="val 4882"/>
            </a:avLst>
          </a:prstGeom>
          <a:solidFill>
            <a:srgbClr val="FFFDF8"/>
          </a:solidFill>
          <a:ln/>
        </p:spPr>
      </p:sp>
      <p:pic>
        <p:nvPicPr>
          <p:cNvPr id="4" name="Image 0" descr="A preference form with university, budget and room type">    </p:cNvPr>
          <p:cNvPicPr>
            <a:picLocks noChangeAspect="1"/>
          </p:cNvPicPr>
          <p:nvPr/>
        </p:nvPicPr>
        <p:blipFill>
          <a:blip r:embed="rId1"/>
          <a:srcRect l="0" r="0" t="0" b="0"/>
          <a:stretch/>
        </p:blipFill>
        <p:spPr>
          <a:xfrm>
            <a:off x="1016000" y="1788161"/>
            <a:ext cx="2921000" cy="1651000"/>
          </a:xfrm>
          <a:prstGeom prst="rect">
            <a:avLst/>
          </a:prstGeom>
        </p:spPr>
      </p:pic>
      <p:sp>
        <p:nvSpPr>
          <p:cNvPr id="5" name="Shape 2"/>
          <p:cNvSpPr/>
          <p:nvPr/>
        </p:nvSpPr>
        <p:spPr>
          <a:xfrm>
            <a:off x="1016000" y="3566161"/>
            <a:ext cx="330200" cy="330200"/>
          </a:xfrm>
          <a:prstGeom prst="roundRect">
            <a:avLst>
              <a:gd name="adj" fmla="val 50000"/>
            </a:avLst>
          </a:prstGeom>
          <a:solidFill>
            <a:srgbClr val="E07A3F"/>
          </a:solidFill>
          <a:ln/>
        </p:spPr>
      </p:sp>
      <p:sp>
        <p:nvSpPr>
          <p:cNvPr id="6" name="Text 3"/>
          <p:cNvSpPr/>
          <p:nvPr/>
        </p:nvSpPr>
        <p:spPr>
          <a:xfrm>
            <a:off x="990600" y="3566161"/>
            <a:ext cx="381000" cy="355600"/>
          </a:xfrm>
          <a:prstGeom prst="rect">
            <a:avLst/>
          </a:prstGeom>
          <a:noFill/>
          <a:ln/>
        </p:spPr>
        <p:txBody>
          <a:bodyPr wrap="square" lIns="0" tIns="0" rIns="0" bIns="0" rtlCol="0" anchor="t">
            <a:normAutofit/>
          </a:bodyPr>
          <a:lstStyle/>
          <a:p>
            <a:pPr algn="ctr" indent="0" marL="0">
              <a:lnSpc>
                <a:spcPts val="2590"/>
              </a:lnSpc>
              <a:buNone/>
            </a:pPr>
            <a:r>
              <a:rPr lang="en-US" sz="1400" b="1" dirty="0">
                <a:solidFill>
                  <a:srgbClr val="FFFDF8"/>
                </a:solidFill>
                <a:latin typeface="DM Sans" pitchFamily="34" charset="0"/>
                <a:ea typeface="DM Sans" pitchFamily="34" charset="-122"/>
                <a:cs typeface="DM Sans" pitchFamily="34" charset="-120"/>
              </a:rPr>
              <a:t>1</a:t>
            </a:r>
            <a:endParaRPr lang="en-US" sz="1400" dirty="0"/>
          </a:p>
        </p:txBody>
      </p:sp>
      <p:sp>
        <p:nvSpPr>
          <p:cNvPr id="7" name="Text 4"/>
          <p:cNvSpPr/>
          <p:nvPr/>
        </p:nvSpPr>
        <p:spPr>
          <a:xfrm>
            <a:off x="1447800" y="3578861"/>
            <a:ext cx="207996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Fraunces" pitchFamily="34" charset="0"/>
                <a:ea typeface="Fraunces" pitchFamily="34" charset="-122"/>
                <a:cs typeface="Fraunces" pitchFamily="34" charset="-120"/>
              </a:rPr>
              <a:t>Tell us about you</a:t>
            </a:r>
            <a:endParaRPr lang="en-US" sz="2000" dirty="0"/>
          </a:p>
        </p:txBody>
      </p:sp>
      <p:sp>
        <p:nvSpPr>
          <p:cNvPr id="8" name="Text 5"/>
          <p:cNvSpPr/>
          <p:nvPr/>
        </p:nvSpPr>
        <p:spPr>
          <a:xfrm>
            <a:off x="1016000" y="4023361"/>
            <a:ext cx="303479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0"/>
                </a:solidFill>
                <a:latin typeface="DM Sans" pitchFamily="34" charset="0"/>
                <a:ea typeface="DM Sans" pitchFamily="34" charset="-122"/>
                <a:cs typeface="DM Sans" pitchFamily="34" charset="-120"/>
              </a:rPr>
              <a:t>University, monthly budget, room type</a:t>
            </a:r>
            <a:endParaRPr lang="en-US" sz="1400" dirty="0"/>
          </a:p>
        </p:txBody>
      </p:sp>
      <p:sp>
        <p:nvSpPr>
          <p:cNvPr id="9" name="Shape 6"/>
          <p:cNvSpPr/>
          <p:nvPr/>
        </p:nvSpPr>
        <p:spPr>
          <a:xfrm>
            <a:off x="4419600" y="1584961"/>
            <a:ext cx="3352800" cy="3121660"/>
          </a:xfrm>
          <a:prstGeom prst="roundRect">
            <a:avLst>
              <a:gd name="adj" fmla="val 4882"/>
            </a:avLst>
          </a:prstGeom>
          <a:solidFill>
            <a:srgbClr val="FFFDF8"/>
          </a:solidFill>
          <a:ln/>
        </p:spPr>
      </p:sp>
      <p:pic>
        <p:nvPicPr>
          <p:cNvPr id="10" name="Image 1" descr="Sliders for rating how important each factor is">    </p:cNvPr>
          <p:cNvPicPr>
            <a:picLocks noChangeAspect="1"/>
          </p:cNvPicPr>
          <p:nvPr/>
        </p:nvPicPr>
        <p:blipFill>
          <a:blip r:embed="rId2"/>
          <a:srcRect l="0" r="0" t="0" b="0"/>
          <a:stretch/>
        </p:blipFill>
        <p:spPr>
          <a:xfrm>
            <a:off x="4622800" y="1788161"/>
            <a:ext cx="2921000" cy="1651000"/>
          </a:xfrm>
          <a:prstGeom prst="rect">
            <a:avLst/>
          </a:prstGeom>
        </p:spPr>
      </p:pic>
      <p:sp>
        <p:nvSpPr>
          <p:cNvPr id="11" name="Shape 7"/>
          <p:cNvSpPr/>
          <p:nvPr/>
        </p:nvSpPr>
        <p:spPr>
          <a:xfrm>
            <a:off x="4622800" y="3566161"/>
            <a:ext cx="330200" cy="330200"/>
          </a:xfrm>
          <a:prstGeom prst="roundRect">
            <a:avLst>
              <a:gd name="adj" fmla="val 50000"/>
            </a:avLst>
          </a:prstGeom>
          <a:solidFill>
            <a:srgbClr val="E07A3F"/>
          </a:solidFill>
          <a:ln/>
        </p:spPr>
      </p:sp>
      <p:sp>
        <p:nvSpPr>
          <p:cNvPr id="12" name="Text 8"/>
          <p:cNvSpPr/>
          <p:nvPr/>
        </p:nvSpPr>
        <p:spPr>
          <a:xfrm>
            <a:off x="4597400" y="3566161"/>
            <a:ext cx="381000" cy="355600"/>
          </a:xfrm>
          <a:prstGeom prst="rect">
            <a:avLst/>
          </a:prstGeom>
          <a:noFill/>
          <a:ln/>
        </p:spPr>
        <p:txBody>
          <a:bodyPr wrap="square" lIns="0" tIns="0" rIns="0" bIns="0" rtlCol="0" anchor="t">
            <a:normAutofit/>
          </a:bodyPr>
          <a:lstStyle/>
          <a:p>
            <a:pPr algn="ctr" indent="0" marL="0">
              <a:lnSpc>
                <a:spcPts val="2590"/>
              </a:lnSpc>
              <a:buNone/>
            </a:pPr>
            <a:r>
              <a:rPr lang="en-US" sz="1400" b="1" dirty="0">
                <a:solidFill>
                  <a:srgbClr val="FFFDF8"/>
                </a:solidFill>
                <a:latin typeface="DM Sans" pitchFamily="34" charset="0"/>
                <a:ea typeface="DM Sans" pitchFamily="34" charset="-122"/>
                <a:cs typeface="DM Sans" pitchFamily="34" charset="-120"/>
              </a:rPr>
              <a:t>2</a:t>
            </a:r>
            <a:endParaRPr lang="en-US" sz="1400" dirty="0"/>
          </a:p>
        </p:txBody>
      </p:sp>
      <p:sp>
        <p:nvSpPr>
          <p:cNvPr id="13" name="Text 9"/>
          <p:cNvSpPr/>
          <p:nvPr/>
        </p:nvSpPr>
        <p:spPr>
          <a:xfrm>
            <a:off x="5054600" y="3578861"/>
            <a:ext cx="2263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Fraunces" pitchFamily="34" charset="0"/>
                <a:ea typeface="Fraunces" pitchFamily="34" charset="-122"/>
                <a:cs typeface="Fraunces" pitchFamily="34" charset="-120"/>
              </a:rPr>
              <a:t>Rate what matters</a:t>
            </a:r>
            <a:endParaRPr lang="en-US" sz="2000" dirty="0"/>
          </a:p>
        </p:txBody>
      </p:sp>
      <p:sp>
        <p:nvSpPr>
          <p:cNvPr id="14" name="Text 10"/>
          <p:cNvSpPr/>
          <p:nvPr/>
        </p:nvSpPr>
        <p:spPr>
          <a:xfrm>
            <a:off x="4622800" y="4023361"/>
            <a:ext cx="303479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0"/>
                </a:solidFill>
                <a:latin typeface="DM Sans" pitchFamily="34" charset="0"/>
                <a:ea typeface="DM Sans" pitchFamily="34" charset="-122"/>
                <a:cs typeface="DM Sans" pitchFamily="34" charset="-120"/>
              </a:rPr>
              <a:t>Eight everyday priorities, weighted by you</a:t>
            </a:r>
            <a:endParaRPr lang="en-US" sz="1400" dirty="0"/>
          </a:p>
        </p:txBody>
      </p:sp>
      <p:sp>
        <p:nvSpPr>
          <p:cNvPr id="15" name="Shape 11"/>
          <p:cNvSpPr/>
          <p:nvPr/>
        </p:nvSpPr>
        <p:spPr>
          <a:xfrm>
            <a:off x="8026400" y="1584961"/>
            <a:ext cx="3352800" cy="3121660"/>
          </a:xfrm>
          <a:prstGeom prst="roundRect">
            <a:avLst>
              <a:gd name="adj" fmla="val 4882"/>
            </a:avLst>
          </a:prstGeom>
          <a:solidFill>
            <a:srgbClr val="FFFDF8"/>
          </a:solidFill>
          <a:ln/>
        </p:spPr>
      </p:sp>
      <p:pic>
        <p:nvPicPr>
          <p:cNvPr id="16" name="Image 2" descr="A ranked shortlist of areas beside a small map with a pin">    </p:cNvPr>
          <p:cNvPicPr>
            <a:picLocks noChangeAspect="1"/>
          </p:cNvPicPr>
          <p:nvPr/>
        </p:nvPicPr>
        <p:blipFill>
          <a:blip r:embed="rId3"/>
          <a:srcRect l="0" r="0" t="0" b="0"/>
          <a:stretch/>
        </p:blipFill>
        <p:spPr>
          <a:xfrm>
            <a:off x="8229600" y="1788161"/>
            <a:ext cx="2921000" cy="1651000"/>
          </a:xfrm>
          <a:prstGeom prst="rect">
            <a:avLst/>
          </a:prstGeom>
        </p:spPr>
      </p:pic>
      <p:sp>
        <p:nvSpPr>
          <p:cNvPr id="17" name="Shape 12"/>
          <p:cNvSpPr/>
          <p:nvPr/>
        </p:nvSpPr>
        <p:spPr>
          <a:xfrm>
            <a:off x="8229600" y="3566161"/>
            <a:ext cx="330200" cy="330200"/>
          </a:xfrm>
          <a:prstGeom prst="roundRect">
            <a:avLst>
              <a:gd name="adj" fmla="val 50000"/>
            </a:avLst>
          </a:prstGeom>
          <a:solidFill>
            <a:srgbClr val="E07A3F"/>
          </a:solidFill>
          <a:ln/>
        </p:spPr>
      </p:sp>
      <p:sp>
        <p:nvSpPr>
          <p:cNvPr id="18" name="Text 13"/>
          <p:cNvSpPr/>
          <p:nvPr/>
        </p:nvSpPr>
        <p:spPr>
          <a:xfrm>
            <a:off x="8204200" y="3566161"/>
            <a:ext cx="381000" cy="355600"/>
          </a:xfrm>
          <a:prstGeom prst="rect">
            <a:avLst/>
          </a:prstGeom>
          <a:noFill/>
          <a:ln/>
        </p:spPr>
        <p:txBody>
          <a:bodyPr wrap="square" lIns="0" tIns="0" rIns="0" bIns="0" rtlCol="0" anchor="t">
            <a:normAutofit/>
          </a:bodyPr>
          <a:lstStyle/>
          <a:p>
            <a:pPr algn="ctr" indent="0" marL="0">
              <a:lnSpc>
                <a:spcPts val="2590"/>
              </a:lnSpc>
              <a:buNone/>
            </a:pPr>
            <a:r>
              <a:rPr lang="en-US" sz="1400" b="1" dirty="0">
                <a:solidFill>
                  <a:srgbClr val="FFFDF8"/>
                </a:solidFill>
                <a:latin typeface="DM Sans" pitchFamily="34" charset="0"/>
                <a:ea typeface="DM Sans" pitchFamily="34" charset="-122"/>
                <a:cs typeface="DM Sans" pitchFamily="34" charset="-120"/>
              </a:rPr>
              <a:t>3</a:t>
            </a:r>
            <a:endParaRPr lang="en-US" sz="1400" dirty="0"/>
          </a:p>
        </p:txBody>
      </p:sp>
      <p:sp>
        <p:nvSpPr>
          <p:cNvPr id="19" name="Text 14"/>
          <p:cNvSpPr/>
          <p:nvPr/>
        </p:nvSpPr>
        <p:spPr>
          <a:xfrm>
            <a:off x="8661400" y="3578861"/>
            <a:ext cx="21615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Fraunces" pitchFamily="34" charset="0"/>
                <a:ea typeface="Fraunces" pitchFamily="34" charset="-122"/>
                <a:cs typeface="Fraunces" pitchFamily="34" charset="-120"/>
              </a:rPr>
              <a:t>Get your shortlist</a:t>
            </a:r>
            <a:endParaRPr lang="en-US" sz="2000" dirty="0"/>
          </a:p>
        </p:txBody>
      </p:sp>
      <p:sp>
        <p:nvSpPr>
          <p:cNvPr id="20" name="Text 15"/>
          <p:cNvSpPr/>
          <p:nvPr/>
        </p:nvSpPr>
        <p:spPr>
          <a:xfrm>
            <a:off x="8229600" y="4023361"/>
            <a:ext cx="303479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0"/>
                </a:solidFill>
                <a:latin typeface="DM Sans" pitchFamily="34" charset="0"/>
                <a:ea typeface="DM Sans" pitchFamily="34" charset="-122"/>
                <a:cs typeface="DM Sans" pitchFamily="34" charset="-120"/>
              </a:rPr>
              <a:t>Ranked areas, a match score and the reasons</a:t>
            </a:r>
            <a:endParaRPr lang="en-US" sz="1400" dirty="0"/>
          </a:p>
        </p:txBody>
      </p:sp>
      <p:sp>
        <p:nvSpPr>
          <p:cNvPr id="21" name="Text 16"/>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Eight things students rate</a:t>
            </a:r>
            <a:endParaRPr lang="en-US" sz="3200" dirty="0"/>
          </a:p>
        </p:txBody>
      </p:sp>
      <p:pic>
        <p:nvPicPr>
          <p:cNvPr id="3" name="Image 0" descr="Accommodation">    </p:cNvPr>
          <p:cNvPicPr>
            <a:picLocks noChangeAspect="1"/>
          </p:cNvPicPr>
          <p:nvPr/>
        </p:nvPicPr>
        <p:blipFill>
          <a:blip r:embed="rId1"/>
          <a:srcRect l="0" r="0" t="0" b="0"/>
          <a:stretch/>
        </p:blipFill>
        <p:spPr>
          <a:xfrm>
            <a:off x="1593850" y="1635761"/>
            <a:ext cx="1079500" cy="1079500"/>
          </a:xfrm>
          <a:prstGeom prst="rect">
            <a:avLst/>
          </a:prstGeom>
        </p:spPr>
      </p:pic>
      <p:sp>
        <p:nvSpPr>
          <p:cNvPr id="4" name="Text 1"/>
          <p:cNvSpPr/>
          <p:nvPr/>
        </p:nvSpPr>
        <p:spPr>
          <a:xfrm>
            <a:off x="1365409" y="2842261"/>
            <a:ext cx="153638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Accommodation</a:t>
            </a:r>
            <a:endParaRPr lang="en-US" sz="1500" dirty="0"/>
          </a:p>
        </p:txBody>
      </p:sp>
      <p:pic>
        <p:nvPicPr>
          <p:cNvPr id="5" name="Image 1" descr="Commute time">    </p:cNvPr>
          <p:cNvPicPr>
            <a:picLocks noChangeAspect="1"/>
          </p:cNvPicPr>
          <p:nvPr/>
        </p:nvPicPr>
        <p:blipFill>
          <a:blip r:embed="rId2"/>
          <a:srcRect l="0" r="0" t="0" b="0"/>
          <a:stretch/>
        </p:blipFill>
        <p:spPr>
          <a:xfrm>
            <a:off x="4235450" y="1635761"/>
            <a:ext cx="1079500" cy="1079500"/>
          </a:xfrm>
          <a:prstGeom prst="rect">
            <a:avLst/>
          </a:prstGeom>
        </p:spPr>
      </p:pic>
      <p:sp>
        <p:nvSpPr>
          <p:cNvPr id="6" name="Text 2"/>
          <p:cNvSpPr/>
          <p:nvPr/>
        </p:nvSpPr>
        <p:spPr>
          <a:xfrm>
            <a:off x="4080669" y="2842261"/>
            <a:ext cx="138906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Commute time</a:t>
            </a:r>
            <a:endParaRPr lang="en-US" sz="1500" dirty="0"/>
          </a:p>
        </p:txBody>
      </p:sp>
      <p:pic>
        <p:nvPicPr>
          <p:cNvPr id="7" name="Image 2" descr="Groceries">    </p:cNvPr>
          <p:cNvPicPr>
            <a:picLocks noChangeAspect="1"/>
          </p:cNvPicPr>
          <p:nvPr/>
        </p:nvPicPr>
        <p:blipFill>
          <a:blip r:embed="rId3"/>
          <a:srcRect l="0" r="0" t="0" b="0"/>
          <a:stretch/>
        </p:blipFill>
        <p:spPr>
          <a:xfrm>
            <a:off x="6877050" y="1635761"/>
            <a:ext cx="1079500" cy="1079500"/>
          </a:xfrm>
          <a:prstGeom prst="rect">
            <a:avLst/>
          </a:prstGeom>
        </p:spPr>
      </p:pic>
      <p:sp>
        <p:nvSpPr>
          <p:cNvPr id="8" name="Text 3"/>
          <p:cNvSpPr/>
          <p:nvPr/>
        </p:nvSpPr>
        <p:spPr>
          <a:xfrm>
            <a:off x="6956822" y="2842261"/>
            <a:ext cx="9198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Groceries</a:t>
            </a:r>
            <a:endParaRPr lang="en-US" sz="1500" dirty="0"/>
          </a:p>
        </p:txBody>
      </p:sp>
      <p:pic>
        <p:nvPicPr>
          <p:cNvPr id="9" name="Image 3" descr="International food">    </p:cNvPr>
          <p:cNvPicPr>
            <a:picLocks noChangeAspect="1"/>
          </p:cNvPicPr>
          <p:nvPr/>
        </p:nvPicPr>
        <p:blipFill>
          <a:blip r:embed="rId4"/>
          <a:srcRect l="0" r="0" t="0" b="0"/>
          <a:stretch/>
        </p:blipFill>
        <p:spPr>
          <a:xfrm>
            <a:off x="9518650" y="1635761"/>
            <a:ext cx="1079500" cy="1079500"/>
          </a:xfrm>
          <a:prstGeom prst="rect">
            <a:avLst/>
          </a:prstGeom>
        </p:spPr>
      </p:pic>
      <p:sp>
        <p:nvSpPr>
          <p:cNvPr id="10" name="Text 4"/>
          <p:cNvSpPr/>
          <p:nvPr/>
        </p:nvSpPr>
        <p:spPr>
          <a:xfrm>
            <a:off x="9248219" y="2842261"/>
            <a:ext cx="162036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International food</a:t>
            </a:r>
            <a:endParaRPr lang="en-US" sz="1500" dirty="0"/>
          </a:p>
        </p:txBody>
      </p:sp>
      <p:pic>
        <p:nvPicPr>
          <p:cNvPr id="11" name="Image 4" descr="Gyms">    </p:cNvPr>
          <p:cNvPicPr>
            <a:picLocks noChangeAspect="1"/>
          </p:cNvPicPr>
          <p:nvPr/>
        </p:nvPicPr>
        <p:blipFill>
          <a:blip r:embed="rId5"/>
          <a:srcRect l="0" r="0" t="0" b="0"/>
          <a:stretch/>
        </p:blipFill>
        <p:spPr>
          <a:xfrm>
            <a:off x="1593850" y="3108961"/>
            <a:ext cx="1079500" cy="1079500"/>
          </a:xfrm>
          <a:prstGeom prst="rect">
            <a:avLst/>
          </a:prstGeom>
        </p:spPr>
      </p:pic>
      <p:sp>
        <p:nvSpPr>
          <p:cNvPr id="12" name="Text 5"/>
          <p:cNvSpPr/>
          <p:nvPr/>
        </p:nvSpPr>
        <p:spPr>
          <a:xfrm>
            <a:off x="1845945" y="4315461"/>
            <a:ext cx="57531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Gyms</a:t>
            </a:r>
            <a:endParaRPr lang="en-US" sz="1500" dirty="0"/>
          </a:p>
        </p:txBody>
      </p:sp>
      <p:pic>
        <p:nvPicPr>
          <p:cNvPr id="13" name="Image 5" descr="Parks">    </p:cNvPr>
          <p:cNvPicPr>
            <a:picLocks noChangeAspect="1"/>
          </p:cNvPicPr>
          <p:nvPr/>
        </p:nvPicPr>
        <p:blipFill>
          <a:blip r:embed="rId6"/>
          <a:srcRect l="0" r="0" t="0" b="0"/>
          <a:stretch/>
        </p:blipFill>
        <p:spPr>
          <a:xfrm>
            <a:off x="4235450" y="3108961"/>
            <a:ext cx="1079500" cy="1079500"/>
          </a:xfrm>
          <a:prstGeom prst="rect">
            <a:avLst/>
          </a:prstGeom>
        </p:spPr>
      </p:pic>
      <p:sp>
        <p:nvSpPr>
          <p:cNvPr id="14" name="Text 6"/>
          <p:cNvSpPr/>
          <p:nvPr/>
        </p:nvSpPr>
        <p:spPr>
          <a:xfrm>
            <a:off x="4511199" y="4315461"/>
            <a:ext cx="5279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Parks</a:t>
            </a:r>
            <a:endParaRPr lang="en-US" sz="1500" dirty="0"/>
          </a:p>
        </p:txBody>
      </p:sp>
      <p:pic>
        <p:nvPicPr>
          <p:cNvPr id="15" name="Image 6" descr="Public transport">    </p:cNvPr>
          <p:cNvPicPr>
            <a:picLocks noChangeAspect="1"/>
          </p:cNvPicPr>
          <p:nvPr/>
        </p:nvPicPr>
        <p:blipFill>
          <a:blip r:embed="rId7"/>
          <a:srcRect l="0" r="0" t="0" b="0"/>
          <a:stretch/>
        </p:blipFill>
        <p:spPr>
          <a:xfrm>
            <a:off x="6877050" y="3108961"/>
            <a:ext cx="1079500" cy="1079500"/>
          </a:xfrm>
          <a:prstGeom prst="rect">
            <a:avLst/>
          </a:prstGeom>
        </p:spPr>
      </p:pic>
      <p:sp>
        <p:nvSpPr>
          <p:cNvPr id="16" name="Text 7"/>
          <p:cNvSpPr/>
          <p:nvPr/>
        </p:nvSpPr>
        <p:spPr>
          <a:xfrm>
            <a:off x="6679406" y="4315461"/>
            <a:ext cx="147478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Public transport</a:t>
            </a:r>
            <a:endParaRPr lang="en-US" sz="1500" dirty="0"/>
          </a:p>
        </p:txBody>
      </p:sp>
      <p:pic>
        <p:nvPicPr>
          <p:cNvPr id="17" name="Image 7" descr="Healthcare">    </p:cNvPr>
          <p:cNvPicPr>
            <a:picLocks noChangeAspect="1"/>
          </p:cNvPicPr>
          <p:nvPr/>
        </p:nvPicPr>
        <p:blipFill>
          <a:blip r:embed="rId8"/>
          <a:srcRect l="0" r="0" t="0" b="0"/>
          <a:stretch/>
        </p:blipFill>
        <p:spPr>
          <a:xfrm>
            <a:off x="9518650" y="3108961"/>
            <a:ext cx="1079500" cy="1079500"/>
          </a:xfrm>
          <a:prstGeom prst="rect">
            <a:avLst/>
          </a:prstGeom>
        </p:spPr>
      </p:pic>
      <p:sp>
        <p:nvSpPr>
          <p:cNvPr id="18" name="Text 8"/>
          <p:cNvSpPr/>
          <p:nvPr/>
        </p:nvSpPr>
        <p:spPr>
          <a:xfrm>
            <a:off x="9547781" y="4315461"/>
            <a:ext cx="102123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Healthcare</a:t>
            </a:r>
            <a:endParaRPr lang="en-US" sz="1500" dirty="0"/>
          </a:p>
        </p:txBody>
      </p:sp>
      <p:sp>
        <p:nvSpPr>
          <p:cNvPr id="19" name="Text 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03D"/>
        </a:solidFill>
      </p:bgPr>
    </p:bg>
    <p:spTree>
      <p:nvGrpSpPr>
        <p:cNvPr id="1" name=""/>
        <p:cNvGrpSpPr/>
        <p:nvPr/>
      </p:nvGrpSpPr>
      <p:grpSpPr>
        <a:xfrm>
          <a:off x="0" y="0"/>
          <a:ext cx="0" cy="0"/>
          <a:chOff x="0" y="0"/>
          <a:chExt cx="0" cy="0"/>
        </a:xfrm>
      </p:grpSpPr>
      <p:pic>
        <p:nvPicPr>
          <p:cNvPr id="2" name="Image 0" descr="Stylised map of Dublin districts with Dublin 7 highlighted">    </p:cNvPr>
          <p:cNvPicPr>
            <a:picLocks noChangeAspect="1"/>
          </p:cNvPicPr>
          <p:nvPr/>
        </p:nvPicPr>
        <p:blipFill>
          <a:blip r:embed="rId1"/>
          <a:srcRect l="0" r="0" t="0" b="0"/>
          <a:stretch/>
        </p:blipFill>
        <p:spPr>
          <a:xfrm>
            <a:off x="5918200" y="1270000"/>
            <a:ext cx="5461000" cy="4064000"/>
          </a:xfrm>
          <a:prstGeom prst="rect">
            <a:avLst/>
          </a:prstGeom>
        </p:spPr>
      </p:pic>
      <p:sp>
        <p:nvSpPr>
          <p:cNvPr id="3" name="Shape 0"/>
          <p:cNvSpPr/>
          <p:nvPr/>
        </p:nvSpPr>
        <p:spPr>
          <a:xfrm>
            <a:off x="8197850" y="2686050"/>
            <a:ext cx="1397000" cy="403860"/>
          </a:xfrm>
          <a:prstGeom prst="roundRect">
            <a:avLst>
              <a:gd name="adj" fmla="val 22013"/>
            </a:avLst>
          </a:prstGeom>
          <a:solidFill>
            <a:srgbClr val="F2C14E"/>
          </a:solidFill>
          <a:ln/>
        </p:spPr>
      </p:sp>
      <p:sp>
        <p:nvSpPr>
          <p:cNvPr id="4" name="Text 1"/>
          <p:cNvSpPr/>
          <p:nvPr/>
        </p:nvSpPr>
        <p:spPr>
          <a:xfrm>
            <a:off x="8286750" y="2736850"/>
            <a:ext cx="1219200" cy="32766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2303D"/>
                </a:solidFill>
                <a:latin typeface="DM Sans" pitchFamily="34" charset="0"/>
                <a:ea typeface="DM Sans" pitchFamily="34" charset="-122"/>
                <a:cs typeface="DM Sans" pitchFamily="34" charset="-120"/>
              </a:rPr>
              <a:t>Dublin 7</a:t>
            </a:r>
            <a:endParaRPr lang="en-US" sz="1700" dirty="0"/>
          </a:p>
        </p:txBody>
      </p:sp>
      <p:sp>
        <p:nvSpPr>
          <p:cNvPr id="5" name="Text 2"/>
          <p:cNvSpPr/>
          <p:nvPr/>
        </p:nvSpPr>
        <p:spPr>
          <a:xfrm>
            <a:off x="812800" y="812800"/>
            <a:ext cx="497078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5F1E8"/>
                </a:solidFill>
                <a:latin typeface="Fraunces" pitchFamily="34" charset="0"/>
                <a:ea typeface="Fraunces" pitchFamily="34" charset="-122"/>
                <a:cs typeface="Fraunces" pitchFamily="34" charset="-120"/>
              </a:rPr>
              <a:t>One student, one match</a:t>
            </a:r>
            <a:endParaRPr lang="en-US" sz="3200" dirty="0"/>
          </a:p>
        </p:txBody>
      </p:sp>
      <p:sp>
        <p:nvSpPr>
          <p:cNvPr id="6" name="Shape 3"/>
          <p:cNvSpPr/>
          <p:nvPr/>
        </p:nvSpPr>
        <p:spPr>
          <a:xfrm>
            <a:off x="812800" y="1534161"/>
            <a:ext cx="4572000" cy="3175000"/>
          </a:xfrm>
          <a:prstGeom prst="roundRect">
            <a:avLst>
              <a:gd name="adj" fmla="val 5600"/>
            </a:avLst>
          </a:prstGeom>
          <a:solidFill>
            <a:srgbClr val="1B4150"/>
          </a:solidFill>
          <a:ln/>
        </p:spPr>
      </p:sp>
      <p:pic>
        <p:nvPicPr>
          <p:cNvPr id="7" name="Image 1" descr="Portrait of an example student">    </p:cNvPr>
          <p:cNvPicPr>
            <a:picLocks noChangeAspect="1"/>
          </p:cNvPicPr>
          <p:nvPr/>
        </p:nvPicPr>
        <p:blipFill>
          <a:blip r:embed="rId2"/>
          <a:srcRect l="0" r="0" t="0" b="0"/>
          <a:stretch/>
        </p:blipFill>
        <p:spPr>
          <a:xfrm>
            <a:off x="1066800" y="1788161"/>
            <a:ext cx="889000" cy="889000"/>
          </a:xfrm>
          <a:prstGeom prst="rect">
            <a:avLst/>
          </a:prstGeom>
        </p:spPr>
      </p:pic>
      <p:sp>
        <p:nvSpPr>
          <p:cNvPr id="8" name="Text 4"/>
          <p:cNvSpPr/>
          <p:nvPr/>
        </p:nvSpPr>
        <p:spPr>
          <a:xfrm>
            <a:off x="2133600" y="1948182"/>
            <a:ext cx="268765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C14E"/>
                </a:solidFill>
                <a:latin typeface="Fraunces" pitchFamily="34" charset="0"/>
                <a:ea typeface="Fraunces" pitchFamily="34" charset="-122"/>
                <a:cs typeface="Fraunces" pitchFamily="34" charset="-120"/>
              </a:rPr>
              <a:t>€900</a:t>
            </a:r>
            <a:r>
              <a:rPr lang="en-US" sz="3200" b="1" dirty="0">
                <a:solidFill>
                  <a:srgbClr val="F5F1E8"/>
                </a:solidFill>
                <a:latin typeface="Fraunces" pitchFamily="34" charset="0"/>
                <a:ea typeface="Fraunces" pitchFamily="34" charset="-122"/>
                <a:cs typeface="Fraunces" pitchFamily="34" charset="-120"/>
              </a:rPr>
              <a:t> / month</a:t>
            </a:r>
            <a:endParaRPr lang="en-US" sz="3200" dirty="0"/>
          </a:p>
        </p:txBody>
      </p:sp>
      <p:pic>
        <p:nvPicPr>
          <p:cNvPr id="9" name="Image 2" descr="Home">    </p:cNvPr>
          <p:cNvPicPr>
            <a:picLocks noChangeAspect="1"/>
          </p:cNvPicPr>
          <p:nvPr/>
        </p:nvPicPr>
        <p:blipFill>
          <a:blip r:embed="rId3"/>
          <a:srcRect l="0" r="0" t="0" b="0"/>
          <a:stretch/>
        </p:blipFill>
        <p:spPr>
          <a:xfrm>
            <a:off x="1066800" y="2874011"/>
            <a:ext cx="228600" cy="228600"/>
          </a:xfrm>
          <a:prstGeom prst="rect">
            <a:avLst/>
          </a:prstGeom>
        </p:spPr>
      </p:pic>
      <p:sp>
        <p:nvSpPr>
          <p:cNvPr id="10" name="Text 5"/>
          <p:cNvSpPr/>
          <p:nvPr/>
        </p:nvSpPr>
        <p:spPr>
          <a:xfrm>
            <a:off x="1409700" y="2854961"/>
            <a:ext cx="208380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1E8"/>
                </a:solidFill>
                <a:latin typeface="DM Sans" pitchFamily="34" charset="0"/>
                <a:ea typeface="DM Sans" pitchFamily="34" charset="-122"/>
                <a:cs typeface="DM Sans" pitchFamily="34" charset="-120"/>
              </a:rPr>
              <a:t>Own room — no sharing</a:t>
            </a:r>
            <a:endParaRPr lang="en-US" sz="1500" dirty="0"/>
          </a:p>
        </p:txBody>
      </p:sp>
      <p:pic>
        <p:nvPicPr>
          <p:cNvPr id="11" name="Image 3" descr="Star">    </p:cNvPr>
          <p:cNvPicPr>
            <a:picLocks noChangeAspect="1"/>
          </p:cNvPicPr>
          <p:nvPr/>
        </p:nvPicPr>
        <p:blipFill>
          <a:blip r:embed="rId4"/>
          <a:srcRect l="0" r="0" t="0" b="0"/>
          <a:stretch/>
        </p:blipFill>
        <p:spPr>
          <a:xfrm>
            <a:off x="1066800" y="3318511"/>
            <a:ext cx="228600" cy="228600"/>
          </a:xfrm>
          <a:prstGeom prst="rect">
            <a:avLst/>
          </a:prstGeom>
        </p:spPr>
      </p:pic>
      <p:sp>
        <p:nvSpPr>
          <p:cNvPr id="12" name="Text 6"/>
          <p:cNvSpPr/>
          <p:nvPr/>
        </p:nvSpPr>
        <p:spPr>
          <a:xfrm>
            <a:off x="1409700" y="3299461"/>
            <a:ext cx="203793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1E8"/>
                </a:solidFill>
                <a:latin typeface="DM Sans" pitchFamily="34" charset="0"/>
                <a:ea typeface="DM Sans" pitchFamily="34" charset="-122"/>
                <a:cs typeface="DM Sans" pitchFamily="34" charset="-120"/>
              </a:rPr>
              <a:t>Loves South Asian food</a:t>
            </a:r>
            <a:endParaRPr lang="en-US" sz="1500" dirty="0"/>
          </a:p>
        </p:txBody>
      </p:sp>
      <p:pic>
        <p:nvPicPr>
          <p:cNvPr id="13" name="Image 4" descr="Globe">    </p:cNvPr>
          <p:cNvPicPr>
            <a:picLocks noChangeAspect="1"/>
          </p:cNvPicPr>
          <p:nvPr/>
        </p:nvPicPr>
        <p:blipFill>
          <a:blip r:embed="rId5"/>
          <a:srcRect l="0" r="0" t="0" b="0"/>
          <a:stretch/>
        </p:blipFill>
        <p:spPr>
          <a:xfrm>
            <a:off x="1066800" y="3763011"/>
            <a:ext cx="228600" cy="228600"/>
          </a:xfrm>
          <a:prstGeom prst="rect">
            <a:avLst/>
          </a:prstGeom>
        </p:spPr>
      </p:pic>
      <p:sp>
        <p:nvSpPr>
          <p:cNvPr id="14" name="Text 7"/>
          <p:cNvSpPr/>
          <p:nvPr/>
        </p:nvSpPr>
        <p:spPr>
          <a:xfrm>
            <a:off x="1409700" y="3743961"/>
            <a:ext cx="18715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1E8"/>
                </a:solidFill>
                <a:latin typeface="DM Sans" pitchFamily="34" charset="0"/>
                <a:ea typeface="DM Sans" pitchFamily="34" charset="-122"/>
                <a:cs typeface="DM Sans" pitchFamily="34" charset="-120"/>
              </a:rPr>
              <a:t>Uses public transport</a:t>
            </a:r>
            <a:endParaRPr lang="en-US" sz="1500" dirty="0"/>
          </a:p>
        </p:txBody>
      </p:sp>
      <p:pic>
        <p:nvPicPr>
          <p:cNvPr id="15" name="Image 5" descr="Check">    </p:cNvPr>
          <p:cNvPicPr>
            <a:picLocks noChangeAspect="1"/>
          </p:cNvPicPr>
          <p:nvPr/>
        </p:nvPicPr>
        <p:blipFill>
          <a:blip r:embed="rId6"/>
          <a:srcRect l="0" r="0" t="0" b="0"/>
          <a:stretch/>
        </p:blipFill>
        <p:spPr>
          <a:xfrm>
            <a:off x="1066800" y="4207511"/>
            <a:ext cx="228600" cy="228600"/>
          </a:xfrm>
          <a:prstGeom prst="rect">
            <a:avLst/>
          </a:prstGeom>
        </p:spPr>
      </p:pic>
      <p:sp>
        <p:nvSpPr>
          <p:cNvPr id="16" name="Text 8"/>
          <p:cNvSpPr/>
          <p:nvPr/>
        </p:nvSpPr>
        <p:spPr>
          <a:xfrm>
            <a:off x="1409700" y="4188461"/>
            <a:ext cx="173275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1E8"/>
                </a:solidFill>
                <a:latin typeface="DM Sans" pitchFamily="34" charset="0"/>
                <a:ea typeface="DM Sans" pitchFamily="34" charset="-122"/>
                <a:cs typeface="DM Sans" pitchFamily="34" charset="-120"/>
              </a:rPr>
              <a:t>Wants parks nearby</a:t>
            </a:r>
            <a:endParaRPr lang="en-US" sz="1500" dirty="0"/>
          </a:p>
        </p:txBody>
      </p:sp>
      <p:sp>
        <p:nvSpPr>
          <p:cNvPr id="17" name="Text 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4BA"/>
                </a:solidFill>
                <a:latin typeface="DM Sans" pitchFamily="34" charset="0"/>
                <a:ea typeface="DM Sans" pitchFamily="34" charset="-122"/>
                <a:cs typeface="DM Sans" pitchFamily="34" charset="-120"/>
              </a:rPr>
              <a:t>The Crib Crew · Find your Dublin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EEA"/>
        </a:solidFill>
      </p:bgPr>
    </p:bg>
    <p:spTree>
      <p:nvGrpSpPr>
        <p:cNvPr id="1" name=""/>
        <p:cNvGrpSpPr/>
        <p:nvPr/>
      </p:nvGrpSpPr>
      <p:grpSpPr>
        <a:xfrm>
          <a:off x="0" y="0"/>
          <a:ext cx="0" cy="0"/>
          <a:chOff x="0" y="0"/>
          <a:chExt cx="0" cy="0"/>
        </a:xfrm>
      </p:grpSpPr>
      <p:sp>
        <p:nvSpPr>
          <p:cNvPr id="2" name="Text 0"/>
          <p:cNvSpPr/>
          <p:nvPr/>
        </p:nvSpPr>
        <p:spPr>
          <a:xfrm>
            <a:off x="812800" y="2195832"/>
            <a:ext cx="591261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07A3F"/>
                </a:solidFill>
                <a:latin typeface="DM Sans" pitchFamily="34" charset="0"/>
                <a:ea typeface="DM Sans" pitchFamily="34" charset="-122"/>
                <a:cs typeface="DM Sans" pitchFamily="34" charset="-120"/>
              </a:rPr>
              <a:t>OUR FOCUS</a:t>
            </a:r>
            <a:endParaRPr lang="en-US" sz="1300" dirty="0"/>
          </a:p>
        </p:txBody>
      </p:sp>
      <p:sp>
        <p:nvSpPr>
          <p:cNvPr id="3" name="Text 1"/>
          <p:cNvSpPr/>
          <p:nvPr/>
        </p:nvSpPr>
        <p:spPr>
          <a:xfrm>
            <a:off x="812800" y="2655571"/>
            <a:ext cx="591261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303D"/>
                </a:solidFill>
                <a:latin typeface="Fraunces" pitchFamily="34" charset="0"/>
                <a:ea typeface="Fraunces" pitchFamily="34" charset="-122"/>
                <a:cs typeface="Fraunces" pitchFamily="34" charset="-120"/>
              </a:rPr>
              <a:t>A ranking without a reason isn’t actionable</a:t>
            </a:r>
            <a:endParaRPr lang="en-US" sz="3600" dirty="0"/>
          </a:p>
        </p:txBody>
      </p:sp>
      <p:sp>
        <p:nvSpPr>
          <p:cNvPr id="4" name="Text 2"/>
          <p:cNvSpPr/>
          <p:nvPr/>
        </p:nvSpPr>
        <p:spPr>
          <a:xfrm>
            <a:off x="812800" y="3890011"/>
            <a:ext cx="591261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A60"/>
                </a:solidFill>
                <a:latin typeface="DM Sans" pitchFamily="34" charset="0"/>
                <a:ea typeface="DM Sans" pitchFamily="34" charset="-122"/>
                <a:cs typeface="DM Sans" pitchFamily="34" charset="-120"/>
              </a:rPr>
              <a:t>Dublin 7 didn’t score badly — it came third. The student sees exactly why.</a:t>
            </a:r>
            <a:endParaRPr lang="en-US" sz="1600" dirty="0"/>
          </a:p>
        </p:txBody>
      </p:sp>
      <p:sp>
        <p:nvSpPr>
          <p:cNvPr id="5" name="Shape 3"/>
          <p:cNvSpPr/>
          <p:nvPr/>
        </p:nvSpPr>
        <p:spPr>
          <a:xfrm>
            <a:off x="7061200" y="1295400"/>
            <a:ext cx="4318000" cy="4064000"/>
          </a:xfrm>
          <a:prstGeom prst="roundRect">
            <a:avLst>
              <a:gd name="adj" fmla="val 5000"/>
            </a:avLst>
          </a:prstGeom>
          <a:solidFill>
            <a:srgbClr val="FFFDF8"/>
          </a:solidFill>
          <a:ln/>
          <a:effectLst>
            <a:outerShdw sx="100000" sy="100000" kx="0" ky="0" algn="bl" rotWithShape="0" blurRad="317500" dist="127000" dir="5400000">
              <a:srgbClr val="12303D">
                <a:alpha val="15000"/>
              </a:srgbClr>
            </a:outerShdw>
          </a:effectLst>
        </p:spPr>
      </p:sp>
      <p:pic>
        <p:nvPicPr>
          <p:cNvPr id="6" name="Image 0" descr="Mini map with Dublin 7 highlighted">    </p:cNvPr>
          <p:cNvPicPr>
            <a:picLocks noChangeAspect="1"/>
          </p:cNvPicPr>
          <p:nvPr/>
        </p:nvPicPr>
        <p:blipFill>
          <a:blip r:embed="rId1"/>
          <a:stretch>
            <a:fillRect/>
          </a:stretch>
        </p:blipFill>
        <p:spPr>
          <a:xfrm>
            <a:off x="7443758" y="1524000"/>
            <a:ext cx="3552883" cy="1905000"/>
          </a:xfrm>
          <a:prstGeom prst="rect">
            <a:avLst/>
          </a:prstGeom>
        </p:spPr>
      </p:pic>
      <p:sp>
        <p:nvSpPr>
          <p:cNvPr id="7" name="Text 4"/>
          <p:cNvSpPr/>
          <p:nvPr/>
        </p:nvSpPr>
        <p:spPr>
          <a:xfrm>
            <a:off x="7289800" y="3614421"/>
            <a:ext cx="115387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303D"/>
                </a:solidFill>
                <a:latin typeface="Fraunces" pitchFamily="34" charset="0"/>
                <a:ea typeface="Fraunces" pitchFamily="34" charset="-122"/>
                <a:cs typeface="Fraunces" pitchFamily="34" charset="-120"/>
              </a:rPr>
              <a:t>Dublin 7</a:t>
            </a:r>
            <a:endParaRPr lang="en-US" sz="2200" dirty="0"/>
          </a:p>
        </p:txBody>
      </p:sp>
      <p:sp>
        <p:nvSpPr>
          <p:cNvPr id="8" name="Shape 5"/>
          <p:cNvSpPr/>
          <p:nvPr/>
        </p:nvSpPr>
        <p:spPr>
          <a:xfrm>
            <a:off x="10048002" y="3606800"/>
            <a:ext cx="1102598" cy="350520"/>
          </a:xfrm>
          <a:prstGeom prst="roundRect">
            <a:avLst>
              <a:gd name="adj" fmla="val 50000"/>
            </a:avLst>
          </a:prstGeom>
          <a:solidFill>
            <a:srgbClr val="DCB7A0"/>
          </a:solidFill>
          <a:ln/>
        </p:spPr>
      </p:sp>
      <p:sp>
        <p:nvSpPr>
          <p:cNvPr id="9" name="Text 6"/>
          <p:cNvSpPr/>
          <p:nvPr/>
        </p:nvSpPr>
        <p:spPr>
          <a:xfrm>
            <a:off x="10175002" y="3657600"/>
            <a:ext cx="89939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#3 match</a:t>
            </a:r>
            <a:endParaRPr lang="en-US" sz="1400" dirty="0"/>
          </a:p>
        </p:txBody>
      </p:sp>
      <p:sp>
        <p:nvSpPr>
          <p:cNvPr id="10" name="Shape 7"/>
          <p:cNvSpPr/>
          <p:nvPr/>
        </p:nvSpPr>
        <p:spPr>
          <a:xfrm>
            <a:off x="7289800" y="4575811"/>
            <a:ext cx="3860800" cy="0"/>
          </a:xfrm>
          <a:prstGeom prst="line">
            <a:avLst/>
          </a:prstGeom>
          <a:noFill/>
          <a:ln w="12700">
            <a:solidFill>
              <a:srgbClr val="E6E1D6"/>
            </a:solidFill>
            <a:prstDash val="solid"/>
          </a:ln>
        </p:spPr>
      </p:sp>
      <p:pic>
        <p:nvPicPr>
          <p:cNvPr id="11" name="Image 1" descr="Clock">    </p:cNvPr>
          <p:cNvPicPr>
            <a:picLocks noChangeAspect="1"/>
          </p:cNvPicPr>
          <p:nvPr/>
        </p:nvPicPr>
        <p:blipFill>
          <a:blip r:embed="rId2"/>
          <a:srcRect l="0" r="0" t="0" b="0"/>
          <a:stretch/>
        </p:blipFill>
        <p:spPr>
          <a:xfrm>
            <a:off x="7289800" y="4163061"/>
            <a:ext cx="279400" cy="279400"/>
          </a:xfrm>
          <a:prstGeom prst="rect">
            <a:avLst/>
          </a:prstGeom>
        </p:spPr>
      </p:pic>
      <p:sp>
        <p:nvSpPr>
          <p:cNvPr id="12" name="Text 8"/>
          <p:cNvSpPr/>
          <p:nvPr/>
        </p:nvSpPr>
        <p:spPr>
          <a:xfrm>
            <a:off x="7696200" y="4160521"/>
            <a:ext cx="242194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303D"/>
                </a:solidFill>
                <a:latin typeface="DM Sans" pitchFamily="34" charset="0"/>
                <a:ea typeface="DM Sans" pitchFamily="34" charset="-122"/>
                <a:cs typeface="DM Sans" pitchFamily="34" charset="-120"/>
              </a:rPr>
              <a:t>18-minute walk to campus</a:t>
            </a:r>
            <a:endParaRPr lang="en-US" sz="1600" dirty="0"/>
          </a:p>
        </p:txBody>
      </p:sp>
      <p:sp>
        <p:nvSpPr>
          <p:cNvPr id="13" name="Shape 9"/>
          <p:cNvSpPr/>
          <p:nvPr/>
        </p:nvSpPr>
        <p:spPr>
          <a:xfrm>
            <a:off x="7289800" y="5124451"/>
            <a:ext cx="3860800" cy="0"/>
          </a:xfrm>
          <a:prstGeom prst="line">
            <a:avLst/>
          </a:prstGeom>
          <a:noFill/>
          <a:ln w="12700">
            <a:solidFill>
              <a:srgbClr val="E6E1D6"/>
            </a:solidFill>
            <a:prstDash val="solid"/>
          </a:ln>
        </p:spPr>
      </p:sp>
      <p:pic>
        <p:nvPicPr>
          <p:cNvPr id="14" name="Image 2" descr="Check">    </p:cNvPr>
          <p:cNvPicPr>
            <a:picLocks noChangeAspect="1"/>
          </p:cNvPicPr>
          <p:nvPr/>
        </p:nvPicPr>
        <p:blipFill>
          <a:blip r:embed="rId3"/>
          <a:srcRect l="0" r="0" t="0" b="0"/>
          <a:stretch/>
        </p:blipFill>
        <p:spPr>
          <a:xfrm>
            <a:off x="7289800" y="4711700"/>
            <a:ext cx="279400" cy="279400"/>
          </a:xfrm>
          <a:prstGeom prst="rect">
            <a:avLst/>
          </a:prstGeom>
        </p:spPr>
      </p:pic>
      <p:sp>
        <p:nvSpPr>
          <p:cNvPr id="15" name="Text 10"/>
          <p:cNvSpPr/>
          <p:nvPr/>
        </p:nvSpPr>
        <p:spPr>
          <a:xfrm>
            <a:off x="7696200" y="4709161"/>
            <a:ext cx="275355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303D"/>
                </a:solidFill>
                <a:latin typeface="DM Sans" pitchFamily="34" charset="0"/>
                <a:ea typeface="DM Sans" pitchFamily="34" charset="-122"/>
                <a:cs typeface="DM Sans" pitchFamily="34" charset="-120"/>
              </a:rPr>
              <a:t>14 supermarkets in the district</a:t>
            </a:r>
            <a:endParaRPr lang="en-US" sz="1600" dirty="0"/>
          </a:p>
        </p:txBody>
      </p:sp>
      <p:sp>
        <p:nvSpPr>
          <p:cNvPr id="16"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The minimum viable product</a:t>
            </a:r>
            <a:endParaRPr lang="en-US" sz="3200" dirty="0"/>
          </a:p>
        </p:txBody>
      </p:sp>
      <p:sp>
        <p:nvSpPr>
          <p:cNvPr id="3" name="Shape 1"/>
          <p:cNvSpPr/>
          <p:nvPr/>
        </p:nvSpPr>
        <p:spPr>
          <a:xfrm>
            <a:off x="812800" y="1559561"/>
            <a:ext cx="2489200" cy="2616200"/>
          </a:xfrm>
          <a:prstGeom prst="roundRect">
            <a:avLst>
              <a:gd name="adj" fmla="val 7143"/>
            </a:avLst>
          </a:prstGeom>
          <a:solidFill>
            <a:srgbClr val="FFFDF8"/>
          </a:solidFill>
          <a:ln/>
        </p:spPr>
      </p:sp>
      <p:pic>
        <p:nvPicPr>
          <p:cNvPr id="4" name="Image 0" descr="University building">    </p:cNvPr>
          <p:cNvPicPr>
            <a:picLocks noChangeAspect="1"/>
          </p:cNvPicPr>
          <p:nvPr/>
        </p:nvPicPr>
        <p:blipFill>
          <a:blip r:embed="rId1"/>
          <a:srcRect l="0" r="0" t="0" b="0"/>
          <a:stretch/>
        </p:blipFill>
        <p:spPr>
          <a:xfrm>
            <a:off x="1339850" y="1788161"/>
            <a:ext cx="1397000" cy="1079500"/>
          </a:xfrm>
          <a:prstGeom prst="rect">
            <a:avLst/>
          </a:prstGeom>
        </p:spPr>
      </p:pic>
      <p:sp>
        <p:nvSpPr>
          <p:cNvPr id="5" name="Text 2"/>
          <p:cNvSpPr/>
          <p:nvPr/>
        </p:nvSpPr>
        <p:spPr>
          <a:xfrm>
            <a:off x="1941989" y="2969261"/>
            <a:ext cx="28154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7A3F"/>
                </a:solidFill>
                <a:latin typeface="Fraunces" pitchFamily="34" charset="0"/>
                <a:ea typeface="Fraunces" pitchFamily="34" charset="-122"/>
                <a:cs typeface="Fraunces" pitchFamily="34" charset="-120"/>
              </a:rPr>
              <a:t>1</a:t>
            </a:r>
            <a:endParaRPr lang="en-US" sz="4800" dirty="0"/>
          </a:p>
        </p:txBody>
      </p:sp>
      <p:sp>
        <p:nvSpPr>
          <p:cNvPr id="6" name="Text 3"/>
          <p:cNvSpPr/>
          <p:nvPr/>
        </p:nvSpPr>
        <p:spPr>
          <a:xfrm>
            <a:off x="1593453" y="3680461"/>
            <a:ext cx="927814"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university</a:t>
            </a:r>
            <a:endParaRPr lang="en-US" sz="1500" dirty="0"/>
          </a:p>
        </p:txBody>
      </p:sp>
      <p:sp>
        <p:nvSpPr>
          <p:cNvPr id="7" name="Shape 4"/>
          <p:cNvSpPr/>
          <p:nvPr/>
        </p:nvSpPr>
        <p:spPr>
          <a:xfrm>
            <a:off x="3505200" y="1559561"/>
            <a:ext cx="2489200" cy="2616200"/>
          </a:xfrm>
          <a:prstGeom prst="roundRect">
            <a:avLst>
              <a:gd name="adj" fmla="val 7143"/>
            </a:avLst>
          </a:prstGeom>
          <a:solidFill>
            <a:srgbClr val="FFFDF8"/>
          </a:solidFill>
          <a:ln/>
        </p:spPr>
      </p:sp>
      <p:pic>
        <p:nvPicPr>
          <p:cNvPr id="8" name="Image 1" descr="Five districts">    </p:cNvPr>
          <p:cNvPicPr>
            <a:picLocks noChangeAspect="1"/>
          </p:cNvPicPr>
          <p:nvPr/>
        </p:nvPicPr>
        <p:blipFill>
          <a:blip r:embed="rId2"/>
          <a:srcRect l="0" r="0" t="0" b="0"/>
          <a:stretch/>
        </p:blipFill>
        <p:spPr>
          <a:xfrm>
            <a:off x="4032250" y="1788161"/>
            <a:ext cx="1397000" cy="1079500"/>
          </a:xfrm>
          <a:prstGeom prst="rect">
            <a:avLst/>
          </a:prstGeom>
        </p:spPr>
      </p:pic>
      <p:sp>
        <p:nvSpPr>
          <p:cNvPr id="9" name="Text 5"/>
          <p:cNvSpPr/>
          <p:nvPr/>
        </p:nvSpPr>
        <p:spPr>
          <a:xfrm>
            <a:off x="4586843" y="2969261"/>
            <a:ext cx="37663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7A3F"/>
                </a:solidFill>
                <a:latin typeface="Fraunces" pitchFamily="34" charset="0"/>
                <a:ea typeface="Fraunces" pitchFamily="34" charset="-122"/>
                <a:cs typeface="Fraunces" pitchFamily="34" charset="-120"/>
              </a:rPr>
              <a:t>5</a:t>
            </a:r>
            <a:endParaRPr lang="en-US" sz="4800" dirty="0"/>
          </a:p>
        </p:txBody>
      </p:sp>
      <p:sp>
        <p:nvSpPr>
          <p:cNvPr id="10" name="Text 6"/>
          <p:cNvSpPr/>
          <p:nvPr/>
        </p:nvSpPr>
        <p:spPr>
          <a:xfrm>
            <a:off x="4358164" y="3680461"/>
            <a:ext cx="78327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districts</a:t>
            </a:r>
            <a:endParaRPr lang="en-US" sz="1500" dirty="0"/>
          </a:p>
        </p:txBody>
      </p:sp>
      <p:sp>
        <p:nvSpPr>
          <p:cNvPr id="11" name="Shape 7"/>
          <p:cNvSpPr/>
          <p:nvPr/>
        </p:nvSpPr>
        <p:spPr>
          <a:xfrm>
            <a:off x="6197600" y="1559561"/>
            <a:ext cx="2489200" cy="2616200"/>
          </a:xfrm>
          <a:prstGeom prst="roundRect">
            <a:avLst>
              <a:gd name="adj" fmla="val 7143"/>
            </a:avLst>
          </a:prstGeom>
          <a:solidFill>
            <a:srgbClr val="FFFDF8"/>
          </a:solidFill>
          <a:ln/>
        </p:spPr>
      </p:sp>
      <p:pic>
        <p:nvPicPr>
          <p:cNvPr id="12" name="Image 2" descr="Four criteria sliders">    </p:cNvPr>
          <p:cNvPicPr>
            <a:picLocks noChangeAspect="1"/>
          </p:cNvPicPr>
          <p:nvPr/>
        </p:nvPicPr>
        <p:blipFill>
          <a:blip r:embed="rId3"/>
          <a:srcRect l="0" r="0" t="0" b="0"/>
          <a:stretch/>
        </p:blipFill>
        <p:spPr>
          <a:xfrm>
            <a:off x="6724650" y="1788161"/>
            <a:ext cx="1397000" cy="1079500"/>
          </a:xfrm>
          <a:prstGeom prst="rect">
            <a:avLst/>
          </a:prstGeom>
        </p:spPr>
      </p:pic>
      <p:sp>
        <p:nvSpPr>
          <p:cNvPr id="13" name="Text 8"/>
          <p:cNvSpPr/>
          <p:nvPr/>
        </p:nvSpPr>
        <p:spPr>
          <a:xfrm>
            <a:off x="7267972" y="2969261"/>
            <a:ext cx="39925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7A3F"/>
                </a:solidFill>
                <a:latin typeface="Fraunces" pitchFamily="34" charset="0"/>
                <a:ea typeface="Fraunces" pitchFamily="34" charset="-122"/>
                <a:cs typeface="Fraunces" pitchFamily="34" charset="-120"/>
              </a:rPr>
              <a:t>4</a:t>
            </a:r>
            <a:endParaRPr lang="en-US" sz="4800" dirty="0"/>
          </a:p>
        </p:txBody>
      </p:sp>
      <p:sp>
        <p:nvSpPr>
          <p:cNvPr id="14" name="Text 9"/>
          <p:cNvSpPr/>
          <p:nvPr/>
        </p:nvSpPr>
        <p:spPr>
          <a:xfrm>
            <a:off x="7099300" y="3680461"/>
            <a:ext cx="68572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criteria</a:t>
            </a:r>
            <a:endParaRPr lang="en-US" sz="1500" dirty="0"/>
          </a:p>
        </p:txBody>
      </p:sp>
      <p:sp>
        <p:nvSpPr>
          <p:cNvPr id="15" name="Shape 10"/>
          <p:cNvSpPr/>
          <p:nvPr/>
        </p:nvSpPr>
        <p:spPr>
          <a:xfrm>
            <a:off x="8890000" y="1559561"/>
            <a:ext cx="2489200" cy="2616200"/>
          </a:xfrm>
          <a:prstGeom prst="roundRect">
            <a:avLst>
              <a:gd name="adj" fmla="val 7143"/>
            </a:avLst>
          </a:prstGeom>
          <a:solidFill>
            <a:srgbClr val="FFFDF8"/>
          </a:solidFill>
          <a:ln/>
        </p:spPr>
      </p:sp>
      <p:pic>
        <p:nvPicPr>
          <p:cNvPr id="16" name="Image 3" descr="A balance scale for weighting">    </p:cNvPr>
          <p:cNvPicPr>
            <a:picLocks noChangeAspect="1"/>
          </p:cNvPicPr>
          <p:nvPr/>
        </p:nvPicPr>
        <p:blipFill>
          <a:blip r:embed="rId4"/>
          <a:srcRect l="0" r="0" t="0" b="0"/>
          <a:stretch/>
        </p:blipFill>
        <p:spPr>
          <a:xfrm>
            <a:off x="9417050" y="1788161"/>
            <a:ext cx="1435100" cy="1079500"/>
          </a:xfrm>
          <a:prstGeom prst="rect">
            <a:avLst/>
          </a:prstGeom>
        </p:spPr>
      </p:pic>
      <p:sp>
        <p:nvSpPr>
          <p:cNvPr id="17" name="Text 11"/>
          <p:cNvSpPr/>
          <p:nvPr/>
        </p:nvSpPr>
        <p:spPr>
          <a:xfrm>
            <a:off x="10019189" y="2969261"/>
            <a:ext cx="28154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7A3F"/>
                </a:solidFill>
                <a:latin typeface="Fraunces" pitchFamily="34" charset="0"/>
                <a:ea typeface="Fraunces" pitchFamily="34" charset="-122"/>
                <a:cs typeface="Fraunces" pitchFamily="34" charset="-120"/>
              </a:rPr>
              <a:t>1</a:t>
            </a:r>
            <a:endParaRPr lang="en-US" sz="4800" dirty="0"/>
          </a:p>
        </p:txBody>
      </p:sp>
      <p:sp>
        <p:nvSpPr>
          <p:cNvPr id="18" name="Text 12"/>
          <p:cNvSpPr/>
          <p:nvPr/>
        </p:nvSpPr>
        <p:spPr>
          <a:xfrm>
            <a:off x="9147068" y="3680461"/>
            <a:ext cx="1974986"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2303D"/>
                </a:solidFill>
                <a:latin typeface="DM Sans" pitchFamily="34" charset="0"/>
                <a:ea typeface="DM Sans" pitchFamily="34" charset="-122"/>
                <a:cs typeface="DM Sans" pitchFamily="34" charset="-120"/>
              </a:rPr>
              <a:t>weighted-sum model</a:t>
            </a:r>
            <a:endParaRPr lang="en-US" sz="1500" dirty="0"/>
          </a:p>
        </p:txBody>
      </p:sp>
      <p:pic>
        <p:nvPicPr>
          <p:cNvPr id="19" name="Image 4" descr="ThumbsUp">    </p:cNvPr>
          <p:cNvPicPr>
            <a:picLocks noChangeAspect="1"/>
          </p:cNvPicPr>
          <p:nvPr/>
        </p:nvPicPr>
        <p:blipFill>
          <a:blip r:embed="rId5"/>
          <a:srcRect l="0" r="0" t="0" b="0"/>
          <a:stretch/>
        </p:blipFill>
        <p:spPr>
          <a:xfrm>
            <a:off x="812800" y="4455161"/>
            <a:ext cx="254000" cy="254000"/>
          </a:xfrm>
          <a:prstGeom prst="rect">
            <a:avLst/>
          </a:prstGeom>
        </p:spPr>
      </p:pic>
      <p:sp>
        <p:nvSpPr>
          <p:cNvPr id="20" name="Text 13"/>
          <p:cNvSpPr/>
          <p:nvPr/>
        </p:nvSpPr>
        <p:spPr>
          <a:xfrm>
            <a:off x="1168400" y="4457700"/>
            <a:ext cx="1611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3D"/>
                </a:solidFill>
                <a:latin typeface="DM Sans" pitchFamily="34" charset="0"/>
                <a:ea typeface="DM Sans" pitchFamily="34" charset="-122"/>
                <a:cs typeface="DM Sans" pitchFamily="34" charset="-120"/>
              </a:rPr>
              <a:t>Do students agree?</a:t>
            </a:r>
            <a:endParaRPr lang="en-US" sz="1400" dirty="0"/>
          </a:p>
        </p:txBody>
      </p:sp>
      <p:pic>
        <p:nvPicPr>
          <p:cNvPr id="21" name="Image 5" descr="Trust">    </p:cNvPr>
          <p:cNvPicPr>
            <a:picLocks noChangeAspect="1"/>
          </p:cNvPicPr>
          <p:nvPr/>
        </p:nvPicPr>
        <p:blipFill>
          <a:blip r:embed="rId6"/>
          <a:srcRect l="0" r="0" t="0" b="0"/>
          <a:stretch/>
        </p:blipFill>
        <p:spPr>
          <a:xfrm>
            <a:off x="4402614" y="4455161"/>
            <a:ext cx="254000" cy="254000"/>
          </a:xfrm>
          <a:prstGeom prst="rect">
            <a:avLst/>
          </a:prstGeom>
        </p:spPr>
      </p:pic>
      <p:sp>
        <p:nvSpPr>
          <p:cNvPr id="22" name="Text 14"/>
          <p:cNvSpPr/>
          <p:nvPr/>
        </p:nvSpPr>
        <p:spPr>
          <a:xfrm>
            <a:off x="4758214" y="4457700"/>
            <a:ext cx="286923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3D"/>
                </a:solidFill>
                <a:latin typeface="DM Sans" pitchFamily="34" charset="0"/>
                <a:ea typeface="DM Sans" pitchFamily="34" charset="-122"/>
                <a:cs typeface="DM Sans" pitchFamily="34" charset="-120"/>
              </a:rPr>
              <a:t>Does the reason build confidence?</a:t>
            </a:r>
            <a:endParaRPr lang="en-US" sz="1400" dirty="0"/>
          </a:p>
        </p:txBody>
      </p:sp>
      <p:pic>
        <p:nvPicPr>
          <p:cNvPr id="23" name="Image 6" descr="Star">    </p:cNvPr>
          <p:cNvPicPr>
            <a:picLocks noChangeAspect="1"/>
          </p:cNvPicPr>
          <p:nvPr/>
        </p:nvPicPr>
        <p:blipFill>
          <a:blip r:embed="rId7"/>
          <a:srcRect l="0" r="0" t="0" b="0"/>
          <a:stretch/>
        </p:blipFill>
        <p:spPr>
          <a:xfrm>
            <a:off x="7992507" y="4455161"/>
            <a:ext cx="254000" cy="254000"/>
          </a:xfrm>
          <a:prstGeom prst="rect">
            <a:avLst/>
          </a:prstGeom>
        </p:spPr>
      </p:pic>
      <p:sp>
        <p:nvSpPr>
          <p:cNvPr id="24" name="Text 15"/>
          <p:cNvSpPr/>
          <p:nvPr/>
        </p:nvSpPr>
        <p:spPr>
          <a:xfrm>
            <a:off x="8348107" y="4457700"/>
            <a:ext cx="231468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3D"/>
                </a:solidFill>
                <a:latin typeface="DM Sans" pitchFamily="34" charset="0"/>
                <a:ea typeface="DM Sans" pitchFamily="34" charset="-122"/>
                <a:cs typeface="DM Sans" pitchFamily="34" charset="-120"/>
              </a:rPr>
              <a:t>Which criteria matter most?</a:t>
            </a:r>
            <a:endParaRPr lang="en-US" sz="1400" dirty="0"/>
          </a:p>
        </p:txBody>
      </p:sp>
      <p:sp>
        <p:nvSpPr>
          <p:cNvPr id="25" name="Text 16"/>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How we’ll build it</a:t>
            </a:r>
            <a:endParaRPr lang="en-US" sz="3200" dirty="0"/>
          </a:p>
        </p:txBody>
      </p:sp>
      <p:sp>
        <p:nvSpPr>
          <p:cNvPr id="3" name="Shape 1"/>
          <p:cNvSpPr/>
          <p:nvPr/>
        </p:nvSpPr>
        <p:spPr>
          <a:xfrm>
            <a:off x="812800" y="1534161"/>
            <a:ext cx="2159000" cy="4191000"/>
          </a:xfrm>
          <a:prstGeom prst="roundRect">
            <a:avLst>
              <a:gd name="adj" fmla="val 6471"/>
            </a:avLst>
          </a:prstGeom>
          <a:solidFill>
            <a:srgbClr val="FFFDF8"/>
          </a:solidFill>
          <a:ln/>
        </p:spPr>
      </p:sp>
      <p:pic>
        <p:nvPicPr>
          <p:cNvPr id="4" name="Image 0" descr="System flow: user input to React front end, FastAPI back end, PostgreSQL with PostGIS, recommendation engine, explainer and results UI">    </p:cNvPr>
          <p:cNvPicPr>
            <a:picLocks noChangeAspect="1"/>
          </p:cNvPicPr>
          <p:nvPr/>
        </p:nvPicPr>
        <p:blipFill>
          <a:blip r:embed="rId1"/>
          <a:srcRect l="-5514" r="-5514" t="0" b="0"/>
          <a:stretch/>
        </p:blipFill>
        <p:spPr>
          <a:xfrm>
            <a:off x="939800" y="1661161"/>
            <a:ext cx="1905000" cy="3937000"/>
          </a:xfrm>
          <a:prstGeom prst="rect">
            <a:avLst/>
          </a:prstGeom>
        </p:spPr>
      </p:pic>
      <p:sp>
        <p:nvSpPr>
          <p:cNvPr id="5" name="Shape 2"/>
          <p:cNvSpPr/>
          <p:nvPr/>
        </p:nvSpPr>
        <p:spPr>
          <a:xfrm>
            <a:off x="3276600" y="1534161"/>
            <a:ext cx="2599214" cy="1894840"/>
          </a:xfrm>
          <a:prstGeom prst="roundRect">
            <a:avLst>
              <a:gd name="adj" fmla="val 7373"/>
            </a:avLst>
          </a:prstGeom>
          <a:solidFill>
            <a:srgbClr val="FFFDF8"/>
          </a:solidFill>
          <a:ln/>
        </p:spPr>
      </p:sp>
      <p:sp>
        <p:nvSpPr>
          <p:cNvPr id="6" name="Shape 3"/>
          <p:cNvSpPr/>
          <p:nvPr/>
        </p:nvSpPr>
        <p:spPr>
          <a:xfrm>
            <a:off x="3467100" y="1724661"/>
            <a:ext cx="457200" cy="457200"/>
          </a:xfrm>
          <a:prstGeom prst="roundRect">
            <a:avLst>
              <a:gd name="adj" fmla="val 25000"/>
            </a:avLst>
          </a:prstGeom>
          <a:solidFill>
            <a:srgbClr val="4A78C2"/>
          </a:solidFill>
          <a:ln/>
        </p:spPr>
      </p:sp>
      <p:pic>
        <p:nvPicPr>
          <p:cNvPr id="7" name="Image 1" descr="Globe">    </p:cNvPr>
          <p:cNvPicPr>
            <a:picLocks noChangeAspect="1"/>
          </p:cNvPicPr>
          <p:nvPr/>
        </p:nvPicPr>
        <p:blipFill>
          <a:blip r:embed="rId2"/>
          <a:srcRect l="0" r="0" t="0" b="0"/>
          <a:stretch/>
        </p:blipFill>
        <p:spPr>
          <a:xfrm>
            <a:off x="3568700" y="1826261"/>
            <a:ext cx="254000" cy="254000"/>
          </a:xfrm>
          <a:prstGeom prst="rect">
            <a:avLst/>
          </a:prstGeom>
        </p:spPr>
      </p:pic>
      <p:sp>
        <p:nvSpPr>
          <p:cNvPr id="8" name="Text 4"/>
          <p:cNvSpPr/>
          <p:nvPr/>
        </p:nvSpPr>
        <p:spPr>
          <a:xfrm>
            <a:off x="3467100" y="2270761"/>
            <a:ext cx="2284760"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2303D"/>
                </a:solidFill>
                <a:latin typeface="Fraunces" pitchFamily="34" charset="0"/>
                <a:ea typeface="Fraunces" pitchFamily="34" charset="-122"/>
                <a:cs typeface="Fraunces" pitchFamily="34" charset="-120"/>
              </a:rPr>
              <a:t>React + Leaflet</a:t>
            </a:r>
            <a:endParaRPr lang="en-US" sz="1600" dirty="0"/>
          </a:p>
        </p:txBody>
      </p:sp>
      <p:sp>
        <p:nvSpPr>
          <p:cNvPr id="9" name="Text 5"/>
          <p:cNvSpPr/>
          <p:nvPr/>
        </p:nvSpPr>
        <p:spPr>
          <a:xfrm>
            <a:off x="3467100" y="2593339"/>
            <a:ext cx="228476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60"/>
                </a:solidFill>
                <a:latin typeface="DM Sans" pitchFamily="34" charset="0"/>
                <a:ea typeface="DM Sans" pitchFamily="34" charset="-122"/>
                <a:cs typeface="DM Sans" pitchFamily="34" charset="-120"/>
              </a:rPr>
              <a:t>Form, ranked results, explanation panel, district map</a:t>
            </a:r>
            <a:endParaRPr lang="en-US" sz="1200" dirty="0"/>
          </a:p>
        </p:txBody>
      </p:sp>
      <p:sp>
        <p:nvSpPr>
          <p:cNvPr id="10" name="Shape 6"/>
          <p:cNvSpPr/>
          <p:nvPr/>
        </p:nvSpPr>
        <p:spPr>
          <a:xfrm>
            <a:off x="6028214" y="1534161"/>
            <a:ext cx="2599293" cy="1894840"/>
          </a:xfrm>
          <a:prstGeom prst="roundRect">
            <a:avLst>
              <a:gd name="adj" fmla="val 7373"/>
            </a:avLst>
          </a:prstGeom>
          <a:solidFill>
            <a:srgbClr val="FFFDF8"/>
          </a:solidFill>
          <a:ln/>
        </p:spPr>
      </p:sp>
      <p:sp>
        <p:nvSpPr>
          <p:cNvPr id="11" name="Shape 7"/>
          <p:cNvSpPr/>
          <p:nvPr/>
        </p:nvSpPr>
        <p:spPr>
          <a:xfrm>
            <a:off x="6218714" y="1724661"/>
            <a:ext cx="457200" cy="457200"/>
          </a:xfrm>
          <a:prstGeom prst="roundRect">
            <a:avLst>
              <a:gd name="adj" fmla="val 25000"/>
            </a:avLst>
          </a:prstGeom>
          <a:solidFill>
            <a:srgbClr val="E07A3F"/>
          </a:solidFill>
          <a:ln/>
        </p:spPr>
      </p:sp>
      <p:pic>
        <p:nvPicPr>
          <p:cNvPr id="12" name="Image 2" descr="Lightning">    </p:cNvPr>
          <p:cNvPicPr>
            <a:picLocks noChangeAspect="1"/>
          </p:cNvPicPr>
          <p:nvPr/>
        </p:nvPicPr>
        <p:blipFill>
          <a:blip r:embed="rId3"/>
          <a:srcRect l="0" r="0" t="0" b="0"/>
          <a:stretch/>
        </p:blipFill>
        <p:spPr>
          <a:xfrm>
            <a:off x="6320314" y="1826261"/>
            <a:ext cx="254000" cy="254000"/>
          </a:xfrm>
          <a:prstGeom prst="rect">
            <a:avLst/>
          </a:prstGeom>
        </p:spPr>
      </p:pic>
      <p:sp>
        <p:nvSpPr>
          <p:cNvPr id="13" name="Text 8"/>
          <p:cNvSpPr/>
          <p:nvPr/>
        </p:nvSpPr>
        <p:spPr>
          <a:xfrm>
            <a:off x="6218714" y="2270761"/>
            <a:ext cx="2284842"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2303D"/>
                </a:solidFill>
                <a:latin typeface="Fraunces" pitchFamily="34" charset="0"/>
                <a:ea typeface="Fraunces" pitchFamily="34" charset="-122"/>
                <a:cs typeface="Fraunces" pitchFamily="34" charset="-120"/>
              </a:rPr>
              <a:t>FastAPI</a:t>
            </a:r>
            <a:endParaRPr lang="en-US" sz="1600" dirty="0"/>
          </a:p>
        </p:txBody>
      </p:sp>
      <p:sp>
        <p:nvSpPr>
          <p:cNvPr id="14" name="Text 9"/>
          <p:cNvSpPr/>
          <p:nvPr/>
        </p:nvSpPr>
        <p:spPr>
          <a:xfrm>
            <a:off x="6218714" y="2593339"/>
            <a:ext cx="228484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60"/>
                </a:solidFill>
                <a:latin typeface="DM Sans" pitchFamily="34" charset="0"/>
                <a:ea typeface="DM Sans" pitchFamily="34" charset="-122"/>
                <a:cs typeface="DM Sans" pitchFamily="34" charset="-120"/>
              </a:rPr>
              <a:t>REST layer linking the UI to the engine</a:t>
            </a:r>
            <a:endParaRPr lang="en-US" sz="1200" dirty="0"/>
          </a:p>
        </p:txBody>
      </p:sp>
      <p:sp>
        <p:nvSpPr>
          <p:cNvPr id="15" name="Shape 10"/>
          <p:cNvSpPr/>
          <p:nvPr/>
        </p:nvSpPr>
        <p:spPr>
          <a:xfrm>
            <a:off x="8779907" y="1534161"/>
            <a:ext cx="2599214" cy="1894840"/>
          </a:xfrm>
          <a:prstGeom prst="roundRect">
            <a:avLst>
              <a:gd name="adj" fmla="val 7373"/>
            </a:avLst>
          </a:prstGeom>
          <a:solidFill>
            <a:srgbClr val="FFFDF8"/>
          </a:solidFill>
          <a:ln/>
        </p:spPr>
      </p:sp>
      <p:sp>
        <p:nvSpPr>
          <p:cNvPr id="16" name="Shape 11"/>
          <p:cNvSpPr/>
          <p:nvPr/>
        </p:nvSpPr>
        <p:spPr>
          <a:xfrm>
            <a:off x="8970407" y="1724661"/>
            <a:ext cx="457200" cy="457200"/>
          </a:xfrm>
          <a:prstGeom prst="roundRect">
            <a:avLst>
              <a:gd name="adj" fmla="val 25000"/>
            </a:avLst>
          </a:prstGeom>
          <a:solidFill>
            <a:srgbClr val="2F7D6A"/>
          </a:solidFill>
          <a:ln/>
        </p:spPr>
      </p:sp>
      <p:pic>
        <p:nvPicPr>
          <p:cNvPr id="17" name="Image 3" descr="Settings">    </p:cNvPr>
          <p:cNvPicPr>
            <a:picLocks noChangeAspect="1"/>
          </p:cNvPicPr>
          <p:nvPr/>
        </p:nvPicPr>
        <p:blipFill>
          <a:blip r:embed="rId4"/>
          <a:srcRect l="0" r="0" t="0" b="0"/>
          <a:stretch/>
        </p:blipFill>
        <p:spPr>
          <a:xfrm>
            <a:off x="9072007" y="1826261"/>
            <a:ext cx="254000" cy="254000"/>
          </a:xfrm>
          <a:prstGeom prst="rect">
            <a:avLst/>
          </a:prstGeom>
        </p:spPr>
      </p:pic>
      <p:sp>
        <p:nvSpPr>
          <p:cNvPr id="18" name="Text 12"/>
          <p:cNvSpPr/>
          <p:nvPr/>
        </p:nvSpPr>
        <p:spPr>
          <a:xfrm>
            <a:off x="8970407" y="2270761"/>
            <a:ext cx="2284760" cy="4927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2303D"/>
                </a:solidFill>
                <a:latin typeface="Fraunces" pitchFamily="34" charset="0"/>
                <a:ea typeface="Fraunces" pitchFamily="34" charset="-122"/>
                <a:cs typeface="Fraunces" pitchFamily="34" charset="-120"/>
              </a:rPr>
              <a:t>Recommendation engine</a:t>
            </a:r>
            <a:endParaRPr lang="en-US" sz="1600" dirty="0"/>
          </a:p>
        </p:txBody>
      </p:sp>
      <p:sp>
        <p:nvSpPr>
          <p:cNvPr id="19" name="Text 13"/>
          <p:cNvSpPr/>
          <p:nvPr/>
        </p:nvSpPr>
        <p:spPr>
          <a:xfrm>
            <a:off x="8970407" y="2827021"/>
            <a:ext cx="228476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60"/>
                </a:solidFill>
                <a:latin typeface="DM Sans" pitchFamily="34" charset="0"/>
                <a:ea typeface="DM Sans" pitchFamily="34" charset="-122"/>
                <a:cs typeface="DM Sans" pitchFamily="34" charset="-120"/>
              </a:rPr>
              <a:t>Filter by budget, normalise, score</a:t>
            </a:r>
            <a:endParaRPr lang="en-US" sz="1200" dirty="0"/>
          </a:p>
        </p:txBody>
      </p:sp>
      <p:sp>
        <p:nvSpPr>
          <p:cNvPr id="20" name="Shape 14"/>
          <p:cNvSpPr/>
          <p:nvPr/>
        </p:nvSpPr>
        <p:spPr>
          <a:xfrm>
            <a:off x="3276600" y="3581400"/>
            <a:ext cx="2599214" cy="1661160"/>
          </a:xfrm>
          <a:prstGeom prst="roundRect">
            <a:avLst>
              <a:gd name="adj" fmla="val 8410"/>
            </a:avLst>
          </a:prstGeom>
          <a:solidFill>
            <a:srgbClr val="FFFDF8"/>
          </a:solidFill>
          <a:ln/>
        </p:spPr>
      </p:sp>
      <p:sp>
        <p:nvSpPr>
          <p:cNvPr id="21" name="Shape 15"/>
          <p:cNvSpPr/>
          <p:nvPr/>
        </p:nvSpPr>
        <p:spPr>
          <a:xfrm>
            <a:off x="3467100" y="3771900"/>
            <a:ext cx="457200" cy="457200"/>
          </a:xfrm>
          <a:prstGeom prst="roundRect">
            <a:avLst>
              <a:gd name="adj" fmla="val 25000"/>
            </a:avLst>
          </a:prstGeom>
          <a:solidFill>
            <a:srgbClr val="D65A6F"/>
          </a:solidFill>
          <a:ln/>
        </p:spPr>
      </p:sp>
      <p:pic>
        <p:nvPicPr>
          <p:cNvPr id="22" name="Image 4" descr="Chat">    </p:cNvPr>
          <p:cNvPicPr>
            <a:picLocks noChangeAspect="1"/>
          </p:cNvPicPr>
          <p:nvPr/>
        </p:nvPicPr>
        <p:blipFill>
          <a:blip r:embed="rId5"/>
          <a:srcRect l="0" r="0" t="0" b="0"/>
          <a:stretch/>
        </p:blipFill>
        <p:spPr>
          <a:xfrm>
            <a:off x="3568700" y="3873500"/>
            <a:ext cx="254000" cy="254000"/>
          </a:xfrm>
          <a:prstGeom prst="rect">
            <a:avLst/>
          </a:prstGeom>
        </p:spPr>
      </p:pic>
      <p:sp>
        <p:nvSpPr>
          <p:cNvPr id="23" name="Text 16"/>
          <p:cNvSpPr/>
          <p:nvPr/>
        </p:nvSpPr>
        <p:spPr>
          <a:xfrm>
            <a:off x="3467100" y="4318000"/>
            <a:ext cx="2284760"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2303D"/>
                </a:solidFill>
                <a:latin typeface="Fraunces" pitchFamily="34" charset="0"/>
                <a:ea typeface="Fraunces" pitchFamily="34" charset="-122"/>
                <a:cs typeface="Fraunces" pitchFamily="34" charset="-120"/>
              </a:rPr>
              <a:t>Explainer</a:t>
            </a:r>
            <a:endParaRPr lang="en-US" sz="1600" dirty="0"/>
          </a:p>
        </p:txBody>
      </p:sp>
      <p:sp>
        <p:nvSpPr>
          <p:cNvPr id="24" name="Text 17"/>
          <p:cNvSpPr/>
          <p:nvPr/>
        </p:nvSpPr>
        <p:spPr>
          <a:xfrm>
            <a:off x="3467100" y="4640579"/>
            <a:ext cx="228476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60"/>
                </a:solidFill>
                <a:latin typeface="DM Sans" pitchFamily="34" charset="0"/>
                <a:ea typeface="DM Sans" pitchFamily="34" charset="-122"/>
                <a:cs typeface="DM Sans" pitchFamily="34" charset="-120"/>
              </a:rPr>
              <a:t>Kept separate from scoring</a:t>
            </a:r>
            <a:endParaRPr lang="en-US" sz="1200" dirty="0"/>
          </a:p>
        </p:txBody>
      </p:sp>
      <p:sp>
        <p:nvSpPr>
          <p:cNvPr id="25" name="Shape 18"/>
          <p:cNvSpPr/>
          <p:nvPr/>
        </p:nvSpPr>
        <p:spPr>
          <a:xfrm>
            <a:off x="6028214" y="3581400"/>
            <a:ext cx="2599293" cy="1661160"/>
          </a:xfrm>
          <a:prstGeom prst="roundRect">
            <a:avLst>
              <a:gd name="adj" fmla="val 8410"/>
            </a:avLst>
          </a:prstGeom>
          <a:solidFill>
            <a:srgbClr val="FFFDF8"/>
          </a:solidFill>
          <a:ln/>
        </p:spPr>
      </p:sp>
      <p:sp>
        <p:nvSpPr>
          <p:cNvPr id="26" name="Shape 19"/>
          <p:cNvSpPr/>
          <p:nvPr/>
        </p:nvSpPr>
        <p:spPr>
          <a:xfrm>
            <a:off x="6218714" y="3771900"/>
            <a:ext cx="457200" cy="457200"/>
          </a:xfrm>
          <a:prstGeom prst="roundRect">
            <a:avLst>
              <a:gd name="adj" fmla="val 25000"/>
            </a:avLst>
          </a:prstGeom>
          <a:solidFill>
            <a:srgbClr val="12303D"/>
          </a:solidFill>
          <a:ln/>
        </p:spPr>
      </p:sp>
      <p:pic>
        <p:nvPicPr>
          <p:cNvPr id="27" name="Image 5" descr="Database">    </p:cNvPr>
          <p:cNvPicPr>
            <a:picLocks noChangeAspect="1"/>
          </p:cNvPicPr>
          <p:nvPr/>
        </p:nvPicPr>
        <p:blipFill>
          <a:blip r:embed="rId6"/>
          <a:srcRect l="0" r="0" t="0" b="0"/>
          <a:stretch/>
        </p:blipFill>
        <p:spPr>
          <a:xfrm>
            <a:off x="6320314" y="3873500"/>
            <a:ext cx="254000" cy="254000"/>
          </a:xfrm>
          <a:prstGeom prst="rect">
            <a:avLst/>
          </a:prstGeom>
        </p:spPr>
      </p:pic>
      <p:sp>
        <p:nvSpPr>
          <p:cNvPr id="28" name="Text 20"/>
          <p:cNvSpPr/>
          <p:nvPr/>
        </p:nvSpPr>
        <p:spPr>
          <a:xfrm>
            <a:off x="6218714" y="4318000"/>
            <a:ext cx="2284842"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2303D"/>
                </a:solidFill>
                <a:latin typeface="Fraunces" pitchFamily="34" charset="0"/>
                <a:ea typeface="Fraunces" pitchFamily="34" charset="-122"/>
                <a:cs typeface="Fraunces" pitchFamily="34" charset="-120"/>
              </a:rPr>
              <a:t>PostgreSQL + PostGIS</a:t>
            </a:r>
            <a:endParaRPr lang="en-US" sz="1600" dirty="0"/>
          </a:p>
        </p:txBody>
      </p:sp>
      <p:sp>
        <p:nvSpPr>
          <p:cNvPr id="29" name="Text 21"/>
          <p:cNvSpPr/>
          <p:nvPr/>
        </p:nvSpPr>
        <p:spPr>
          <a:xfrm>
            <a:off x="6218714" y="4640579"/>
            <a:ext cx="228484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60"/>
                </a:solidFill>
                <a:latin typeface="DM Sans" pitchFamily="34" charset="0"/>
                <a:ea typeface="DM Sans" pitchFamily="34" charset="-122"/>
                <a:cs typeface="DM Sans" pitchFamily="34" charset="-120"/>
              </a:rPr>
              <a:t>One row per district, one column per feature</a:t>
            </a:r>
            <a:endParaRPr lang="en-US" sz="1200" dirty="0"/>
          </a:p>
        </p:txBody>
      </p:sp>
      <p:sp>
        <p:nvSpPr>
          <p:cNvPr id="30" name="Shape 22"/>
          <p:cNvSpPr/>
          <p:nvPr/>
        </p:nvSpPr>
        <p:spPr>
          <a:xfrm>
            <a:off x="8779907" y="3581400"/>
            <a:ext cx="2599214" cy="1661160"/>
          </a:xfrm>
          <a:prstGeom prst="roundRect">
            <a:avLst>
              <a:gd name="adj" fmla="val 8410"/>
            </a:avLst>
          </a:prstGeom>
          <a:solidFill>
            <a:srgbClr val="FFFDF8"/>
          </a:solidFill>
          <a:ln/>
        </p:spPr>
      </p:sp>
      <p:sp>
        <p:nvSpPr>
          <p:cNvPr id="31" name="Shape 23"/>
          <p:cNvSpPr/>
          <p:nvPr/>
        </p:nvSpPr>
        <p:spPr>
          <a:xfrm>
            <a:off x="8970407" y="3771900"/>
            <a:ext cx="457200" cy="457200"/>
          </a:xfrm>
          <a:prstGeom prst="roundRect">
            <a:avLst>
              <a:gd name="adj" fmla="val 25000"/>
            </a:avLst>
          </a:prstGeom>
          <a:solidFill>
            <a:srgbClr val="8A6D1F"/>
          </a:solidFill>
          <a:ln/>
        </p:spPr>
      </p:sp>
      <p:pic>
        <p:nvPicPr>
          <p:cNvPr id="32" name="Image 6" descr="Cloud">    </p:cNvPr>
          <p:cNvPicPr>
            <a:picLocks noChangeAspect="1"/>
          </p:cNvPicPr>
          <p:nvPr/>
        </p:nvPicPr>
        <p:blipFill>
          <a:blip r:embed="rId7"/>
          <a:srcRect l="0" r="0" t="0" b="0"/>
          <a:stretch/>
        </p:blipFill>
        <p:spPr>
          <a:xfrm>
            <a:off x="9072007" y="3873500"/>
            <a:ext cx="254000" cy="254000"/>
          </a:xfrm>
          <a:prstGeom prst="rect">
            <a:avLst/>
          </a:prstGeom>
        </p:spPr>
      </p:pic>
      <p:sp>
        <p:nvSpPr>
          <p:cNvPr id="33" name="Text 24"/>
          <p:cNvSpPr/>
          <p:nvPr/>
        </p:nvSpPr>
        <p:spPr>
          <a:xfrm>
            <a:off x="8970407" y="4318000"/>
            <a:ext cx="2284760" cy="25908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12303D"/>
                </a:solidFill>
                <a:latin typeface="Fraunces" pitchFamily="34" charset="0"/>
                <a:ea typeface="Fraunces" pitchFamily="34" charset="-122"/>
                <a:cs typeface="Fraunces" pitchFamily="34" charset="-120"/>
              </a:rPr>
              <a:t>Data ingestion</a:t>
            </a:r>
            <a:endParaRPr lang="en-US" sz="1600" dirty="0"/>
          </a:p>
        </p:txBody>
      </p:sp>
      <p:sp>
        <p:nvSpPr>
          <p:cNvPr id="34" name="Text 25"/>
          <p:cNvSpPr/>
          <p:nvPr/>
        </p:nvSpPr>
        <p:spPr>
          <a:xfrm>
            <a:off x="8970407" y="4640579"/>
            <a:ext cx="228476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60"/>
                </a:solidFill>
                <a:latin typeface="DM Sans" pitchFamily="34" charset="0"/>
                <a:ea typeface="DM Sans" pitchFamily="34" charset="-122"/>
                <a:cs typeface="DM Sans" pitchFamily="34" charset="-120"/>
              </a:rPr>
              <a:t>One script per source, run offline</a:t>
            </a:r>
            <a:endParaRPr lang="en-US" sz="1200" dirty="0"/>
          </a:p>
        </p:txBody>
      </p:sp>
      <p:sp>
        <p:nvSpPr>
          <p:cNvPr id="35" name="Text 2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Where the data comes from</a:t>
            </a:r>
            <a:endParaRPr lang="en-US" sz="3200" dirty="0"/>
          </a:p>
        </p:txBody>
      </p:sp>
      <p:sp>
        <p:nvSpPr>
          <p:cNvPr id="3" name="Shape 1"/>
          <p:cNvSpPr/>
          <p:nvPr/>
        </p:nvSpPr>
        <p:spPr>
          <a:xfrm>
            <a:off x="812800" y="1534164"/>
            <a:ext cx="2527300" cy="2497455"/>
          </a:xfrm>
          <a:prstGeom prst="roundRect">
            <a:avLst>
              <a:gd name="adj" fmla="val 6102"/>
            </a:avLst>
          </a:prstGeom>
          <a:solidFill>
            <a:srgbClr val="FFFDF8"/>
          </a:solidFill>
          <a:ln/>
        </p:spPr>
      </p:sp>
      <p:pic>
        <p:nvPicPr>
          <p:cNvPr id="4" name="Image 0" descr="A house with a euro price tag">    </p:cNvPr>
          <p:cNvPicPr>
            <a:picLocks noChangeAspect="1"/>
          </p:cNvPicPr>
          <p:nvPr/>
        </p:nvPicPr>
        <p:blipFill>
          <a:blip r:embed="rId1"/>
          <a:srcRect l="0" r="0" t="0" b="0"/>
          <a:stretch/>
        </p:blipFill>
        <p:spPr>
          <a:xfrm>
            <a:off x="965200" y="1686564"/>
            <a:ext cx="2235200" cy="1295400"/>
          </a:xfrm>
          <a:prstGeom prst="rect">
            <a:avLst/>
          </a:prstGeom>
        </p:spPr>
      </p:pic>
      <p:sp>
        <p:nvSpPr>
          <p:cNvPr id="5" name="Text 2"/>
          <p:cNvSpPr/>
          <p:nvPr/>
        </p:nvSpPr>
        <p:spPr>
          <a:xfrm>
            <a:off x="965200" y="3083564"/>
            <a:ext cx="2289175"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2303D"/>
                </a:solidFill>
                <a:latin typeface="Fraunces" pitchFamily="34" charset="0"/>
                <a:ea typeface="Fraunces" pitchFamily="34" charset="-122"/>
                <a:cs typeface="Fraunces" pitchFamily="34" charset="-120"/>
              </a:rPr>
              <a:t>RTB rents</a:t>
            </a:r>
            <a:endParaRPr lang="en-US" sz="1700" dirty="0"/>
          </a:p>
        </p:txBody>
      </p:sp>
      <p:sp>
        <p:nvSpPr>
          <p:cNvPr id="6" name="Text 3"/>
          <p:cNvSpPr/>
          <p:nvPr/>
        </p:nvSpPr>
        <p:spPr>
          <a:xfrm>
            <a:off x="965200" y="3433446"/>
            <a:ext cx="228917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0"/>
                </a:solidFill>
                <a:latin typeface="DM Sans" pitchFamily="34" charset="0"/>
                <a:ea typeface="DM Sans" pitchFamily="34" charset="-122"/>
                <a:cs typeface="DM Sans" pitchFamily="34" charset="-120"/>
              </a:rPr>
              <a:t>Average rent by postal district</a:t>
            </a:r>
            <a:endParaRPr lang="en-US" sz="1300" dirty="0"/>
          </a:p>
        </p:txBody>
      </p:sp>
      <p:sp>
        <p:nvSpPr>
          <p:cNvPr id="7" name="Shape 4"/>
          <p:cNvSpPr/>
          <p:nvPr/>
        </p:nvSpPr>
        <p:spPr>
          <a:xfrm>
            <a:off x="3492500" y="1534164"/>
            <a:ext cx="2527300" cy="2497455"/>
          </a:xfrm>
          <a:prstGeom prst="roundRect">
            <a:avLst>
              <a:gd name="adj" fmla="val 6102"/>
            </a:avLst>
          </a:prstGeom>
          <a:solidFill>
            <a:srgbClr val="FFFDF8"/>
          </a:solidFill>
          <a:ln/>
        </p:spPr>
      </p:sp>
      <p:pic>
        <p:nvPicPr>
          <p:cNvPr id="8" name="Image 1" descr="A street map dotted with amenity pins">    </p:cNvPr>
          <p:cNvPicPr>
            <a:picLocks noChangeAspect="1"/>
          </p:cNvPicPr>
          <p:nvPr/>
        </p:nvPicPr>
        <p:blipFill>
          <a:blip r:embed="rId2"/>
          <a:srcRect l="0" r="0" t="0" b="0"/>
          <a:stretch/>
        </p:blipFill>
        <p:spPr>
          <a:xfrm>
            <a:off x="3644900" y="1686564"/>
            <a:ext cx="2235200" cy="1295400"/>
          </a:xfrm>
          <a:prstGeom prst="rect">
            <a:avLst/>
          </a:prstGeom>
        </p:spPr>
      </p:pic>
      <p:sp>
        <p:nvSpPr>
          <p:cNvPr id="9" name="Text 5"/>
          <p:cNvSpPr/>
          <p:nvPr/>
        </p:nvSpPr>
        <p:spPr>
          <a:xfrm>
            <a:off x="3644900" y="3083564"/>
            <a:ext cx="2289175"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2303D"/>
                </a:solidFill>
                <a:latin typeface="Fraunces" pitchFamily="34" charset="0"/>
                <a:ea typeface="Fraunces" pitchFamily="34" charset="-122"/>
                <a:cs typeface="Fraunces" pitchFamily="34" charset="-120"/>
              </a:rPr>
              <a:t>OpenStreetMap</a:t>
            </a:r>
            <a:endParaRPr lang="en-US" sz="1700" dirty="0"/>
          </a:p>
        </p:txBody>
      </p:sp>
      <p:sp>
        <p:nvSpPr>
          <p:cNvPr id="10" name="Text 6"/>
          <p:cNvSpPr/>
          <p:nvPr/>
        </p:nvSpPr>
        <p:spPr>
          <a:xfrm>
            <a:off x="3644900" y="3433446"/>
            <a:ext cx="228917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0"/>
                </a:solidFill>
                <a:latin typeface="DM Sans" pitchFamily="34" charset="0"/>
                <a:ea typeface="DM Sans" pitchFamily="34" charset="-122"/>
                <a:cs typeface="DM Sans" pitchFamily="34" charset="-120"/>
              </a:rPr>
              <a:t>Shops, cuisines, gyms, parks, pharmacies</a:t>
            </a:r>
            <a:endParaRPr lang="en-US" sz="1300" dirty="0"/>
          </a:p>
        </p:txBody>
      </p:sp>
      <p:sp>
        <p:nvSpPr>
          <p:cNvPr id="11" name="Shape 7"/>
          <p:cNvSpPr/>
          <p:nvPr/>
        </p:nvSpPr>
        <p:spPr>
          <a:xfrm>
            <a:off x="6172200" y="1534164"/>
            <a:ext cx="2527300" cy="2497455"/>
          </a:xfrm>
          <a:prstGeom prst="roundRect">
            <a:avLst>
              <a:gd name="adj" fmla="val 6102"/>
            </a:avLst>
          </a:prstGeom>
          <a:solidFill>
            <a:srgbClr val="FFFDF8"/>
          </a:solidFill>
          <a:ln/>
        </p:spPr>
      </p:sp>
      <p:pic>
        <p:nvPicPr>
          <p:cNvPr id="12" name="Image 2" descr="A bus with a clock for commute times">    </p:cNvPr>
          <p:cNvPicPr>
            <a:picLocks noChangeAspect="1"/>
          </p:cNvPicPr>
          <p:nvPr/>
        </p:nvPicPr>
        <p:blipFill>
          <a:blip r:embed="rId3"/>
          <a:srcRect l="0" r="0" t="0" b="0"/>
          <a:stretch/>
        </p:blipFill>
        <p:spPr>
          <a:xfrm>
            <a:off x="6324600" y="1686564"/>
            <a:ext cx="2235200" cy="1295400"/>
          </a:xfrm>
          <a:prstGeom prst="rect">
            <a:avLst/>
          </a:prstGeom>
        </p:spPr>
      </p:pic>
      <p:sp>
        <p:nvSpPr>
          <p:cNvPr id="13" name="Text 8"/>
          <p:cNvSpPr/>
          <p:nvPr/>
        </p:nvSpPr>
        <p:spPr>
          <a:xfrm>
            <a:off x="6324600" y="3083564"/>
            <a:ext cx="2289175"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2303D"/>
                </a:solidFill>
                <a:latin typeface="Fraunces" pitchFamily="34" charset="0"/>
                <a:ea typeface="Fraunces" pitchFamily="34" charset="-122"/>
                <a:cs typeface="Fraunces" pitchFamily="34" charset="-120"/>
              </a:rPr>
              <a:t>TFI GTFS</a:t>
            </a:r>
            <a:endParaRPr lang="en-US" sz="1700" dirty="0"/>
          </a:p>
        </p:txBody>
      </p:sp>
      <p:sp>
        <p:nvSpPr>
          <p:cNvPr id="14" name="Text 9"/>
          <p:cNvSpPr/>
          <p:nvPr/>
        </p:nvSpPr>
        <p:spPr>
          <a:xfrm>
            <a:off x="6324600" y="3433446"/>
            <a:ext cx="228917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0"/>
                </a:solidFill>
                <a:latin typeface="DM Sans" pitchFamily="34" charset="0"/>
                <a:ea typeface="DM Sans" pitchFamily="34" charset="-122"/>
                <a:cs typeface="DM Sans" pitchFamily="34" charset="-120"/>
              </a:rPr>
              <a:t>Travel times from each district to campus</a:t>
            </a:r>
            <a:endParaRPr lang="en-US" sz="1300" dirty="0"/>
          </a:p>
        </p:txBody>
      </p:sp>
      <p:sp>
        <p:nvSpPr>
          <p:cNvPr id="15" name="Shape 10"/>
          <p:cNvSpPr/>
          <p:nvPr/>
        </p:nvSpPr>
        <p:spPr>
          <a:xfrm>
            <a:off x="8851900" y="1534164"/>
            <a:ext cx="2527300" cy="2497455"/>
          </a:xfrm>
          <a:prstGeom prst="roundRect">
            <a:avLst>
              <a:gd name="adj" fmla="val 6102"/>
            </a:avLst>
          </a:prstGeom>
          <a:solidFill>
            <a:srgbClr val="FFFDF8"/>
          </a:solidFill>
          <a:ln/>
        </p:spPr>
      </p:sp>
      <p:pic>
        <p:nvPicPr>
          <p:cNvPr id="16" name="Image 3" descr="A group of residents beside a bar chart">    </p:cNvPr>
          <p:cNvPicPr>
            <a:picLocks noChangeAspect="1"/>
          </p:cNvPicPr>
          <p:nvPr/>
        </p:nvPicPr>
        <p:blipFill>
          <a:blip r:embed="rId4"/>
          <a:srcRect l="0" r="0" t="0" b="0"/>
          <a:stretch/>
        </p:blipFill>
        <p:spPr>
          <a:xfrm>
            <a:off x="9004300" y="1686564"/>
            <a:ext cx="2235200" cy="1295400"/>
          </a:xfrm>
          <a:prstGeom prst="rect">
            <a:avLst/>
          </a:prstGeom>
        </p:spPr>
      </p:pic>
      <p:sp>
        <p:nvSpPr>
          <p:cNvPr id="17" name="Text 11"/>
          <p:cNvSpPr/>
          <p:nvPr/>
        </p:nvSpPr>
        <p:spPr>
          <a:xfrm>
            <a:off x="9004300" y="3083564"/>
            <a:ext cx="2289175"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2303D"/>
                </a:solidFill>
                <a:latin typeface="Fraunces" pitchFamily="34" charset="0"/>
                <a:ea typeface="Fraunces" pitchFamily="34" charset="-122"/>
                <a:cs typeface="Fraunces" pitchFamily="34" charset="-120"/>
              </a:rPr>
              <a:t>CSO Census 2022</a:t>
            </a:r>
            <a:endParaRPr lang="en-US" sz="1700" dirty="0"/>
          </a:p>
        </p:txBody>
      </p:sp>
      <p:sp>
        <p:nvSpPr>
          <p:cNvPr id="18" name="Text 12"/>
          <p:cNvSpPr/>
          <p:nvPr/>
        </p:nvSpPr>
        <p:spPr>
          <a:xfrm>
            <a:off x="9004300" y="3433446"/>
            <a:ext cx="228917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0"/>
                </a:solidFill>
                <a:latin typeface="DM Sans" pitchFamily="34" charset="0"/>
                <a:ea typeface="DM Sans" pitchFamily="34" charset="-122"/>
                <a:cs typeface="DM Sans" pitchFamily="34" charset="-120"/>
              </a:rPr>
              <a:t>Small-area community statistics</a:t>
            </a:r>
            <a:endParaRPr lang="en-US" sz="1300" dirty="0"/>
          </a:p>
        </p:txBody>
      </p:sp>
      <p:sp>
        <p:nvSpPr>
          <p:cNvPr id="19" name="Shape 13"/>
          <p:cNvSpPr/>
          <p:nvPr/>
        </p:nvSpPr>
        <p:spPr>
          <a:xfrm>
            <a:off x="812800" y="4285617"/>
            <a:ext cx="6846253" cy="495300"/>
          </a:xfrm>
          <a:prstGeom prst="roundRect">
            <a:avLst>
              <a:gd name="adj" fmla="val 23077"/>
            </a:avLst>
          </a:prstGeom>
          <a:solidFill>
            <a:srgbClr val="DCECE4"/>
          </a:solidFill>
          <a:ln/>
        </p:spPr>
      </p:sp>
      <p:sp>
        <p:nvSpPr>
          <p:cNvPr id="20" name="Text 14"/>
          <p:cNvSpPr/>
          <p:nvPr/>
        </p:nvSpPr>
        <p:spPr>
          <a:xfrm>
            <a:off x="990600" y="4399917"/>
            <a:ext cx="66853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303D"/>
                </a:solidFill>
                <a:latin typeface="DM Sans" pitchFamily="34" charset="0"/>
                <a:ea typeface="DM Sans" pitchFamily="34" charset="-122"/>
                <a:cs typeface="DM Sans" pitchFamily="34" charset="-120"/>
              </a:rPr>
              <a:t>All open, free and redistributable — no commercial property sites needed</a:t>
            </a:r>
            <a:endParaRPr lang="en-US" sz="1500" dirty="0"/>
          </a:p>
        </p:txBody>
      </p:sp>
      <p:sp>
        <p:nvSpPr>
          <p:cNvPr id="21"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Two ways we’ll test it</a:t>
            </a:r>
            <a:endParaRPr lang="en-US" sz="3200" dirty="0"/>
          </a:p>
        </p:txBody>
      </p:sp>
      <p:pic>
        <p:nvPicPr>
          <p:cNvPr id="3" name="Image 0" descr="Bars representing weights, each nudged up and down by twenty percent">    </p:cNvPr>
          <p:cNvPicPr>
            <a:picLocks noChangeAspect="1"/>
          </p:cNvPicPr>
          <p:nvPr/>
        </p:nvPicPr>
        <p:blipFill>
          <a:blip r:embed="rId1"/>
          <a:srcRect l="0" r="0" t="0" b="0"/>
          <a:stretch/>
        </p:blipFill>
        <p:spPr>
          <a:xfrm>
            <a:off x="812800" y="1534164"/>
            <a:ext cx="4953000" cy="2336800"/>
          </a:xfrm>
          <a:prstGeom prst="rect">
            <a:avLst/>
          </a:prstGeom>
        </p:spPr>
      </p:pic>
      <p:sp>
        <p:nvSpPr>
          <p:cNvPr id="4" name="Text 1"/>
          <p:cNvSpPr/>
          <p:nvPr/>
        </p:nvSpPr>
        <p:spPr>
          <a:xfrm>
            <a:off x="812800" y="3997964"/>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Fraunces" pitchFamily="34" charset="0"/>
                <a:ea typeface="Fraunces" pitchFamily="34" charset="-122"/>
                <a:cs typeface="Fraunces" pitchFamily="34" charset="-120"/>
              </a:rPr>
              <a:t>Is the model stable?</a:t>
            </a:r>
            <a:endParaRPr lang="en-US" sz="2000" dirty="0"/>
          </a:p>
        </p:txBody>
      </p:sp>
      <p:sp>
        <p:nvSpPr>
          <p:cNvPr id="5" name="Text 2"/>
          <p:cNvSpPr/>
          <p:nvPr/>
        </p:nvSpPr>
        <p:spPr>
          <a:xfrm>
            <a:off x="812800" y="4429764"/>
            <a:ext cx="528472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0"/>
                </a:solidFill>
                <a:latin typeface="DM Sans" pitchFamily="34" charset="0"/>
                <a:ea typeface="DM Sans" pitchFamily="34" charset="-122"/>
                <a:cs typeface="DM Sans" pitchFamily="34" charset="-120"/>
              </a:rPr>
              <a:t>Nudge each weight ±20% — does the top 3 hold?</a:t>
            </a:r>
            <a:endParaRPr lang="en-US" sz="1400" dirty="0"/>
          </a:p>
        </p:txBody>
      </p:sp>
      <p:pic>
        <p:nvPicPr>
          <p:cNvPr id="6" name="Image 1" descr="A group of international students testing the app">    </p:cNvPr>
          <p:cNvPicPr>
            <a:picLocks noChangeAspect="1"/>
          </p:cNvPicPr>
          <p:nvPr/>
        </p:nvPicPr>
        <p:blipFill>
          <a:blip r:embed="rId2"/>
          <a:srcRect l="0" r="0" t="0" b="0"/>
          <a:stretch/>
        </p:blipFill>
        <p:spPr>
          <a:xfrm>
            <a:off x="6248400" y="1534164"/>
            <a:ext cx="4953000" cy="2336800"/>
          </a:xfrm>
          <a:prstGeom prst="rect">
            <a:avLst/>
          </a:prstGeom>
        </p:spPr>
      </p:pic>
      <p:sp>
        <p:nvSpPr>
          <p:cNvPr id="7" name="Text 3"/>
          <p:cNvSpPr/>
          <p:nvPr/>
        </p:nvSpPr>
        <p:spPr>
          <a:xfrm>
            <a:off x="6248400" y="3997964"/>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Fraunces" pitchFamily="34" charset="0"/>
                <a:ea typeface="Fraunces" pitchFamily="34" charset="-122"/>
                <a:cs typeface="Fraunces" pitchFamily="34" charset="-120"/>
              </a:rPr>
              <a:t>Do students agree?</a:t>
            </a:r>
            <a:endParaRPr lang="en-US" sz="2000" dirty="0"/>
          </a:p>
        </p:txBody>
      </p:sp>
      <p:sp>
        <p:nvSpPr>
          <p:cNvPr id="8" name="Text 4"/>
          <p:cNvSpPr/>
          <p:nvPr/>
        </p:nvSpPr>
        <p:spPr>
          <a:xfrm>
            <a:off x="6248400" y="4429764"/>
            <a:ext cx="528472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0"/>
                </a:solidFill>
                <a:latin typeface="DM Sans" pitchFamily="34" charset="0"/>
                <a:ea typeface="DM Sans" pitchFamily="34" charset="-122"/>
                <a:cs typeface="DM Sans" pitchFamily="34" charset="-120"/>
              </a:rPr>
              <a:t>10–15 international students: is their own pick in our top 3?</a:t>
            </a:r>
            <a:endParaRPr lang="en-US" sz="1400" dirty="0"/>
          </a:p>
        </p:txBody>
      </p:sp>
      <p:sp>
        <p:nvSpPr>
          <p:cNvPr id="9"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1866900" y="2673350"/>
            <a:ext cx="8451850" cy="76200"/>
          </a:xfrm>
          <a:prstGeom prst="roundRect">
            <a:avLst>
              <a:gd name="adj" fmla="val 50000"/>
            </a:avLst>
          </a:prstGeom>
          <a:solidFill>
            <a:srgbClr val="D9D2C3"/>
          </a:solidFill>
          <a:ln/>
        </p:spPr>
      </p:sp>
      <p:sp>
        <p:nvSpPr>
          <p:cNvPr id="3" name="Text 1"/>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Five sprints, two weeks each</a:t>
            </a:r>
            <a:endParaRPr lang="en-US" sz="3200" dirty="0"/>
          </a:p>
        </p:txBody>
      </p:sp>
      <p:sp>
        <p:nvSpPr>
          <p:cNvPr id="4" name="Text 2"/>
          <p:cNvSpPr/>
          <p:nvPr/>
        </p:nvSpPr>
        <p:spPr>
          <a:xfrm>
            <a:off x="812800" y="138176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0"/>
                </a:solidFill>
                <a:latin typeface="DM Sans" pitchFamily="34" charset="0"/>
                <a:ea typeface="DM Sans" pitchFamily="34" charset="-122"/>
                <a:cs typeface="DM Sans" pitchFamily="34" charset="-120"/>
              </a:rPr>
              <a:t>Scrum on GitHub Projects · every task has one owner and a deadline</a:t>
            </a:r>
            <a:endParaRPr lang="en-US" sz="1500" dirty="0"/>
          </a:p>
        </p:txBody>
      </p:sp>
      <p:sp>
        <p:nvSpPr>
          <p:cNvPr id="5" name="Shape 3"/>
          <p:cNvSpPr/>
          <p:nvPr/>
        </p:nvSpPr>
        <p:spPr>
          <a:xfrm>
            <a:off x="1358900" y="2203450"/>
            <a:ext cx="1016000" cy="1016000"/>
          </a:xfrm>
          <a:prstGeom prst="roundRect">
            <a:avLst>
              <a:gd name="adj" fmla="val 50000"/>
            </a:avLst>
          </a:prstGeom>
          <a:solidFill>
            <a:srgbClr val="2F7D6A"/>
          </a:solidFill>
          <a:ln/>
          <a:effectLst>
            <a:outerShdw sx="100000" sy="100000" kx="0" ky="0" algn="bl" rotWithShape="0" blurRad="152400" dist="63500" dir="5400000">
              <a:srgbClr val="12303D">
                <a:alpha val="18000"/>
              </a:srgbClr>
            </a:outerShdw>
          </a:effectLst>
        </p:spPr>
      </p:sp>
      <p:pic>
        <p:nvPicPr>
          <p:cNvPr id="6" name="Image 0" descr="Tool">    </p:cNvPr>
          <p:cNvPicPr>
            <a:picLocks noChangeAspect="1"/>
          </p:cNvPicPr>
          <p:nvPr/>
        </p:nvPicPr>
        <p:blipFill>
          <a:blip r:embed="rId1"/>
          <a:srcRect l="0" r="0" t="0" b="0"/>
          <a:stretch/>
        </p:blipFill>
        <p:spPr>
          <a:xfrm>
            <a:off x="1638300" y="2482850"/>
            <a:ext cx="457200" cy="457200"/>
          </a:xfrm>
          <a:prstGeom prst="rect">
            <a:avLst/>
          </a:prstGeom>
        </p:spPr>
      </p:pic>
      <p:sp>
        <p:nvSpPr>
          <p:cNvPr id="7" name="Text 4"/>
          <p:cNvSpPr/>
          <p:nvPr/>
        </p:nvSpPr>
        <p:spPr>
          <a:xfrm>
            <a:off x="885825" y="3429000"/>
            <a:ext cx="1962150" cy="256540"/>
          </a:xfrm>
          <a:prstGeom prst="rect">
            <a:avLst/>
          </a:prstGeom>
          <a:noFill/>
          <a:ln/>
        </p:spPr>
        <p:txBody>
          <a:bodyPr wrap="square" lIns="0" tIns="0" rIns="0" bIns="0" rtlCol="0" anchor="t">
            <a:normAutofit/>
          </a:bodyPr>
          <a:lstStyle/>
          <a:p>
            <a:pPr algn="ctr" indent="0" marL="0">
              <a:lnSpc>
                <a:spcPts val="1820"/>
              </a:lnSpc>
              <a:buNone/>
            </a:pPr>
            <a:r>
              <a:rPr lang="en-US" sz="1300" b="1" spc="100" kern="0" dirty="0">
                <a:solidFill>
                  <a:srgbClr val="2F7D6A"/>
                </a:solidFill>
                <a:latin typeface="DM Sans" pitchFamily="34" charset="0"/>
                <a:ea typeface="DM Sans" pitchFamily="34" charset="-122"/>
                <a:cs typeface="DM Sans" pitchFamily="34" charset="-120"/>
              </a:rPr>
              <a:t>SPRINT 1</a:t>
            </a:r>
            <a:endParaRPr lang="en-US" sz="1300" dirty="0"/>
          </a:p>
        </p:txBody>
      </p:sp>
      <p:sp>
        <p:nvSpPr>
          <p:cNvPr id="8" name="Text 5"/>
          <p:cNvSpPr/>
          <p:nvPr/>
        </p:nvSpPr>
        <p:spPr>
          <a:xfrm>
            <a:off x="885825" y="3721100"/>
            <a:ext cx="1962150" cy="330200"/>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12303D"/>
                </a:solidFill>
                <a:latin typeface="Fraunces" pitchFamily="34" charset="0"/>
                <a:ea typeface="Fraunces" pitchFamily="34" charset="-122"/>
                <a:cs typeface="Fraunces" pitchFamily="34" charset="-120"/>
              </a:rPr>
              <a:t>Set up</a:t>
            </a:r>
            <a:endParaRPr lang="en-US" sz="2000" dirty="0"/>
          </a:p>
        </p:txBody>
      </p:sp>
      <p:sp>
        <p:nvSpPr>
          <p:cNvPr id="9" name="Text 6"/>
          <p:cNvSpPr/>
          <p:nvPr/>
        </p:nvSpPr>
        <p:spPr>
          <a:xfrm>
            <a:off x="885825" y="4114800"/>
            <a:ext cx="1962150" cy="471170"/>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4A5A60"/>
                </a:solidFill>
                <a:latin typeface="DM Sans" pitchFamily="34" charset="0"/>
                <a:ea typeface="DM Sans" pitchFamily="34" charset="-122"/>
                <a:cs typeface="DM Sans" pitchFamily="34" charset="-120"/>
              </a:rPr>
              <a:t>Repo, board, synthetic data</a:t>
            </a:r>
            <a:endParaRPr lang="en-US" sz="1300" dirty="0"/>
          </a:p>
        </p:txBody>
      </p:sp>
      <p:sp>
        <p:nvSpPr>
          <p:cNvPr id="10" name="Shape 7"/>
          <p:cNvSpPr/>
          <p:nvPr/>
        </p:nvSpPr>
        <p:spPr>
          <a:xfrm>
            <a:off x="3473450" y="2203450"/>
            <a:ext cx="1016000" cy="1016000"/>
          </a:xfrm>
          <a:prstGeom prst="roundRect">
            <a:avLst>
              <a:gd name="adj" fmla="val 50000"/>
            </a:avLst>
          </a:prstGeom>
          <a:solidFill>
            <a:srgbClr val="4A78C2"/>
          </a:solidFill>
          <a:ln/>
          <a:effectLst>
            <a:outerShdw sx="100000" sy="100000" kx="0" ky="0" algn="bl" rotWithShape="0" blurRad="152400" dist="63500" dir="5400000">
              <a:srgbClr val="12303D">
                <a:alpha val="18000"/>
              </a:srgbClr>
            </a:outerShdw>
          </a:effectLst>
        </p:spPr>
      </p:sp>
      <p:pic>
        <p:nvPicPr>
          <p:cNvPr id="11" name="Image 1" descr="Database">    </p:cNvPr>
          <p:cNvPicPr>
            <a:picLocks noChangeAspect="1"/>
          </p:cNvPicPr>
          <p:nvPr/>
        </p:nvPicPr>
        <p:blipFill>
          <a:blip r:embed="rId2"/>
          <a:srcRect l="0" r="0" t="0" b="0"/>
          <a:stretch/>
        </p:blipFill>
        <p:spPr>
          <a:xfrm>
            <a:off x="3752850" y="2482850"/>
            <a:ext cx="457200" cy="457200"/>
          </a:xfrm>
          <a:prstGeom prst="rect">
            <a:avLst/>
          </a:prstGeom>
        </p:spPr>
      </p:pic>
      <p:sp>
        <p:nvSpPr>
          <p:cNvPr id="12" name="Text 8"/>
          <p:cNvSpPr/>
          <p:nvPr/>
        </p:nvSpPr>
        <p:spPr>
          <a:xfrm>
            <a:off x="3000375" y="3429000"/>
            <a:ext cx="1962150" cy="256540"/>
          </a:xfrm>
          <a:prstGeom prst="rect">
            <a:avLst/>
          </a:prstGeom>
          <a:noFill/>
          <a:ln/>
        </p:spPr>
        <p:txBody>
          <a:bodyPr wrap="square" lIns="0" tIns="0" rIns="0" bIns="0" rtlCol="0" anchor="t">
            <a:normAutofit/>
          </a:bodyPr>
          <a:lstStyle/>
          <a:p>
            <a:pPr algn="ctr" indent="0" marL="0">
              <a:lnSpc>
                <a:spcPts val="1820"/>
              </a:lnSpc>
              <a:buNone/>
            </a:pPr>
            <a:r>
              <a:rPr lang="en-US" sz="1300" b="1" spc="100" kern="0" dirty="0">
                <a:solidFill>
                  <a:srgbClr val="4A78C2"/>
                </a:solidFill>
                <a:latin typeface="DM Sans" pitchFamily="34" charset="0"/>
                <a:ea typeface="DM Sans" pitchFamily="34" charset="-122"/>
                <a:cs typeface="DM Sans" pitchFamily="34" charset="-120"/>
              </a:rPr>
              <a:t>SPRINT 2</a:t>
            </a:r>
            <a:endParaRPr lang="en-US" sz="1300" dirty="0"/>
          </a:p>
        </p:txBody>
      </p:sp>
      <p:sp>
        <p:nvSpPr>
          <p:cNvPr id="13" name="Text 9"/>
          <p:cNvSpPr/>
          <p:nvPr/>
        </p:nvSpPr>
        <p:spPr>
          <a:xfrm>
            <a:off x="3000375" y="3721100"/>
            <a:ext cx="1962150" cy="330200"/>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12303D"/>
                </a:solidFill>
                <a:latin typeface="Fraunces" pitchFamily="34" charset="0"/>
                <a:ea typeface="Fraunces" pitchFamily="34" charset="-122"/>
                <a:cs typeface="Fraunces" pitchFamily="34" charset="-120"/>
              </a:rPr>
              <a:t>Real data</a:t>
            </a:r>
            <a:endParaRPr lang="en-US" sz="2000" dirty="0"/>
          </a:p>
        </p:txBody>
      </p:sp>
      <p:sp>
        <p:nvSpPr>
          <p:cNvPr id="14" name="Text 10"/>
          <p:cNvSpPr/>
          <p:nvPr/>
        </p:nvSpPr>
        <p:spPr>
          <a:xfrm>
            <a:off x="3000375" y="4114800"/>
            <a:ext cx="1962150" cy="471170"/>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4A5A60"/>
                </a:solidFill>
                <a:latin typeface="DM Sans" pitchFamily="34" charset="0"/>
                <a:ea typeface="DM Sans" pitchFamily="34" charset="-122"/>
                <a:cs typeface="DM Sans" pitchFamily="34" charset="-120"/>
              </a:rPr>
              <a:t>Collect Dublin data, fix features</a:t>
            </a:r>
            <a:endParaRPr lang="en-US" sz="1300" dirty="0"/>
          </a:p>
        </p:txBody>
      </p:sp>
      <p:sp>
        <p:nvSpPr>
          <p:cNvPr id="15" name="Shape 11"/>
          <p:cNvSpPr/>
          <p:nvPr/>
        </p:nvSpPr>
        <p:spPr>
          <a:xfrm>
            <a:off x="5588000" y="2203450"/>
            <a:ext cx="1016000" cy="1016000"/>
          </a:xfrm>
          <a:prstGeom prst="roundRect">
            <a:avLst>
              <a:gd name="adj" fmla="val 50000"/>
            </a:avLst>
          </a:prstGeom>
          <a:solidFill>
            <a:srgbClr val="E07A3F"/>
          </a:solidFill>
          <a:ln/>
          <a:effectLst>
            <a:outerShdw sx="100000" sy="100000" kx="0" ky="0" algn="bl" rotWithShape="0" blurRad="152400" dist="63500" dir="5400000">
              <a:srgbClr val="12303D">
                <a:alpha val="18000"/>
              </a:srgbClr>
            </a:outerShdw>
          </a:effectLst>
        </p:spPr>
      </p:sp>
      <p:pic>
        <p:nvPicPr>
          <p:cNvPr id="16" name="Image 2" descr="PaperPlane">    </p:cNvPr>
          <p:cNvPicPr>
            <a:picLocks noChangeAspect="1"/>
          </p:cNvPicPr>
          <p:nvPr/>
        </p:nvPicPr>
        <p:blipFill>
          <a:blip r:embed="rId3"/>
          <a:srcRect l="0" r="0" t="0" b="0"/>
          <a:stretch/>
        </p:blipFill>
        <p:spPr>
          <a:xfrm>
            <a:off x="5867400" y="2482850"/>
            <a:ext cx="457200" cy="457200"/>
          </a:xfrm>
          <a:prstGeom prst="rect">
            <a:avLst/>
          </a:prstGeom>
        </p:spPr>
      </p:pic>
      <p:sp>
        <p:nvSpPr>
          <p:cNvPr id="17" name="Text 12"/>
          <p:cNvSpPr/>
          <p:nvPr/>
        </p:nvSpPr>
        <p:spPr>
          <a:xfrm>
            <a:off x="5114925" y="3429000"/>
            <a:ext cx="1962150" cy="256540"/>
          </a:xfrm>
          <a:prstGeom prst="rect">
            <a:avLst/>
          </a:prstGeom>
          <a:noFill/>
          <a:ln/>
        </p:spPr>
        <p:txBody>
          <a:bodyPr wrap="square" lIns="0" tIns="0" rIns="0" bIns="0" rtlCol="0" anchor="t">
            <a:normAutofit/>
          </a:bodyPr>
          <a:lstStyle/>
          <a:p>
            <a:pPr algn="ctr" indent="0" marL="0">
              <a:lnSpc>
                <a:spcPts val="1820"/>
              </a:lnSpc>
              <a:buNone/>
            </a:pPr>
            <a:r>
              <a:rPr lang="en-US" sz="1300" b="1" spc="100" kern="0" dirty="0">
                <a:solidFill>
                  <a:srgbClr val="E07A3F"/>
                </a:solidFill>
                <a:latin typeface="DM Sans" pitchFamily="34" charset="0"/>
                <a:ea typeface="DM Sans" pitchFamily="34" charset="-122"/>
                <a:cs typeface="DM Sans" pitchFamily="34" charset="-120"/>
              </a:rPr>
              <a:t>SPRINT 3</a:t>
            </a:r>
            <a:endParaRPr lang="en-US" sz="1300" dirty="0"/>
          </a:p>
        </p:txBody>
      </p:sp>
      <p:sp>
        <p:nvSpPr>
          <p:cNvPr id="18" name="Text 13"/>
          <p:cNvSpPr/>
          <p:nvPr/>
        </p:nvSpPr>
        <p:spPr>
          <a:xfrm>
            <a:off x="5114925" y="3721100"/>
            <a:ext cx="1962150" cy="330200"/>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12303D"/>
                </a:solidFill>
                <a:latin typeface="Fraunces" pitchFamily="34" charset="0"/>
                <a:ea typeface="Fraunces" pitchFamily="34" charset="-122"/>
                <a:cs typeface="Fraunces" pitchFamily="34" charset="-120"/>
              </a:rPr>
              <a:t>Launch MVP</a:t>
            </a:r>
            <a:endParaRPr lang="en-US" sz="2000" dirty="0"/>
          </a:p>
        </p:txBody>
      </p:sp>
      <p:sp>
        <p:nvSpPr>
          <p:cNvPr id="19" name="Text 14"/>
          <p:cNvSpPr/>
          <p:nvPr/>
        </p:nvSpPr>
        <p:spPr>
          <a:xfrm>
            <a:off x="5114925" y="4114800"/>
            <a:ext cx="1962150" cy="248285"/>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4A5A60"/>
                </a:solidFill>
                <a:latin typeface="DM Sans" pitchFamily="34" charset="0"/>
                <a:ea typeface="DM Sans" pitchFamily="34" charset="-122"/>
                <a:cs typeface="DM Sans" pitchFamily="34" charset="-120"/>
              </a:rPr>
              <a:t>Build and deploy</a:t>
            </a:r>
            <a:endParaRPr lang="en-US" sz="1300" dirty="0"/>
          </a:p>
        </p:txBody>
      </p:sp>
      <p:sp>
        <p:nvSpPr>
          <p:cNvPr id="20" name="Shape 15"/>
          <p:cNvSpPr/>
          <p:nvPr/>
        </p:nvSpPr>
        <p:spPr>
          <a:xfrm>
            <a:off x="7702550" y="2203450"/>
            <a:ext cx="1016000" cy="1016000"/>
          </a:xfrm>
          <a:prstGeom prst="roundRect">
            <a:avLst>
              <a:gd name="adj" fmla="val 50000"/>
            </a:avLst>
          </a:prstGeom>
          <a:solidFill>
            <a:srgbClr val="D65A6F"/>
          </a:solidFill>
          <a:ln/>
          <a:effectLst>
            <a:outerShdw sx="100000" sy="100000" kx="0" ky="0" algn="bl" rotWithShape="0" blurRad="152400" dist="63500" dir="5400000">
              <a:srgbClr val="12303D">
                <a:alpha val="18000"/>
              </a:srgbClr>
            </a:outerShdw>
          </a:effectLst>
        </p:spPr>
      </p:sp>
      <p:pic>
        <p:nvPicPr>
          <p:cNvPr id="21" name="Image 3" descr="Users">    </p:cNvPr>
          <p:cNvPicPr>
            <a:picLocks noChangeAspect="1"/>
          </p:cNvPicPr>
          <p:nvPr/>
        </p:nvPicPr>
        <p:blipFill>
          <a:blip r:embed="rId4"/>
          <a:srcRect l="0" r="0" t="0" b="0"/>
          <a:stretch/>
        </p:blipFill>
        <p:spPr>
          <a:xfrm>
            <a:off x="7981950" y="2482850"/>
            <a:ext cx="457200" cy="457200"/>
          </a:xfrm>
          <a:prstGeom prst="rect">
            <a:avLst/>
          </a:prstGeom>
        </p:spPr>
      </p:pic>
      <p:sp>
        <p:nvSpPr>
          <p:cNvPr id="22" name="Text 16"/>
          <p:cNvSpPr/>
          <p:nvPr/>
        </p:nvSpPr>
        <p:spPr>
          <a:xfrm>
            <a:off x="7229475" y="3429000"/>
            <a:ext cx="1962150" cy="256540"/>
          </a:xfrm>
          <a:prstGeom prst="rect">
            <a:avLst/>
          </a:prstGeom>
          <a:noFill/>
          <a:ln/>
        </p:spPr>
        <p:txBody>
          <a:bodyPr wrap="square" lIns="0" tIns="0" rIns="0" bIns="0" rtlCol="0" anchor="t">
            <a:normAutofit/>
          </a:bodyPr>
          <a:lstStyle/>
          <a:p>
            <a:pPr algn="ctr" indent="0" marL="0">
              <a:lnSpc>
                <a:spcPts val="1820"/>
              </a:lnSpc>
              <a:buNone/>
            </a:pPr>
            <a:r>
              <a:rPr lang="en-US" sz="1300" b="1" spc="100" kern="0" dirty="0">
                <a:solidFill>
                  <a:srgbClr val="D65A6F"/>
                </a:solidFill>
                <a:latin typeface="DM Sans" pitchFamily="34" charset="0"/>
                <a:ea typeface="DM Sans" pitchFamily="34" charset="-122"/>
                <a:cs typeface="DM Sans" pitchFamily="34" charset="-120"/>
              </a:rPr>
              <a:t>SPRINT 4</a:t>
            </a:r>
            <a:endParaRPr lang="en-US" sz="1300" dirty="0"/>
          </a:p>
        </p:txBody>
      </p:sp>
      <p:sp>
        <p:nvSpPr>
          <p:cNvPr id="23" name="Text 17"/>
          <p:cNvSpPr/>
          <p:nvPr/>
        </p:nvSpPr>
        <p:spPr>
          <a:xfrm>
            <a:off x="7229475" y="3721100"/>
            <a:ext cx="1962150" cy="330200"/>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12303D"/>
                </a:solidFill>
                <a:latin typeface="Fraunces" pitchFamily="34" charset="0"/>
                <a:ea typeface="Fraunces" pitchFamily="34" charset="-122"/>
                <a:cs typeface="Fraunces" pitchFamily="34" charset="-120"/>
              </a:rPr>
              <a:t>User testing</a:t>
            </a:r>
            <a:endParaRPr lang="en-US" sz="2000" dirty="0"/>
          </a:p>
        </p:txBody>
      </p:sp>
      <p:sp>
        <p:nvSpPr>
          <p:cNvPr id="24" name="Text 18"/>
          <p:cNvSpPr/>
          <p:nvPr/>
        </p:nvSpPr>
        <p:spPr>
          <a:xfrm>
            <a:off x="7229475" y="4114800"/>
            <a:ext cx="1962150" cy="248285"/>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4A5A60"/>
                </a:solidFill>
                <a:latin typeface="DM Sans" pitchFamily="34" charset="0"/>
                <a:ea typeface="DM Sans" pitchFamily="34" charset="-122"/>
                <a:cs typeface="DM Sans" pitchFamily="34" charset="-120"/>
              </a:rPr>
              <a:t>Feature freeze begins</a:t>
            </a:r>
            <a:endParaRPr lang="en-US" sz="1300" dirty="0"/>
          </a:p>
        </p:txBody>
      </p:sp>
      <p:sp>
        <p:nvSpPr>
          <p:cNvPr id="25" name="Shape 19"/>
          <p:cNvSpPr/>
          <p:nvPr/>
        </p:nvSpPr>
        <p:spPr>
          <a:xfrm>
            <a:off x="9817100" y="2203450"/>
            <a:ext cx="1016000" cy="1016000"/>
          </a:xfrm>
          <a:prstGeom prst="roundRect">
            <a:avLst>
              <a:gd name="adj" fmla="val 50000"/>
            </a:avLst>
          </a:prstGeom>
          <a:solidFill>
            <a:srgbClr val="8A6D1F"/>
          </a:solidFill>
          <a:ln/>
          <a:effectLst>
            <a:outerShdw sx="100000" sy="100000" kx="0" ky="0" algn="bl" rotWithShape="0" blurRad="152400" dist="63500" dir="5400000">
              <a:srgbClr val="12303D">
                <a:alpha val="18000"/>
              </a:srgbClr>
            </a:outerShdw>
          </a:effectLst>
        </p:spPr>
      </p:sp>
      <p:pic>
        <p:nvPicPr>
          <p:cNvPr id="26" name="Image 4" descr="Book">    </p:cNvPr>
          <p:cNvPicPr>
            <a:picLocks noChangeAspect="1"/>
          </p:cNvPicPr>
          <p:nvPr/>
        </p:nvPicPr>
        <p:blipFill>
          <a:blip r:embed="rId5"/>
          <a:srcRect l="0" r="0" t="0" b="0"/>
          <a:stretch/>
        </p:blipFill>
        <p:spPr>
          <a:xfrm>
            <a:off x="10096500" y="2482850"/>
            <a:ext cx="457200" cy="457200"/>
          </a:xfrm>
          <a:prstGeom prst="rect">
            <a:avLst/>
          </a:prstGeom>
        </p:spPr>
      </p:pic>
      <p:sp>
        <p:nvSpPr>
          <p:cNvPr id="27" name="Text 20"/>
          <p:cNvSpPr/>
          <p:nvPr/>
        </p:nvSpPr>
        <p:spPr>
          <a:xfrm>
            <a:off x="9344025" y="3429000"/>
            <a:ext cx="1962150" cy="256540"/>
          </a:xfrm>
          <a:prstGeom prst="rect">
            <a:avLst/>
          </a:prstGeom>
          <a:noFill/>
          <a:ln/>
        </p:spPr>
        <p:txBody>
          <a:bodyPr wrap="square" lIns="0" tIns="0" rIns="0" bIns="0" rtlCol="0" anchor="t">
            <a:normAutofit/>
          </a:bodyPr>
          <a:lstStyle/>
          <a:p>
            <a:pPr algn="ctr" indent="0" marL="0">
              <a:lnSpc>
                <a:spcPts val="1820"/>
              </a:lnSpc>
              <a:buNone/>
            </a:pPr>
            <a:r>
              <a:rPr lang="en-US" sz="1300" b="1" spc="100" kern="0" dirty="0">
                <a:solidFill>
                  <a:srgbClr val="8A6D1F"/>
                </a:solidFill>
                <a:latin typeface="DM Sans" pitchFamily="34" charset="0"/>
                <a:ea typeface="DM Sans" pitchFamily="34" charset="-122"/>
                <a:cs typeface="DM Sans" pitchFamily="34" charset="-120"/>
              </a:rPr>
              <a:t>SPRINT 5</a:t>
            </a:r>
            <a:endParaRPr lang="en-US" sz="1300" dirty="0"/>
          </a:p>
        </p:txBody>
      </p:sp>
      <p:sp>
        <p:nvSpPr>
          <p:cNvPr id="28" name="Text 21"/>
          <p:cNvSpPr/>
          <p:nvPr/>
        </p:nvSpPr>
        <p:spPr>
          <a:xfrm>
            <a:off x="9344025" y="3721100"/>
            <a:ext cx="1962150" cy="330200"/>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12303D"/>
                </a:solidFill>
                <a:latin typeface="Fraunces" pitchFamily="34" charset="0"/>
                <a:ea typeface="Fraunces" pitchFamily="34" charset="-122"/>
                <a:cs typeface="Fraunces" pitchFamily="34" charset="-120"/>
              </a:rPr>
              <a:t>Polish</a:t>
            </a:r>
            <a:endParaRPr lang="en-US" sz="2000" dirty="0"/>
          </a:p>
        </p:txBody>
      </p:sp>
      <p:sp>
        <p:nvSpPr>
          <p:cNvPr id="29" name="Text 22"/>
          <p:cNvSpPr/>
          <p:nvPr/>
        </p:nvSpPr>
        <p:spPr>
          <a:xfrm>
            <a:off x="9344025" y="4114800"/>
            <a:ext cx="1962150" cy="471170"/>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4A5A60"/>
                </a:solidFill>
                <a:latin typeface="DM Sans" pitchFamily="34" charset="0"/>
                <a:ea typeface="DM Sans" pitchFamily="34" charset="-122"/>
                <a:cs typeface="DM Sans" pitchFamily="34" charset="-120"/>
              </a:rPr>
              <a:t>Improve, document, submit</a:t>
            </a:r>
            <a:endParaRPr lang="en-US" sz="1300" dirty="0"/>
          </a:p>
        </p:txBody>
      </p:sp>
      <p:sp>
        <p:nvSpPr>
          <p:cNvPr id="30" name="Text 2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2303D"/>
                </a:solidFill>
                <a:latin typeface="Fraunces" pitchFamily="34" charset="0"/>
                <a:ea typeface="Fraunces" pitchFamily="34" charset="-122"/>
                <a:cs typeface="Fraunces" pitchFamily="34" charset="-120"/>
              </a:rPr>
              <a:t>Meet The Crib Crew</a:t>
            </a:r>
            <a:endParaRPr lang="en-US" sz="3200" dirty="0"/>
          </a:p>
        </p:txBody>
      </p:sp>
      <p:sp>
        <p:nvSpPr>
          <p:cNvPr id="3" name="Shape 1"/>
          <p:cNvSpPr/>
          <p:nvPr/>
        </p:nvSpPr>
        <p:spPr>
          <a:xfrm>
            <a:off x="1332230" y="1584964"/>
            <a:ext cx="952500" cy="952500"/>
          </a:xfrm>
          <a:prstGeom prst="roundRect">
            <a:avLst>
              <a:gd name="adj" fmla="val 50000"/>
            </a:avLst>
          </a:prstGeom>
          <a:solidFill>
            <a:srgbClr val="2F7D6A"/>
          </a:solidFill>
          <a:ln/>
        </p:spPr>
      </p:sp>
      <p:sp>
        <p:nvSpPr>
          <p:cNvPr id="4" name="Text 2"/>
          <p:cNvSpPr/>
          <p:nvPr/>
        </p:nvSpPr>
        <p:spPr>
          <a:xfrm>
            <a:off x="1596152" y="1812292"/>
            <a:ext cx="475456"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DF8"/>
                </a:solidFill>
                <a:latin typeface="Fraunces" pitchFamily="34" charset="0"/>
                <a:ea typeface="Fraunces" pitchFamily="34" charset="-122"/>
                <a:cs typeface="Fraunces" pitchFamily="34" charset="-120"/>
              </a:rPr>
              <a:t>SS</a:t>
            </a:r>
            <a:endParaRPr lang="en-US" sz="2800" dirty="0"/>
          </a:p>
        </p:txBody>
      </p:sp>
      <p:sp>
        <p:nvSpPr>
          <p:cNvPr id="5" name="Text 3"/>
          <p:cNvSpPr/>
          <p:nvPr/>
        </p:nvSpPr>
        <p:spPr>
          <a:xfrm>
            <a:off x="960676" y="2651764"/>
            <a:ext cx="1695609" cy="240030"/>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2303D"/>
                </a:solidFill>
                <a:latin typeface="DM Sans" pitchFamily="34" charset="0"/>
                <a:ea typeface="DM Sans" pitchFamily="34" charset="-122"/>
                <a:cs typeface="DM Sans" pitchFamily="34" charset="-120"/>
              </a:rPr>
              <a:t>Santhosh Sekar Asha</a:t>
            </a:r>
            <a:endParaRPr lang="en-US" sz="1300" dirty="0"/>
          </a:p>
        </p:txBody>
      </p:sp>
      <p:sp>
        <p:nvSpPr>
          <p:cNvPr id="6" name="Shape 4"/>
          <p:cNvSpPr/>
          <p:nvPr/>
        </p:nvSpPr>
        <p:spPr>
          <a:xfrm>
            <a:off x="3475990" y="1584964"/>
            <a:ext cx="952500" cy="952500"/>
          </a:xfrm>
          <a:prstGeom prst="roundRect">
            <a:avLst>
              <a:gd name="adj" fmla="val 50000"/>
            </a:avLst>
          </a:prstGeom>
          <a:solidFill>
            <a:srgbClr val="E07A3F"/>
          </a:solidFill>
          <a:ln/>
        </p:spPr>
      </p:sp>
      <p:sp>
        <p:nvSpPr>
          <p:cNvPr id="7" name="Text 5"/>
          <p:cNvSpPr/>
          <p:nvPr/>
        </p:nvSpPr>
        <p:spPr>
          <a:xfrm>
            <a:off x="3707765" y="1812292"/>
            <a:ext cx="53975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DF8"/>
                </a:solidFill>
                <a:latin typeface="Fraunces" pitchFamily="34" charset="0"/>
                <a:ea typeface="Fraunces" pitchFamily="34" charset="-122"/>
                <a:cs typeface="Fraunces" pitchFamily="34" charset="-120"/>
              </a:rPr>
              <a:t>VV</a:t>
            </a:r>
            <a:endParaRPr lang="en-US" sz="2800" dirty="0"/>
          </a:p>
        </p:txBody>
      </p:sp>
      <p:sp>
        <p:nvSpPr>
          <p:cNvPr id="8" name="Text 6"/>
          <p:cNvSpPr/>
          <p:nvPr/>
        </p:nvSpPr>
        <p:spPr>
          <a:xfrm>
            <a:off x="2940426" y="2651764"/>
            <a:ext cx="2023549" cy="240030"/>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2303D"/>
                </a:solidFill>
                <a:latin typeface="DM Sans" pitchFamily="34" charset="0"/>
                <a:ea typeface="DM Sans" pitchFamily="34" charset="-122"/>
                <a:cs typeface="DM Sans" pitchFamily="34" charset="-120"/>
              </a:rPr>
              <a:t>Vikneshwaran Venkatesh</a:t>
            </a:r>
            <a:endParaRPr lang="en-US" sz="1300" dirty="0"/>
          </a:p>
        </p:txBody>
      </p:sp>
      <p:sp>
        <p:nvSpPr>
          <p:cNvPr id="9" name="Shape 7"/>
          <p:cNvSpPr/>
          <p:nvPr/>
        </p:nvSpPr>
        <p:spPr>
          <a:xfrm>
            <a:off x="5619750" y="1584964"/>
            <a:ext cx="952500" cy="952500"/>
          </a:xfrm>
          <a:prstGeom prst="roundRect">
            <a:avLst>
              <a:gd name="adj" fmla="val 50000"/>
            </a:avLst>
          </a:prstGeom>
          <a:solidFill>
            <a:srgbClr val="4A78C2"/>
          </a:solidFill>
          <a:ln/>
        </p:spPr>
      </p:sp>
      <p:sp>
        <p:nvSpPr>
          <p:cNvPr id="10" name="Text 8"/>
          <p:cNvSpPr/>
          <p:nvPr/>
        </p:nvSpPr>
        <p:spPr>
          <a:xfrm>
            <a:off x="5883672" y="1812292"/>
            <a:ext cx="475456"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DF8"/>
                </a:solidFill>
                <a:latin typeface="Fraunces" pitchFamily="34" charset="0"/>
                <a:ea typeface="Fraunces" pitchFamily="34" charset="-122"/>
                <a:cs typeface="Fraunces" pitchFamily="34" charset="-120"/>
              </a:rPr>
              <a:t>SS</a:t>
            </a:r>
            <a:endParaRPr lang="en-US" sz="2800" dirty="0"/>
          </a:p>
        </p:txBody>
      </p:sp>
      <p:sp>
        <p:nvSpPr>
          <p:cNvPr id="11" name="Text 9"/>
          <p:cNvSpPr/>
          <p:nvPr/>
        </p:nvSpPr>
        <p:spPr>
          <a:xfrm>
            <a:off x="5070450" y="2651764"/>
            <a:ext cx="2051101" cy="454660"/>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2303D"/>
                </a:solidFill>
                <a:latin typeface="DM Sans" pitchFamily="34" charset="0"/>
                <a:ea typeface="DM Sans" pitchFamily="34" charset="-122"/>
                <a:cs typeface="DM Sans" pitchFamily="34" charset="-120"/>
              </a:rPr>
              <a:t>Shreyash Chandradip Salunkhe</a:t>
            </a:r>
            <a:endParaRPr lang="en-US" sz="1300" dirty="0"/>
          </a:p>
        </p:txBody>
      </p:sp>
      <p:sp>
        <p:nvSpPr>
          <p:cNvPr id="12" name="Shape 10"/>
          <p:cNvSpPr/>
          <p:nvPr/>
        </p:nvSpPr>
        <p:spPr>
          <a:xfrm>
            <a:off x="7763510" y="1584964"/>
            <a:ext cx="952500" cy="952500"/>
          </a:xfrm>
          <a:prstGeom prst="roundRect">
            <a:avLst>
              <a:gd name="adj" fmla="val 50000"/>
            </a:avLst>
          </a:prstGeom>
          <a:solidFill>
            <a:srgbClr val="D65A6F"/>
          </a:solidFill>
          <a:ln/>
        </p:spPr>
      </p:sp>
      <p:sp>
        <p:nvSpPr>
          <p:cNvPr id="13" name="Text 11"/>
          <p:cNvSpPr/>
          <p:nvPr/>
        </p:nvSpPr>
        <p:spPr>
          <a:xfrm>
            <a:off x="7974409" y="1812292"/>
            <a:ext cx="581422"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DF8"/>
                </a:solidFill>
                <a:latin typeface="Fraunces" pitchFamily="34" charset="0"/>
                <a:ea typeface="Fraunces" pitchFamily="34" charset="-122"/>
                <a:cs typeface="Fraunces" pitchFamily="34" charset="-120"/>
              </a:rPr>
              <a:t>SM</a:t>
            </a:r>
            <a:endParaRPr lang="en-US" sz="2800" dirty="0"/>
          </a:p>
        </p:txBody>
      </p:sp>
      <p:sp>
        <p:nvSpPr>
          <p:cNvPr id="14" name="Text 12"/>
          <p:cNvSpPr/>
          <p:nvPr/>
        </p:nvSpPr>
        <p:spPr>
          <a:xfrm>
            <a:off x="7249529" y="2651764"/>
            <a:ext cx="1980464" cy="240030"/>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2303D"/>
                </a:solidFill>
                <a:latin typeface="DM Sans" pitchFamily="34" charset="0"/>
                <a:ea typeface="DM Sans" pitchFamily="34" charset="-122"/>
                <a:cs typeface="DM Sans" pitchFamily="34" charset="-120"/>
              </a:rPr>
              <a:t>Sowmiya Madhan Kumar</a:t>
            </a:r>
            <a:endParaRPr lang="en-US" sz="1300" dirty="0"/>
          </a:p>
        </p:txBody>
      </p:sp>
      <p:sp>
        <p:nvSpPr>
          <p:cNvPr id="15" name="Shape 13"/>
          <p:cNvSpPr/>
          <p:nvPr/>
        </p:nvSpPr>
        <p:spPr>
          <a:xfrm>
            <a:off x="9907270" y="1584964"/>
            <a:ext cx="952500" cy="952500"/>
          </a:xfrm>
          <a:prstGeom prst="roundRect">
            <a:avLst>
              <a:gd name="adj" fmla="val 50000"/>
            </a:avLst>
          </a:prstGeom>
          <a:solidFill>
            <a:srgbClr val="8A6D1F"/>
          </a:solidFill>
          <a:ln/>
        </p:spPr>
      </p:sp>
      <p:sp>
        <p:nvSpPr>
          <p:cNvPr id="16" name="Text 14"/>
          <p:cNvSpPr/>
          <p:nvPr/>
        </p:nvSpPr>
        <p:spPr>
          <a:xfrm>
            <a:off x="10139521" y="1812292"/>
            <a:ext cx="538718"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DF8"/>
                </a:solidFill>
                <a:latin typeface="Fraunces" pitchFamily="34" charset="0"/>
                <a:ea typeface="Fraunces" pitchFamily="34" charset="-122"/>
                <a:cs typeface="Fraunces" pitchFamily="34" charset="-120"/>
              </a:rPr>
              <a:t>CC</a:t>
            </a:r>
            <a:endParaRPr lang="en-US" sz="2800" dirty="0"/>
          </a:p>
        </p:txBody>
      </p:sp>
      <p:sp>
        <p:nvSpPr>
          <p:cNvPr id="17" name="Text 15"/>
          <p:cNvSpPr/>
          <p:nvPr/>
        </p:nvSpPr>
        <p:spPr>
          <a:xfrm>
            <a:off x="9357970" y="2651764"/>
            <a:ext cx="2051101" cy="454660"/>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2303D"/>
                </a:solidFill>
                <a:latin typeface="DM Sans" pitchFamily="34" charset="0"/>
                <a:ea typeface="DM Sans" pitchFamily="34" charset="-122"/>
                <a:cs typeface="DM Sans" pitchFamily="34" charset="-120"/>
              </a:rPr>
              <a:t>Catheine Sherina David Chelladurai</a:t>
            </a:r>
            <a:endParaRPr lang="en-US" sz="1300" dirty="0"/>
          </a:p>
        </p:txBody>
      </p:sp>
      <p:sp>
        <p:nvSpPr>
          <p:cNvPr id="18" name="Shape 16"/>
          <p:cNvSpPr/>
          <p:nvPr/>
        </p:nvSpPr>
        <p:spPr>
          <a:xfrm>
            <a:off x="812800" y="3385821"/>
            <a:ext cx="3420507" cy="817880"/>
          </a:xfrm>
          <a:prstGeom prst="roundRect">
            <a:avLst>
              <a:gd name="adj" fmla="val 17081"/>
            </a:avLst>
          </a:prstGeom>
          <a:solidFill>
            <a:srgbClr val="FFFDF8"/>
          </a:solidFill>
          <a:ln/>
        </p:spPr>
      </p:sp>
      <p:sp>
        <p:nvSpPr>
          <p:cNvPr id="19" name="Shape 17"/>
          <p:cNvSpPr/>
          <p:nvPr/>
        </p:nvSpPr>
        <p:spPr>
          <a:xfrm>
            <a:off x="977900" y="3578864"/>
            <a:ext cx="431800" cy="431800"/>
          </a:xfrm>
          <a:prstGeom prst="roundRect">
            <a:avLst>
              <a:gd name="adj" fmla="val 50000"/>
            </a:avLst>
          </a:prstGeom>
          <a:solidFill>
            <a:srgbClr val="2F7D6A"/>
          </a:solidFill>
          <a:ln/>
        </p:spPr>
      </p:sp>
      <p:pic>
        <p:nvPicPr>
          <p:cNvPr id="20" name="Image 0" descr="Users">    </p:cNvPr>
          <p:cNvPicPr>
            <a:picLocks noChangeAspect="1"/>
          </p:cNvPicPr>
          <p:nvPr/>
        </p:nvPicPr>
        <p:blipFill>
          <a:blip r:embed="rId1"/>
          <a:srcRect l="0" r="0" t="0" b="0"/>
          <a:stretch/>
        </p:blipFill>
        <p:spPr>
          <a:xfrm>
            <a:off x="1079500" y="3680464"/>
            <a:ext cx="228600" cy="228600"/>
          </a:xfrm>
          <a:prstGeom prst="rect">
            <a:avLst/>
          </a:prstGeom>
        </p:spPr>
      </p:pic>
      <p:sp>
        <p:nvSpPr>
          <p:cNvPr id="21" name="Text 18"/>
          <p:cNvSpPr/>
          <p:nvPr/>
        </p:nvSpPr>
        <p:spPr>
          <a:xfrm>
            <a:off x="1536700" y="3550921"/>
            <a:ext cx="26074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Fridays</a:t>
            </a:r>
            <a:endParaRPr lang="en-US" sz="1400" dirty="0"/>
          </a:p>
        </p:txBody>
      </p:sp>
      <p:sp>
        <p:nvSpPr>
          <p:cNvPr id="22" name="Text 19"/>
          <p:cNvSpPr/>
          <p:nvPr/>
        </p:nvSpPr>
        <p:spPr>
          <a:xfrm>
            <a:off x="1536700" y="3825242"/>
            <a:ext cx="26074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In person, ~2 hours</a:t>
            </a:r>
            <a:endParaRPr lang="en-US" sz="1200" dirty="0"/>
          </a:p>
        </p:txBody>
      </p:sp>
      <p:sp>
        <p:nvSpPr>
          <p:cNvPr id="23" name="Shape 20"/>
          <p:cNvSpPr/>
          <p:nvPr/>
        </p:nvSpPr>
        <p:spPr>
          <a:xfrm>
            <a:off x="4385707" y="3385821"/>
            <a:ext cx="3420586" cy="817880"/>
          </a:xfrm>
          <a:prstGeom prst="roundRect">
            <a:avLst>
              <a:gd name="adj" fmla="val 17081"/>
            </a:avLst>
          </a:prstGeom>
          <a:solidFill>
            <a:srgbClr val="FFFDF8"/>
          </a:solidFill>
          <a:ln/>
        </p:spPr>
      </p:sp>
      <p:sp>
        <p:nvSpPr>
          <p:cNvPr id="24" name="Shape 21"/>
          <p:cNvSpPr/>
          <p:nvPr/>
        </p:nvSpPr>
        <p:spPr>
          <a:xfrm>
            <a:off x="4550807" y="3578864"/>
            <a:ext cx="431800" cy="431800"/>
          </a:xfrm>
          <a:prstGeom prst="roundRect">
            <a:avLst>
              <a:gd name="adj" fmla="val 50000"/>
            </a:avLst>
          </a:prstGeom>
          <a:solidFill>
            <a:srgbClr val="E07A3F"/>
          </a:solidFill>
          <a:ln/>
        </p:spPr>
      </p:sp>
      <p:pic>
        <p:nvPicPr>
          <p:cNvPr id="25" name="Image 1" descr="Chat">    </p:cNvPr>
          <p:cNvPicPr>
            <a:picLocks noChangeAspect="1"/>
          </p:cNvPicPr>
          <p:nvPr/>
        </p:nvPicPr>
        <p:blipFill>
          <a:blip r:embed="rId2"/>
          <a:srcRect l="0" r="0" t="0" b="0"/>
          <a:stretch/>
        </p:blipFill>
        <p:spPr>
          <a:xfrm>
            <a:off x="4652407" y="3680464"/>
            <a:ext cx="228600" cy="228600"/>
          </a:xfrm>
          <a:prstGeom prst="rect">
            <a:avLst/>
          </a:prstGeom>
        </p:spPr>
      </p:pic>
      <p:sp>
        <p:nvSpPr>
          <p:cNvPr id="26" name="Text 22"/>
          <p:cNvSpPr/>
          <p:nvPr/>
        </p:nvSpPr>
        <p:spPr>
          <a:xfrm>
            <a:off x="5109607" y="3550921"/>
            <a:ext cx="260753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Tue / Wed</a:t>
            </a:r>
            <a:endParaRPr lang="en-US" sz="1400" dirty="0"/>
          </a:p>
        </p:txBody>
      </p:sp>
      <p:sp>
        <p:nvSpPr>
          <p:cNvPr id="27" name="Text 23"/>
          <p:cNvSpPr/>
          <p:nvPr/>
        </p:nvSpPr>
        <p:spPr>
          <a:xfrm>
            <a:off x="5109607" y="3825242"/>
            <a:ext cx="2607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Online stand-up</a:t>
            </a:r>
            <a:endParaRPr lang="en-US" sz="1200" dirty="0"/>
          </a:p>
        </p:txBody>
      </p:sp>
      <p:sp>
        <p:nvSpPr>
          <p:cNvPr id="28" name="Shape 24"/>
          <p:cNvSpPr/>
          <p:nvPr/>
        </p:nvSpPr>
        <p:spPr>
          <a:xfrm>
            <a:off x="7958693" y="3385821"/>
            <a:ext cx="3420507" cy="817880"/>
          </a:xfrm>
          <a:prstGeom prst="roundRect">
            <a:avLst>
              <a:gd name="adj" fmla="val 17081"/>
            </a:avLst>
          </a:prstGeom>
          <a:solidFill>
            <a:srgbClr val="FFFDF8"/>
          </a:solidFill>
          <a:ln/>
        </p:spPr>
      </p:sp>
      <p:sp>
        <p:nvSpPr>
          <p:cNvPr id="29" name="Shape 25"/>
          <p:cNvSpPr/>
          <p:nvPr/>
        </p:nvSpPr>
        <p:spPr>
          <a:xfrm>
            <a:off x="8123793" y="3578864"/>
            <a:ext cx="431800" cy="431800"/>
          </a:xfrm>
          <a:prstGeom prst="roundRect">
            <a:avLst>
              <a:gd name="adj" fmla="val 50000"/>
            </a:avLst>
          </a:prstGeom>
          <a:solidFill>
            <a:srgbClr val="4A78C2"/>
          </a:solidFill>
          <a:ln/>
        </p:spPr>
      </p:sp>
      <p:pic>
        <p:nvPicPr>
          <p:cNvPr id="30" name="Image 2" descr="Star">    </p:cNvPr>
          <p:cNvPicPr>
            <a:picLocks noChangeAspect="1"/>
          </p:cNvPicPr>
          <p:nvPr/>
        </p:nvPicPr>
        <p:blipFill>
          <a:blip r:embed="rId3"/>
          <a:srcRect l="0" r="0" t="0" b="0"/>
          <a:stretch/>
        </p:blipFill>
        <p:spPr>
          <a:xfrm>
            <a:off x="8225393" y="3680464"/>
            <a:ext cx="228600" cy="228600"/>
          </a:xfrm>
          <a:prstGeom prst="rect">
            <a:avLst/>
          </a:prstGeom>
        </p:spPr>
      </p:pic>
      <p:sp>
        <p:nvSpPr>
          <p:cNvPr id="31" name="Text 26"/>
          <p:cNvSpPr/>
          <p:nvPr/>
        </p:nvSpPr>
        <p:spPr>
          <a:xfrm>
            <a:off x="8682593" y="3550921"/>
            <a:ext cx="26074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3D"/>
                </a:solidFill>
                <a:latin typeface="DM Sans" pitchFamily="34" charset="0"/>
                <a:ea typeface="DM Sans" pitchFamily="34" charset="-122"/>
                <a:cs typeface="DM Sans" pitchFamily="34" charset="-120"/>
              </a:rPr>
              <a:t>Rotating lead</a:t>
            </a:r>
            <a:endParaRPr lang="en-US" sz="1400" dirty="0"/>
          </a:p>
        </p:txBody>
      </p:sp>
      <p:sp>
        <p:nvSpPr>
          <p:cNvPr id="32" name="Text 27"/>
          <p:cNvSpPr/>
          <p:nvPr/>
        </p:nvSpPr>
        <p:spPr>
          <a:xfrm>
            <a:off x="8682593" y="3825242"/>
            <a:ext cx="26074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New lead each sprint</a:t>
            </a:r>
            <a:endParaRPr lang="en-US" sz="1200" dirty="0"/>
          </a:p>
        </p:txBody>
      </p:sp>
      <p:sp>
        <p:nvSpPr>
          <p:cNvPr id="33" name="Text 2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0"/>
                </a:solidFill>
                <a:latin typeface="DM Sans" pitchFamily="34" charset="0"/>
                <a:ea typeface="DM Sans" pitchFamily="34" charset="-122"/>
                <a:cs typeface="DM Sans" pitchFamily="34" charset="-120"/>
              </a:rPr>
              <a:t>The Crib Crew · Find your Dublin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07A3F"/>
        </a:solidFill>
      </p:bgPr>
    </p:bg>
    <p:spTree>
      <p:nvGrpSpPr>
        <p:cNvPr id="1" name=""/>
        <p:cNvGrpSpPr/>
        <p:nvPr/>
      </p:nvGrpSpPr>
      <p:grpSpPr>
        <a:xfrm>
          <a:off x="0" y="0"/>
          <a:ext cx="0" cy="0"/>
          <a:chOff x="0" y="0"/>
          <a:chExt cx="0" cy="0"/>
        </a:xfrm>
      </p:grpSpPr>
      <p:sp>
        <p:nvSpPr>
          <p:cNvPr id="2" name="Text 0"/>
          <p:cNvSpPr/>
          <p:nvPr/>
        </p:nvSpPr>
        <p:spPr>
          <a:xfrm>
            <a:off x="812800" y="2237501"/>
            <a:ext cx="748233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303D"/>
                </a:solidFill>
                <a:latin typeface="DM Sans" pitchFamily="34" charset="0"/>
                <a:ea typeface="DM Sans" pitchFamily="34" charset="-122"/>
                <a:cs typeface="DM Sans" pitchFamily="34" charset="-120"/>
              </a:rPr>
              <a:t>HOW WE HANDLE DISAGREEMENT</a:t>
            </a:r>
            <a:endParaRPr lang="en-US" sz="1300" dirty="0"/>
          </a:p>
        </p:txBody>
      </p:sp>
      <p:sp>
        <p:nvSpPr>
          <p:cNvPr id="3" name="Text 1"/>
          <p:cNvSpPr/>
          <p:nvPr/>
        </p:nvSpPr>
        <p:spPr>
          <a:xfrm>
            <a:off x="812800" y="2697243"/>
            <a:ext cx="7482332" cy="1232376"/>
          </a:xfrm>
          <a:prstGeom prst="rect">
            <a:avLst/>
          </a:prstGeom>
          <a:noFill/>
          <a:ln/>
        </p:spPr>
        <p:txBody>
          <a:bodyPr wrap="square" lIns="0" tIns="0" rIns="0" bIns="0" rtlCol="0" anchor="t">
            <a:normAutofit/>
          </a:bodyPr>
          <a:lstStyle/>
          <a:p>
            <a:pPr algn="l" indent="0" marL="0">
              <a:lnSpc>
                <a:spcPts val="4752"/>
              </a:lnSpc>
              <a:buNone/>
            </a:pPr>
            <a:r>
              <a:rPr lang="en-US" sz="4400" b="1" dirty="0">
                <a:solidFill>
                  <a:srgbClr val="12303D"/>
                </a:solidFill>
                <a:latin typeface="Fraunces" pitchFamily="34" charset="0"/>
                <a:ea typeface="Fraunces" pitchFamily="34" charset="-122"/>
                <a:cs typeface="Fraunces" pitchFamily="34" charset="-120"/>
              </a:rPr>
              <a:t>An hour of testing beats an afternoon of arguing.</a:t>
            </a:r>
            <a:endParaRPr lang="en-US" sz="4400" dirty="0"/>
          </a:p>
        </p:txBody>
      </p:sp>
      <p:sp>
        <p:nvSpPr>
          <p:cNvPr id="4" name="Text 2"/>
          <p:cNvSpPr/>
          <p:nvPr/>
        </p:nvSpPr>
        <p:spPr>
          <a:xfrm>
            <a:off x="812800" y="4132821"/>
            <a:ext cx="748233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303D"/>
                </a:solidFill>
                <a:latin typeface="DM Sans" pitchFamily="34" charset="0"/>
                <a:ea typeface="DM Sans" pitchFamily="34" charset="-122"/>
                <a:cs typeface="DM Sans" pitchFamily="34" charset="-120"/>
              </a:rPr>
              <a:t>Raise it with the whole team · decide with evidence · escalate to our mentor early</a:t>
            </a:r>
            <a:endParaRPr lang="en-US" sz="1600" dirty="0"/>
          </a:p>
        </p:txBody>
      </p:sp>
      <p:pic>
        <p:nvPicPr>
          <p:cNvPr id="5" name="Image 0" descr="A lab flask with a check mark">    </p:cNvPr>
          <p:cNvPicPr>
            <a:picLocks noChangeAspect="1"/>
          </p:cNvPicPr>
          <p:nvPr/>
        </p:nvPicPr>
        <p:blipFill>
          <a:blip r:embed="rId1"/>
          <a:srcRect l="0" r="0" t="0" b="0"/>
          <a:stretch/>
        </p:blipFill>
        <p:spPr>
          <a:xfrm>
            <a:off x="8585200" y="1930400"/>
            <a:ext cx="2794000" cy="2794000"/>
          </a:xfrm>
          <a:prstGeom prst="rect">
            <a:avLst/>
          </a:prstGeom>
        </p:spPr>
      </p:pic>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303D"/>
                </a:solidFill>
                <a:latin typeface="DM Sans" pitchFamily="34" charset="0"/>
                <a:ea typeface="DM Sans" pitchFamily="34" charset="-122"/>
                <a:cs typeface="DM Sans" pitchFamily="34" charset="-120"/>
              </a:rPr>
              <a:t>The Crib Crew · Find your Dublin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03D"/>
        </a:solidFill>
      </p:bgPr>
    </p:bg>
    <p:spTree>
      <p:nvGrpSpPr>
        <p:cNvPr id="1" name=""/>
        <p:cNvGrpSpPr/>
        <p:nvPr/>
      </p:nvGrpSpPr>
      <p:grpSpPr>
        <a:xfrm>
          <a:off x="0" y="0"/>
          <a:ext cx="0" cy="0"/>
          <a:chOff x="0" y="0"/>
          <a:chExt cx="0" cy="0"/>
        </a:xfrm>
      </p:grpSpPr>
      <p:pic>
        <p:nvPicPr>
          <p:cNvPr id="2" name="Image 0" descr="Illustrated Dublin skyline with Georgian doors, the Spire, the Ha'penny Bridge and the Poolbeg chimneys">    </p:cNvPr>
          <p:cNvPicPr>
            <a:picLocks noChangeAspect="1"/>
          </p:cNvPicPr>
          <p:nvPr/>
        </p:nvPicPr>
        <p:blipFill>
          <a:blip r:embed="rId1"/>
          <a:srcRect l="-30" r="-30" t="0" b="0"/>
          <a:stretch/>
        </p:blipFill>
        <p:spPr>
          <a:xfrm>
            <a:off x="0" y="3556000"/>
            <a:ext cx="12192000" cy="3302000"/>
          </a:xfrm>
          <a:prstGeom prst="rect">
            <a:avLst/>
          </a:prstGeom>
        </p:spPr>
      </p:pic>
      <p:sp>
        <p:nvSpPr>
          <p:cNvPr id="3" name="Text 0"/>
          <p:cNvSpPr/>
          <p:nvPr/>
        </p:nvSpPr>
        <p:spPr>
          <a:xfrm>
            <a:off x="812800" y="812800"/>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F5F1E8"/>
                </a:solidFill>
                <a:latin typeface="Fraunces" pitchFamily="34" charset="0"/>
                <a:ea typeface="Fraunces" pitchFamily="34" charset="-122"/>
                <a:cs typeface="Fraunces" pitchFamily="34" charset="-120"/>
              </a:rPr>
              <a:t>Thank you</a:t>
            </a:r>
            <a:endParaRPr lang="en-US" sz="6400" dirty="0"/>
          </a:p>
        </p:txBody>
      </p:sp>
      <p:sp>
        <p:nvSpPr>
          <p:cNvPr id="4" name="Text 1"/>
          <p:cNvSpPr/>
          <p:nvPr/>
        </p:nvSpPr>
        <p:spPr>
          <a:xfrm>
            <a:off x="812800" y="1844042"/>
            <a:ext cx="719455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FDCDF"/>
                </a:solidFill>
                <a:latin typeface="DM Sans" pitchFamily="34" charset="0"/>
                <a:ea typeface="DM Sans" pitchFamily="34" charset="-122"/>
                <a:cs typeface="DM Sans" pitchFamily="34" charset="-120"/>
              </a:rPr>
              <a:t>Success: valid preferences in, a justified shortlist of Dublin areas out — and proof that it helps students.</a:t>
            </a:r>
            <a:endParaRPr lang="en-US" sz="1800" dirty="0"/>
          </a:p>
        </p:txBody>
      </p:sp>
      <p:sp>
        <p:nvSpPr>
          <p:cNvPr id="5" name="Text 2"/>
          <p:cNvSpPr/>
          <p:nvPr/>
        </p:nvSpPr>
        <p:spPr>
          <a:xfrm>
            <a:off x="812800" y="263906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C14E"/>
                </a:solidFill>
                <a:latin typeface="DM Sans" pitchFamily="34" charset="0"/>
                <a:ea typeface="DM Sans" pitchFamily="34" charset="-122"/>
                <a:cs typeface="DM Sans"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Crib Crew — Dublin Area Recommender</dc:title>
  <dc:subject>PptxGenJS Presentation</dc:subject>
  <dc:creator>PptxGenJS</dc:creator>
  <cp:lastModifiedBy>PptxGenJS</cp:lastModifiedBy>
  <cp:revision>1</cp:revision>
  <dcterms:created xsi:type="dcterms:W3CDTF">2026-09-23T18:13:14Z</dcterms:created>
  <dcterms:modified xsi:type="dcterms:W3CDTF">2026-09-23T18:13:14Z</dcterms:modified>
</cp:coreProperties>
</file>